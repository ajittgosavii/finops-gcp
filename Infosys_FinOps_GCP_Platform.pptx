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Amortised spend</c:v>
                </c:pt>
              </c:strCache>
            </c:strRef>
          </c:tx>
          <c:spPr>
            <a:solidFill>
              <a:srgbClr val="2A78D6"/>
            </a:solidFill>
            <a:ln w="25400">
              <a:solidFill>
                <a:srgbClr val="2A78D6"/>
              </a:solidFill>
            </a:ln>
          </c:spPr>
          <c:cat>
            <c:strRef>
              <c:f>Sheet1!$A$2:$A$5</c:f>
              <c:strCache>
                <c:ptCount val="4"/>
                <c:pt idx="0">
                  <c:v>AWS</c:v>
                </c:pt>
                <c:pt idx="1">
                  <c:v>Azure</c:v>
                </c:pt>
                <c:pt idx="2">
                  <c:v>GCP</c:v>
                </c:pt>
                <c:pt idx="3">
                  <c:v>OCI</c:v>
                </c:pt>
              </c:strCache>
            </c:strRef>
          </c:cat>
          <c:val>
            <c:numRef>
              <c:f>Sheet1!$B$2:$B$5</c:f>
              <c:numCache>
                <c:formatCode>General</c:formatCode>
                <c:ptCount val="4"/>
                <c:pt idx="0">
                  <c:v>15712148.35108</c:v>
                </c:pt>
                <c:pt idx="1">
                  <c:v>7761360.19392</c:v>
                </c:pt>
                <c:pt idx="2">
                  <c:v>4671985.05634</c:v>
                </c:pt>
                <c:pt idx="3">
                  <c:v>4501132.66764</c:v>
                </c:pt>
              </c:numCache>
            </c:numRef>
          </c:val>
        </c:ser>
        <c:axId val="-2068027336"/>
        <c:axId val="-2113994440"/>
      </c:barChart>
      <c:catAx>
        <c:axId val="-2068027336"/>
        <c:scaling>
          <c:orientation val="minMax"/>
        </c:scaling>
        <c:delete val="0"/>
        <c:axPos val="b"/>
        <c:majorTickMark val="out"/>
        <c:minorTickMark val="none"/>
        <c:tickLblPos val="nextTo"/>
        <c:spPr>
          <a:ln>
            <a:solidFill>
              <a:srgbClr val="E2E7EF"/>
            </a:solidFill>
          </a:ln>
        </c:spPr>
        <c:crossAx val="-2113994440"/>
        <c:crosses val="autoZero"/>
        <c:auto val="1"/>
        <c:lblAlgn val="ctr"/>
        <c:lblOffset val="100"/>
        <c:noMultiLvlLbl val="0"/>
      </c:catAx>
      <c:valAx>
        <c:axId val="-2113994440"/>
        <c:scaling/>
        <c:delete val="0"/>
        <c:axPos val="l"/>
        <c:majorGridlines>
          <c:spPr>
            <a:ln w="6350">
              <a:solidFill>
                <a:srgbClr val="E2E7EF"/>
              </a:solidFill>
            </a:ln>
          </c:spPr>
        </c:majorGridlines>
        <c:numFmt formatCode="#,##0,,&quot;M&quot;" sourceLinked="0"/>
        <c:majorTickMark val="out"/>
        <c:minorTickMark val="none"/>
        <c:tickLblPos val="nextTo"/>
        <c:spPr>
          <a:ln>
            <a:noFill/>
          </a:ln>
        </c:spPr>
        <c:crossAx val="-2068027336"/>
        <c:crosses val="autoZero"/>
      </c:valAx>
    </c:plotArea>
    <c:dispBlanksAs val="gap"/>
  </c:chart>
  <c:txPr>
    <a:bodyPr/>
    <a:lstStyle/>
    <a:p>
      <a:pPr>
        <a:defRPr sz="1000">
          <a:solidFill>
            <a:srgbClr val="445066"/>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Forecast</c:v>
                </c:pt>
              </c:strCache>
            </c:strRef>
          </c:tx>
          <c:spPr>
            <a:solidFill>
              <a:srgbClr val="2A78D6"/>
            </a:solidFill>
            <a:ln w="25400">
              <a:solidFill>
                <a:srgbClr val="2A78D6"/>
              </a:solidFill>
            </a:ln>
          </c:spPr>
          <c:marker>
            <c:symbol val="none"/>
          </c:marker>
          <c:cat>
            <c:strRef>
              <c:f>Sheet1!$A$2:$A$25</c:f>
              <c:strCache>
                <c:ptCount val="24"/>
                <c:pt idx="0">
                  <c:v>Jul 26</c:v>
                </c:pt>
                <c:pt idx="1">
                  <c:v>Aug 26</c:v>
                </c:pt>
                <c:pt idx="2">
                  <c:v>Sep 26</c:v>
                </c:pt>
                <c:pt idx="3">
                  <c:v>Oct 26</c:v>
                </c:pt>
                <c:pt idx="4">
                  <c:v>Nov 26</c:v>
                </c:pt>
                <c:pt idx="5">
                  <c:v>Dec 26</c:v>
                </c:pt>
                <c:pt idx="6">
                  <c:v>Jan 27</c:v>
                </c:pt>
                <c:pt idx="7">
                  <c:v>Feb 27</c:v>
                </c:pt>
                <c:pt idx="8">
                  <c:v>Mar 27</c:v>
                </c:pt>
                <c:pt idx="9">
                  <c:v>Apr 27</c:v>
                </c:pt>
                <c:pt idx="10">
                  <c:v>May 27</c:v>
                </c:pt>
                <c:pt idx="11">
                  <c:v>Jun 27</c:v>
                </c:pt>
                <c:pt idx="12">
                  <c:v>Jul 27</c:v>
                </c:pt>
                <c:pt idx="13">
                  <c:v>Aug 27</c:v>
                </c:pt>
                <c:pt idx="14">
                  <c:v>Sep 27</c:v>
                </c:pt>
                <c:pt idx="15">
                  <c:v>Oct 27</c:v>
                </c:pt>
                <c:pt idx="16">
                  <c:v>Nov 27</c:v>
                </c:pt>
                <c:pt idx="17">
                  <c:v>Dec 27</c:v>
                </c:pt>
                <c:pt idx="18">
                  <c:v>Jan 28</c:v>
                </c:pt>
                <c:pt idx="19">
                  <c:v>Feb 28</c:v>
                </c:pt>
                <c:pt idx="20">
                  <c:v>Mar 28</c:v>
                </c:pt>
                <c:pt idx="21">
                  <c:v>Apr 28</c:v>
                </c:pt>
                <c:pt idx="22">
                  <c:v>May 28</c:v>
                </c:pt>
                <c:pt idx="23">
                  <c:v>Jun 28</c:v>
                </c:pt>
              </c:strCache>
            </c:strRef>
          </c:cat>
          <c:val>
            <c:numRef>
              <c:f>Sheet1!$B$2:$B$25</c:f>
              <c:numCache>
                <c:formatCode>General</c:formatCode>
                <c:ptCount val="24"/>
                <c:pt idx="0">
                  <c:v>1711879.993947464</c:v>
                </c:pt>
                <c:pt idx="1">
                  <c:v>1740008.3058999944</c:v>
                </c:pt>
                <c:pt idx="2">
                  <c:v>1768136.6178525249</c:v>
                </c:pt>
                <c:pt idx="3">
                  <c:v>1796264.9298050555</c:v>
                </c:pt>
                <c:pt idx="4">
                  <c:v>1824393.241757586</c:v>
                </c:pt>
                <c:pt idx="5">
                  <c:v>1852521.5537101163</c:v>
                </c:pt>
                <c:pt idx="6">
                  <c:v>1880649.865662647</c:v>
                </c:pt>
                <c:pt idx="7">
                  <c:v>1908778.1776151774</c:v>
                </c:pt>
                <c:pt idx="8">
                  <c:v>1936906.4895677078</c:v>
                </c:pt>
                <c:pt idx="9">
                  <c:v>1965034.8015202382</c:v>
                </c:pt>
                <c:pt idx="10">
                  <c:v>1993163.1134727686</c:v>
                </c:pt>
                <c:pt idx="11">
                  <c:v>2021291.425425299</c:v>
                </c:pt>
                <c:pt idx="12">
                  <c:v>2049419.7373778294</c:v>
                </c:pt>
                <c:pt idx="13">
                  <c:v>2077548.0493303598</c:v>
                </c:pt>
                <c:pt idx="14">
                  <c:v>2105676.36128289</c:v>
                </c:pt>
                <c:pt idx="15">
                  <c:v>2133804.6732354206</c:v>
                </c:pt>
                <c:pt idx="16">
                  <c:v>2161932.985187951</c:v>
                </c:pt>
                <c:pt idx="17">
                  <c:v>2190061.2971404814</c:v>
                </c:pt>
                <c:pt idx="18">
                  <c:v>2218189.609093012</c:v>
                </c:pt>
                <c:pt idx="19">
                  <c:v>2246317.921045542</c:v>
                </c:pt>
                <c:pt idx="20">
                  <c:v>2274446.232998073</c:v>
                </c:pt>
                <c:pt idx="21">
                  <c:v>2302574.5449506035</c:v>
                </c:pt>
                <c:pt idx="22">
                  <c:v>2330702.856903134</c:v>
                </c:pt>
                <c:pt idx="23">
                  <c:v>2358831.1688556643</c:v>
                </c:pt>
              </c:numCache>
            </c:numRef>
          </c:val>
          <c:smooth val="0"/>
        </c:ser>
        <c:ser>
          <c:idx val="1"/>
          <c:order val="1"/>
          <c:tx>
            <c:strRef>
              <c:f>Sheet1!$C$1</c:f>
              <c:strCache>
                <c:ptCount val="1"/>
                <c:pt idx="0">
                  <c:v>80% lower</c:v>
                </c:pt>
              </c:strCache>
            </c:strRef>
          </c:tx>
          <c:spPr>
            <a:solidFill>
              <a:srgbClr val="7A8599"/>
            </a:solidFill>
            <a:ln w="25400">
              <a:solidFill>
                <a:srgbClr val="7A8599"/>
              </a:solidFill>
            </a:ln>
          </c:spPr>
          <c:marker>
            <c:symbol val="none"/>
          </c:marker>
          <c:cat>
            <c:strRef>
              <c:f>Sheet1!$A$2:$A$25</c:f>
              <c:strCache>
                <c:ptCount val="24"/>
                <c:pt idx="0">
                  <c:v>Jul 26</c:v>
                </c:pt>
                <c:pt idx="1">
                  <c:v>Aug 26</c:v>
                </c:pt>
                <c:pt idx="2">
                  <c:v>Sep 26</c:v>
                </c:pt>
                <c:pt idx="3">
                  <c:v>Oct 26</c:v>
                </c:pt>
                <c:pt idx="4">
                  <c:v>Nov 26</c:v>
                </c:pt>
                <c:pt idx="5">
                  <c:v>Dec 26</c:v>
                </c:pt>
                <c:pt idx="6">
                  <c:v>Jan 27</c:v>
                </c:pt>
                <c:pt idx="7">
                  <c:v>Feb 27</c:v>
                </c:pt>
                <c:pt idx="8">
                  <c:v>Mar 27</c:v>
                </c:pt>
                <c:pt idx="9">
                  <c:v>Apr 27</c:v>
                </c:pt>
                <c:pt idx="10">
                  <c:v>May 27</c:v>
                </c:pt>
                <c:pt idx="11">
                  <c:v>Jun 27</c:v>
                </c:pt>
                <c:pt idx="12">
                  <c:v>Jul 27</c:v>
                </c:pt>
                <c:pt idx="13">
                  <c:v>Aug 27</c:v>
                </c:pt>
                <c:pt idx="14">
                  <c:v>Sep 27</c:v>
                </c:pt>
                <c:pt idx="15">
                  <c:v>Oct 27</c:v>
                </c:pt>
                <c:pt idx="16">
                  <c:v>Nov 27</c:v>
                </c:pt>
                <c:pt idx="17">
                  <c:v>Dec 27</c:v>
                </c:pt>
                <c:pt idx="18">
                  <c:v>Jan 28</c:v>
                </c:pt>
                <c:pt idx="19">
                  <c:v>Feb 28</c:v>
                </c:pt>
                <c:pt idx="20">
                  <c:v>Mar 28</c:v>
                </c:pt>
                <c:pt idx="21">
                  <c:v>Apr 28</c:v>
                </c:pt>
                <c:pt idx="22">
                  <c:v>May 28</c:v>
                </c:pt>
                <c:pt idx="23">
                  <c:v>Jun 28</c:v>
                </c:pt>
              </c:strCache>
            </c:strRef>
          </c:cat>
          <c:val>
            <c:numRef>
              <c:f>Sheet1!$C$2:$C$25</c:f>
              <c:numCache>
                <c:formatCode>General</c:formatCode>
                <c:ptCount val="24"/>
                <c:pt idx="0">
                  <c:v>1559562.304942423</c:v>
                </c:pt>
                <c:pt idx="1">
                  <c:v>1524598.5643197382</c:v>
                </c:pt>
                <c:pt idx="2">
                  <c:v>1504314.6416043185</c:v>
                </c:pt>
                <c:pt idx="3">
                  <c:v>1491629.5517949737</c:v>
                </c:pt>
                <c:pt idx="4">
                  <c:v>1483800.534966642</c:v>
                </c:pt>
                <c:pt idx="5">
                  <c:v>1479420.9368478304</c:v>
                </c:pt>
                <c:pt idx="6">
                  <c:v>1477655.1402792314</c:v>
                </c:pt>
                <c:pt idx="7">
                  <c:v>1477958.6944546648</c:v>
                </c:pt>
                <c:pt idx="8">
                  <c:v>1479953.422552585</c:v>
                </c:pt>
                <c:pt idx="9">
                  <c:v>1483363.9763311225</c:v>
                </c:pt>
                <c:pt idx="10">
                  <c:v>1487982.4901090057</c:v>
                </c:pt>
                <c:pt idx="11">
                  <c:v>1493647.4729288863</c:v>
                </c:pt>
                <c:pt idx="12">
                  <c:v>1500230.4995099767</c:v>
                </c:pt>
                <c:pt idx="13">
                  <c:v>1507627.4431283125</c:v>
                </c:pt>
                <c:pt idx="14">
                  <c:v>1515752.488433566</c:v>
                </c:pt>
                <c:pt idx="15">
                  <c:v>1524533.917215257</c:v>
                </c:pt>
                <c:pt idx="16">
                  <c:v>1533911.0647701854</c:v>
                </c:pt>
                <c:pt idx="17">
                  <c:v>1543832.072399713</c:v>
                </c:pt>
                <c:pt idx="18">
                  <c:v>1554252.195406382</c:v>
                </c:pt>
                <c:pt idx="19">
                  <c:v>1565132.5074636545</c:v>
                </c:pt>
                <c:pt idx="20">
                  <c:v>1576438.89345173</c:v>
                </c:pt>
                <c:pt idx="21">
                  <c:v>1588141.2559414753</c:v>
                </c:pt>
                <c:pt idx="22">
                  <c:v>1600212.8824146155</c:v>
                </c:pt>
                <c:pt idx="23">
                  <c:v>1612629.9351310926</c:v>
                </c:pt>
              </c:numCache>
            </c:numRef>
          </c:val>
          <c:smooth val="0"/>
        </c:ser>
        <c:ser>
          <c:idx val="2"/>
          <c:order val="2"/>
          <c:tx>
            <c:strRef>
              <c:f>Sheet1!$D$1</c:f>
              <c:strCache>
                <c:ptCount val="1"/>
                <c:pt idx="0">
                  <c:v>80% upper</c:v>
                </c:pt>
              </c:strCache>
            </c:strRef>
          </c:tx>
          <c:spPr>
            <a:solidFill>
              <a:srgbClr val="7A8599"/>
            </a:solidFill>
            <a:ln w="25400">
              <a:solidFill>
                <a:srgbClr val="7A8599"/>
              </a:solidFill>
            </a:ln>
          </c:spPr>
          <c:marker>
            <c:symbol val="none"/>
          </c:marker>
          <c:cat>
            <c:strRef>
              <c:f>Sheet1!$A$2:$A$25</c:f>
              <c:strCache>
                <c:ptCount val="24"/>
                <c:pt idx="0">
                  <c:v>Jul 26</c:v>
                </c:pt>
                <c:pt idx="1">
                  <c:v>Aug 26</c:v>
                </c:pt>
                <c:pt idx="2">
                  <c:v>Sep 26</c:v>
                </c:pt>
                <c:pt idx="3">
                  <c:v>Oct 26</c:v>
                </c:pt>
                <c:pt idx="4">
                  <c:v>Nov 26</c:v>
                </c:pt>
                <c:pt idx="5">
                  <c:v>Dec 26</c:v>
                </c:pt>
                <c:pt idx="6">
                  <c:v>Jan 27</c:v>
                </c:pt>
                <c:pt idx="7">
                  <c:v>Feb 27</c:v>
                </c:pt>
                <c:pt idx="8">
                  <c:v>Mar 27</c:v>
                </c:pt>
                <c:pt idx="9">
                  <c:v>Apr 27</c:v>
                </c:pt>
                <c:pt idx="10">
                  <c:v>May 27</c:v>
                </c:pt>
                <c:pt idx="11">
                  <c:v>Jun 27</c:v>
                </c:pt>
                <c:pt idx="12">
                  <c:v>Jul 27</c:v>
                </c:pt>
                <c:pt idx="13">
                  <c:v>Aug 27</c:v>
                </c:pt>
                <c:pt idx="14">
                  <c:v>Sep 27</c:v>
                </c:pt>
                <c:pt idx="15">
                  <c:v>Oct 27</c:v>
                </c:pt>
                <c:pt idx="16">
                  <c:v>Nov 27</c:v>
                </c:pt>
                <c:pt idx="17">
                  <c:v>Dec 27</c:v>
                </c:pt>
                <c:pt idx="18">
                  <c:v>Jan 28</c:v>
                </c:pt>
                <c:pt idx="19">
                  <c:v>Feb 28</c:v>
                </c:pt>
                <c:pt idx="20">
                  <c:v>Mar 28</c:v>
                </c:pt>
                <c:pt idx="21">
                  <c:v>Apr 28</c:v>
                </c:pt>
                <c:pt idx="22">
                  <c:v>May 28</c:v>
                </c:pt>
                <c:pt idx="23">
                  <c:v>Jun 28</c:v>
                </c:pt>
              </c:strCache>
            </c:strRef>
          </c:cat>
          <c:val>
            <c:numRef>
              <c:f>Sheet1!$D$2:$D$25</c:f>
              <c:numCache>
                <c:formatCode>General</c:formatCode>
                <c:ptCount val="24"/>
                <c:pt idx="0">
                  <c:v>1864197.682952505</c:v>
                </c:pt>
                <c:pt idx="1">
                  <c:v>1955418.0474802507</c:v>
                </c:pt>
                <c:pt idx="2">
                  <c:v>2031958.5941007312</c:v>
                </c:pt>
                <c:pt idx="3">
                  <c:v>2100900.3078151373</c:v>
                </c:pt>
                <c:pt idx="4">
                  <c:v>2164985.9485485298</c:v>
                </c:pt>
                <c:pt idx="5">
                  <c:v>2225622.170572402</c:v>
                </c:pt>
                <c:pt idx="6">
                  <c:v>2283644.5910460628</c:v>
                </c:pt>
                <c:pt idx="7">
                  <c:v>2339597.66077569</c:v>
                </c:pt>
                <c:pt idx="8">
                  <c:v>2393859.5565828304</c:v>
                </c:pt>
                <c:pt idx="9">
                  <c:v>2446705.626709354</c:v>
                </c:pt>
                <c:pt idx="10">
                  <c:v>2498343.7368365317</c:v>
                </c:pt>
                <c:pt idx="11">
                  <c:v>2548935.3779217117</c:v>
                </c:pt>
                <c:pt idx="12">
                  <c:v>2598608.975245682</c:v>
                </c:pt>
                <c:pt idx="13">
                  <c:v>2647468.655532407</c:v>
                </c:pt>
                <c:pt idx="14">
                  <c:v>2695600.2341322144</c:v>
                </c:pt>
                <c:pt idx="15">
                  <c:v>2743075.4292555843</c:v>
                </c:pt>
                <c:pt idx="16">
                  <c:v>2789954.9056057166</c:v>
                </c:pt>
                <c:pt idx="17">
                  <c:v>2836290.5218812497</c:v>
                </c:pt>
                <c:pt idx="18">
                  <c:v>2882127.0227796417</c:v>
                </c:pt>
                <c:pt idx="19">
                  <c:v>2927503.33462743</c:v>
                </c:pt>
                <c:pt idx="20">
                  <c:v>2972453.5725444164</c:v>
                </c:pt>
                <c:pt idx="21">
                  <c:v>3017007.8339597317</c:v>
                </c:pt>
                <c:pt idx="22">
                  <c:v>3061192.831391652</c:v>
                </c:pt>
                <c:pt idx="23">
                  <c:v>3105032.402580236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2E7EF"/>
            </a:solidFill>
          </a:ln>
        </c:spPr>
        <c:txPr>
          <a:bodyPr/>
          <a:lstStyle/>
          <a:p>
            <a:pPr>
              <a:defRPr sz="700"/>
            </a:pPr>
          </a:p>
        </c:txPr>
        <c:crossAx val="2140495176"/>
        <c:crosses val="autoZero"/>
        <c:auto val="1"/>
        <c:lblAlgn val="ctr"/>
        <c:lblOffset val="100"/>
        <c:noMultiLvlLbl val="0"/>
      </c:catAx>
      <c:valAx>
        <c:axId val="2140495176"/>
        <c:scaling/>
        <c:delete val="0"/>
        <c:axPos val="l"/>
        <c:majorGridlines>
          <c:spPr>
            <a:ln w="6350">
              <a:solidFill>
                <a:srgbClr val="E2E7EF"/>
              </a:solidFill>
            </a:ln>
          </c:spPr>
        </c:majorGridlines>
        <c:numFmt formatCode="#,##0,,&quot;M&quot;" sourceLinked="0"/>
        <c:majorTickMark val="out"/>
        <c:minorTickMark val="none"/>
        <c:tickLblPos val="nextTo"/>
        <c:spPr>
          <a:ln>
            <a:noFill/>
          </a:ln>
        </c:spPr>
        <c:crossAx val="2118791784"/>
        <c:crosses val="autoZero"/>
      </c:valAx>
    </c:plotArea>
    <c:legend>
      <c:legendPos val="b"/>
      <c:layout/>
      <c:overlay val="0"/>
      <c:txPr>
        <a:bodyPr/>
        <a:lstStyle/>
        <a:p>
          <a:pPr>
            <a:defRPr sz="900"/>
          </a:pPr>
        </a:p>
      </c:txPr>
    </c:legend>
    <c:plotVisOnly val="1"/>
    <c:dispBlanksAs val="gap"/>
    <c:showDLblsOverMax val="0"/>
  </c:chart>
  <c:txPr>
    <a:bodyPr/>
    <a:lstStyle/>
    <a:p>
      <a:pPr>
        <a:defRPr sz="1000">
          <a:solidFill>
            <a:srgbClr val="445066"/>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Annual savings</c:v>
                </c:pt>
              </c:strCache>
            </c:strRef>
          </c:tx>
          <c:spPr>
            <a:solidFill>
              <a:srgbClr val="2A78D6"/>
            </a:solidFill>
            <a:ln w="25400">
              <a:solidFill>
                <a:srgbClr val="2A78D6"/>
              </a:solidFill>
            </a:ln>
          </c:spPr>
          <c:cat>
            <c:strRef>
              <c:f>Sheet1!$A$2:$A$4</c:f>
              <c:strCache>
                <c:ptCount val="3"/>
                <c:pt idx="0">
                  <c:v>Rate</c:v>
                </c:pt>
                <c:pt idx="1">
                  <c:v>Usage</c:v>
                </c:pt>
                <c:pt idx="2">
                  <c:v>AI/GPU</c:v>
                </c:pt>
              </c:strCache>
            </c:strRef>
          </c:cat>
          <c:val>
            <c:numRef>
              <c:f>Sheet1!$B$2:$B$4</c:f>
              <c:numCache>
                <c:formatCode>General</c:formatCode>
                <c:ptCount val="3"/>
                <c:pt idx="0">
                  <c:v>3814495.3200000003</c:v>
                </c:pt>
                <c:pt idx="1">
                  <c:v>1494944.52</c:v>
                </c:pt>
                <c:pt idx="2">
                  <c:v>215185.68</c:v>
                </c:pt>
              </c:numCache>
            </c:numRef>
          </c:val>
        </c:ser>
        <c:axId val="-2068027336"/>
        <c:axId val="-2113994440"/>
      </c:barChart>
      <c:catAx>
        <c:axId val="-2068027336"/>
        <c:scaling>
          <c:orientation val="minMax"/>
        </c:scaling>
        <c:delete val="0"/>
        <c:axPos val="b"/>
        <c:majorTickMark val="out"/>
        <c:minorTickMark val="none"/>
        <c:tickLblPos val="nextTo"/>
        <c:spPr>
          <a:ln>
            <a:solidFill>
              <a:srgbClr val="E2E7EF"/>
            </a:solidFill>
          </a:ln>
        </c:spPr>
        <c:crossAx val="-2113994440"/>
        <c:crosses val="autoZero"/>
        <c:auto val="1"/>
        <c:lblAlgn val="ctr"/>
        <c:lblOffset val="100"/>
        <c:noMultiLvlLbl val="0"/>
      </c:catAx>
      <c:valAx>
        <c:axId val="-2113994440"/>
        <c:scaling/>
        <c:delete val="0"/>
        <c:axPos val="l"/>
        <c:majorGridlines>
          <c:spPr>
            <a:ln w="6350">
              <a:solidFill>
                <a:srgbClr val="E2E7EF"/>
              </a:solidFill>
            </a:ln>
          </c:spPr>
        </c:majorGridlines>
        <c:numFmt formatCode="#,##0,,&quot;M&quot;" sourceLinked="0"/>
        <c:majorTickMark val="out"/>
        <c:minorTickMark val="none"/>
        <c:tickLblPos val="nextTo"/>
        <c:spPr>
          <a:ln>
            <a:noFill/>
          </a:ln>
        </c:spPr>
        <c:crossAx val="-2068027336"/>
        <c:crosses val="autoZero"/>
      </c:valAx>
    </c:plotArea>
    <c:dispBlanksAs val="gap"/>
  </c:chart>
  <c:txPr>
    <a:bodyPr/>
    <a:lstStyle/>
    <a:p>
      <a:pPr>
        <a:defRPr sz="1000">
          <a:solidFill>
            <a:srgbClr val="445066"/>
          </a:solidFill>
          <a:latin typeface="Segoe U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2377440"/>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658368"/>
            <a:ext cx="5486400" cy="320040"/>
          </a:xfrm>
          <a:prstGeom prst="rect">
            <a:avLst/>
          </a:prstGeom>
          <a:noFill/>
        </p:spPr>
        <p:txBody>
          <a:bodyPr wrap="square">
            <a:spAutoFit/>
          </a:bodyPr>
          <a:lstStyle/>
          <a:p>
            <a:pPr algn="l">
              <a:spcAft>
                <a:spcPts val="400"/>
              </a:spcAft>
            </a:pPr>
            <a:r>
              <a:rPr sz="1200" b="1">
                <a:solidFill>
                  <a:srgbClr val="1E6FD9"/>
                </a:solidFill>
                <a:latin typeface="Segoe UI"/>
              </a:rPr>
              <a:t>INFOSYS</a:t>
            </a:r>
          </a:p>
        </p:txBody>
      </p:sp>
      <p:sp>
        <p:nvSpPr>
          <p:cNvPr id="4" name="TextBox 3"/>
          <p:cNvSpPr txBox="1"/>
          <p:nvPr/>
        </p:nvSpPr>
        <p:spPr>
          <a:xfrm>
            <a:off x="822960" y="914400"/>
            <a:ext cx="10607040" cy="822960"/>
          </a:xfrm>
          <a:prstGeom prst="rect">
            <a:avLst/>
          </a:prstGeom>
          <a:noFill/>
        </p:spPr>
        <p:txBody>
          <a:bodyPr wrap="square">
            <a:spAutoFit/>
          </a:bodyPr>
          <a:lstStyle/>
          <a:p>
            <a:pPr algn="l">
              <a:spcAft>
                <a:spcPts val="400"/>
              </a:spcAft>
            </a:pPr>
            <a:r>
              <a:rPr sz="3800" b="1">
                <a:solidFill>
                  <a:srgbClr val="0B142A"/>
                </a:solidFill>
                <a:latin typeface="Segoe UI"/>
              </a:rPr>
              <a:t>Multi-Cloud FinOps on Google Cloud</a:t>
            </a:r>
          </a:p>
        </p:txBody>
      </p:sp>
      <p:sp>
        <p:nvSpPr>
          <p:cNvPr id="5" name="TextBox 4"/>
          <p:cNvSpPr txBox="1"/>
          <p:nvPr/>
        </p:nvSpPr>
        <p:spPr>
          <a:xfrm>
            <a:off x="822960" y="1755648"/>
            <a:ext cx="10607040" cy="457200"/>
          </a:xfrm>
          <a:prstGeom prst="rect">
            <a:avLst/>
          </a:prstGeom>
          <a:noFill/>
        </p:spPr>
        <p:txBody>
          <a:bodyPr wrap="square">
            <a:spAutoFit/>
          </a:bodyPr>
          <a:lstStyle/>
          <a:p>
            <a:pPr algn="l">
              <a:spcAft>
                <a:spcPts val="400"/>
              </a:spcAft>
            </a:pPr>
            <a:r>
              <a:rPr sz="1550" b="0">
                <a:solidFill>
                  <a:srgbClr val="445066"/>
                </a:solidFill>
                <a:latin typeface="Segoe UI"/>
              </a:rPr>
              <a:t>AWS, Azure, GCP and OCI spend in one FOCUS warehouse, with an agentic control plane</a:t>
            </a:r>
          </a:p>
        </p:txBody>
      </p:sp>
      <p:sp>
        <p:nvSpPr>
          <p:cNvPr id="6" name="TextBox 5"/>
          <p:cNvSpPr txBox="1"/>
          <p:nvPr/>
        </p:nvSpPr>
        <p:spPr>
          <a:xfrm>
            <a:off x="822960" y="2788920"/>
            <a:ext cx="10058400" cy="365760"/>
          </a:xfrm>
          <a:prstGeom prst="rect">
            <a:avLst/>
          </a:prstGeom>
          <a:noFill/>
        </p:spPr>
        <p:txBody>
          <a:bodyPr wrap="square">
            <a:spAutoFit/>
          </a:bodyPr>
          <a:lstStyle/>
          <a:p>
            <a:pPr algn="l">
              <a:spcAft>
                <a:spcPts val="400"/>
              </a:spcAft>
            </a:pPr>
            <a:r>
              <a:rPr sz="1500" b="1">
                <a:solidFill>
                  <a:srgbClr val="0B142A"/>
                </a:solidFill>
                <a:latin typeface="Segoe UI"/>
              </a:rPr>
              <a:t>Prepared for Con Edison</a:t>
            </a:r>
          </a:p>
        </p:txBody>
      </p:sp>
      <p:sp>
        <p:nvSpPr>
          <p:cNvPr id="7" name="TextBox 6"/>
          <p:cNvSpPr txBox="1"/>
          <p:nvPr/>
        </p:nvSpPr>
        <p:spPr>
          <a:xfrm>
            <a:off x="822960" y="3246120"/>
            <a:ext cx="10607040" cy="2194560"/>
          </a:xfrm>
          <a:prstGeom prst="rect">
            <a:avLst/>
          </a:prstGeom>
          <a:noFill/>
        </p:spPr>
        <p:txBody>
          <a:bodyPr wrap="square">
            <a:spAutoFit/>
          </a:bodyPr>
          <a:lstStyle/>
          <a:p>
            <a:pPr>
              <a:spcAft>
                <a:spcPts val="900"/>
              </a:spcAft>
            </a:pPr>
            <a:r>
              <a:rPr sz="1350">
                <a:solidFill>
                  <a:srgbClr val="445066"/>
                </a:solidFill>
                <a:latin typeface="Segoe UI"/>
              </a:rPr>
              <a:t>—  Three clouds normalised to the FinOps Foundation's FOCUS 1.2 specification, in BigQuery</a:t>
            </a:r>
          </a:p>
          <a:p>
            <a:pPr>
              <a:spcAft>
                <a:spcPts val="900"/>
              </a:spcAft>
            </a:pPr>
            <a:r>
              <a:rPr sz="1350">
                <a:solidFill>
                  <a:srgbClr val="445066"/>
                </a:solidFill>
                <a:latin typeface="Segoe UI"/>
              </a:rPr>
              <a:t>—  One credential per payer — not one per account — with no static keys stored anywhere</a:t>
            </a:r>
          </a:p>
          <a:p>
            <a:pPr>
              <a:spcAft>
                <a:spcPts val="900"/>
              </a:spcAft>
            </a:pPr>
            <a:r>
              <a:rPr sz="1350">
                <a:solidFill>
                  <a:srgbClr val="445066"/>
                </a:solidFill>
                <a:latin typeface="Segoe UI"/>
              </a:rPr>
              <a:t>—  59 optimization levers detected from the bill; $5.52M identified on a representative estate</a:t>
            </a:r>
          </a:p>
          <a:p>
            <a:pPr>
              <a:spcAft>
                <a:spcPts val="900"/>
              </a:spcAft>
            </a:pPr>
            <a:r>
              <a:rPr sz="1350">
                <a:solidFill>
                  <a:srgbClr val="445066"/>
                </a:solidFill>
                <a:latin typeface="Segoe UI"/>
              </a:rPr>
              <a:t>—  A Google ADK agent team on Gemini that can only quote numbers it measured</a:t>
            </a:r>
          </a:p>
          <a:p>
            <a:pPr>
              <a:spcAft>
                <a:spcPts val="900"/>
              </a:spcAft>
            </a:pPr>
            <a:r>
              <a:rPr sz="1350">
                <a:solidFill>
                  <a:srgbClr val="445066"/>
                </a:solidFill>
                <a:latin typeface="Segoe UI"/>
              </a:rPr>
              <a:t>—  Serverless on Cloud Run: scales to zero, ~$240/month plus model usage</a:t>
            </a:r>
          </a:p>
        </p:txBody>
      </p:sp>
      <p:sp>
        <p:nvSpPr>
          <p:cNvPr id="8" name="TextBox 7"/>
          <p:cNvSpPr txBox="1"/>
          <p:nvPr/>
        </p:nvSpPr>
        <p:spPr>
          <a:xfrm>
            <a:off x="640080" y="6355080"/>
            <a:ext cx="8686800" cy="274320"/>
          </a:xfrm>
          <a:prstGeom prst="rect">
            <a:avLst/>
          </a:prstGeom>
          <a:noFill/>
        </p:spPr>
        <p:txBody>
          <a:bodyPr wrap="square">
            <a:spAutoFit/>
          </a:bodyPr>
          <a:lstStyle/>
          <a:p>
            <a:pPr algn="l">
              <a:spcAft>
                <a:spcPts val="400"/>
              </a:spcAft>
            </a:pPr>
            <a:r>
              <a:rPr sz="850" b="0">
                <a:solidFill>
                  <a:srgbClr val="7A8599"/>
                </a:solidFill>
                <a:latin typeface="Segoe UI"/>
              </a:rPr>
              <a:t>Infosys · Con Edison · GCP Platform Overview</a:t>
            </a:r>
          </a:p>
        </p:txBody>
      </p:sp>
      <p:sp>
        <p:nvSpPr>
          <p:cNvPr id="9" name="TextBox 8"/>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THE PROBLEM</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Three clouds, three schemas, no single truth</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Multi-cloud FinOps is a data problem before it is a savings problem</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65960"/>
            <a:ext cx="10881360" cy="667512"/>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2039112"/>
            <a:ext cx="2651760" cy="365760"/>
          </a:xfrm>
          <a:prstGeom prst="rect">
            <a:avLst/>
          </a:prstGeom>
          <a:noFill/>
        </p:spPr>
        <p:txBody>
          <a:bodyPr wrap="square">
            <a:spAutoFit/>
          </a:bodyPr>
          <a:lstStyle/>
          <a:p>
            <a:pPr algn="l">
              <a:spcAft>
                <a:spcPts val="400"/>
              </a:spcAft>
            </a:pPr>
            <a:r>
              <a:rPr sz="1250" b="1">
                <a:solidFill>
                  <a:srgbClr val="0B142A"/>
                </a:solidFill>
                <a:latin typeface="Segoe UI"/>
              </a:rPr>
              <a:t>Three billing schemas</a:t>
            </a:r>
          </a:p>
        </p:txBody>
      </p:sp>
      <p:sp>
        <p:nvSpPr>
          <p:cNvPr id="8" name="TextBox 7"/>
          <p:cNvSpPr txBox="1"/>
          <p:nvPr/>
        </p:nvSpPr>
        <p:spPr>
          <a:xfrm>
            <a:off x="3611880" y="2039112"/>
            <a:ext cx="7680960" cy="502920"/>
          </a:xfrm>
          <a:prstGeom prst="rect">
            <a:avLst/>
          </a:prstGeom>
          <a:noFill/>
        </p:spPr>
        <p:txBody>
          <a:bodyPr wrap="square">
            <a:spAutoFit/>
          </a:bodyPr>
          <a:lstStyle/>
          <a:p>
            <a:pPr algn="l">
              <a:spcAft>
                <a:spcPts val="400"/>
              </a:spcAft>
            </a:pPr>
            <a:r>
              <a:rPr sz="1100" b="0">
                <a:solidFill>
                  <a:srgbClr val="445066"/>
                </a:solidFill>
                <a:latin typeface="Segoe UI"/>
              </a:rPr>
              <a:t>AWS, Azure, GCP and OCI each bill in their own shape. Reconciling them by hand is a monthly project, not a dashboard.</a:t>
            </a:r>
          </a:p>
        </p:txBody>
      </p:sp>
      <p:sp>
        <p:nvSpPr>
          <p:cNvPr id="9" name="Rounded Rectangle 8"/>
          <p:cNvSpPr/>
          <p:nvPr/>
        </p:nvSpPr>
        <p:spPr>
          <a:xfrm>
            <a:off x="640080" y="2697480"/>
            <a:ext cx="10881360" cy="667512"/>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770632"/>
            <a:ext cx="2651760" cy="365760"/>
          </a:xfrm>
          <a:prstGeom prst="rect">
            <a:avLst/>
          </a:prstGeom>
          <a:noFill/>
        </p:spPr>
        <p:txBody>
          <a:bodyPr wrap="square">
            <a:spAutoFit/>
          </a:bodyPr>
          <a:lstStyle/>
          <a:p>
            <a:pPr algn="l">
              <a:spcAft>
                <a:spcPts val="400"/>
              </a:spcAft>
            </a:pPr>
            <a:r>
              <a:rPr sz="1250" b="1">
                <a:solidFill>
                  <a:srgbClr val="0B142A"/>
                </a:solidFill>
                <a:latin typeface="Segoe UI"/>
              </a:rPr>
              <a:t>Credential sprawl</a:t>
            </a:r>
          </a:p>
        </p:txBody>
      </p:sp>
      <p:sp>
        <p:nvSpPr>
          <p:cNvPr id="11" name="TextBox 10"/>
          <p:cNvSpPr txBox="1"/>
          <p:nvPr/>
        </p:nvSpPr>
        <p:spPr>
          <a:xfrm>
            <a:off x="3611880" y="2770632"/>
            <a:ext cx="7680960" cy="502920"/>
          </a:xfrm>
          <a:prstGeom prst="rect">
            <a:avLst/>
          </a:prstGeom>
          <a:noFill/>
        </p:spPr>
        <p:txBody>
          <a:bodyPr wrap="square">
            <a:spAutoFit/>
          </a:bodyPr>
          <a:lstStyle/>
          <a:p>
            <a:pPr algn="l">
              <a:spcAft>
                <a:spcPts val="400"/>
              </a:spcAft>
            </a:pPr>
            <a:r>
              <a:rPr sz="1100" b="0">
                <a:solidFill>
                  <a:srgbClr val="445066"/>
                </a:solidFill>
                <a:latin typeface="Segoe UI"/>
              </a:rPr>
              <a:t>Teams assume one credential per account. It is one per payer — and the difference is dozens of keys nobody rotates.</a:t>
            </a:r>
          </a:p>
        </p:txBody>
      </p:sp>
      <p:sp>
        <p:nvSpPr>
          <p:cNvPr id="12" name="Rounded Rectangle 11"/>
          <p:cNvSpPr/>
          <p:nvPr/>
        </p:nvSpPr>
        <p:spPr>
          <a:xfrm>
            <a:off x="640080" y="3429000"/>
            <a:ext cx="10881360" cy="667512"/>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3502152"/>
            <a:ext cx="2651760" cy="365760"/>
          </a:xfrm>
          <a:prstGeom prst="rect">
            <a:avLst/>
          </a:prstGeom>
          <a:noFill/>
        </p:spPr>
        <p:txBody>
          <a:bodyPr wrap="square">
            <a:spAutoFit/>
          </a:bodyPr>
          <a:lstStyle/>
          <a:p>
            <a:pPr algn="l">
              <a:spcAft>
                <a:spcPts val="400"/>
              </a:spcAft>
            </a:pPr>
            <a:r>
              <a:rPr sz="1250" b="1">
                <a:solidFill>
                  <a:srgbClr val="0B142A"/>
                </a:solidFill>
                <a:latin typeface="Segoe UI"/>
              </a:rPr>
              <a:t>Tool lock-in</a:t>
            </a:r>
          </a:p>
        </p:txBody>
      </p:sp>
      <p:sp>
        <p:nvSpPr>
          <p:cNvPr id="14" name="TextBox 13"/>
          <p:cNvSpPr txBox="1"/>
          <p:nvPr/>
        </p:nvSpPr>
        <p:spPr>
          <a:xfrm>
            <a:off x="3611880" y="3502152"/>
            <a:ext cx="7680960" cy="502920"/>
          </a:xfrm>
          <a:prstGeom prst="rect">
            <a:avLst/>
          </a:prstGeom>
          <a:noFill/>
        </p:spPr>
        <p:txBody>
          <a:bodyPr wrap="square">
            <a:spAutoFit/>
          </a:bodyPr>
          <a:lstStyle/>
          <a:p>
            <a:pPr algn="l">
              <a:spcAft>
                <a:spcPts val="400"/>
              </a:spcAft>
            </a:pPr>
            <a:r>
              <a:rPr sz="1100" b="0">
                <a:solidFill>
                  <a:srgbClr val="445066"/>
                </a:solidFill>
                <a:latin typeface="Segoe UI"/>
              </a:rPr>
              <a:t>Pick a FinOps platform and every dashboard, KPI and script is written against that vendor's field names.</a:t>
            </a:r>
          </a:p>
        </p:txBody>
      </p:sp>
      <p:sp>
        <p:nvSpPr>
          <p:cNvPr id="15" name="Rounded Rectangle 14"/>
          <p:cNvSpPr/>
          <p:nvPr/>
        </p:nvSpPr>
        <p:spPr>
          <a:xfrm>
            <a:off x="640080" y="4160520"/>
            <a:ext cx="10881360" cy="667512"/>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68680" y="4233672"/>
            <a:ext cx="2651760" cy="365760"/>
          </a:xfrm>
          <a:prstGeom prst="rect">
            <a:avLst/>
          </a:prstGeom>
          <a:noFill/>
        </p:spPr>
        <p:txBody>
          <a:bodyPr wrap="square">
            <a:spAutoFit/>
          </a:bodyPr>
          <a:lstStyle/>
          <a:p>
            <a:pPr algn="l">
              <a:spcAft>
                <a:spcPts val="400"/>
              </a:spcAft>
            </a:pPr>
            <a:r>
              <a:rPr sz="1250" b="1">
                <a:solidFill>
                  <a:srgbClr val="0B142A"/>
                </a:solidFill>
                <a:latin typeface="Segoe UI"/>
              </a:rPr>
              <a:t>Unallocated spend</a:t>
            </a:r>
          </a:p>
        </p:txBody>
      </p:sp>
      <p:sp>
        <p:nvSpPr>
          <p:cNvPr id="17" name="TextBox 16"/>
          <p:cNvSpPr txBox="1"/>
          <p:nvPr/>
        </p:nvSpPr>
        <p:spPr>
          <a:xfrm>
            <a:off x="3611880" y="4233672"/>
            <a:ext cx="7680960" cy="502920"/>
          </a:xfrm>
          <a:prstGeom prst="rect">
            <a:avLst/>
          </a:prstGeom>
          <a:noFill/>
        </p:spPr>
        <p:txBody>
          <a:bodyPr wrap="square">
            <a:spAutoFit/>
          </a:bodyPr>
          <a:lstStyle/>
          <a:p>
            <a:pPr algn="l">
              <a:spcAft>
                <a:spcPts val="400"/>
              </a:spcAft>
            </a:pPr>
            <a:r>
              <a:rPr sz="1100" b="0">
                <a:solidFill>
                  <a:srgbClr val="445066"/>
                </a:solidFill>
                <a:latin typeface="Segoe UI"/>
              </a:rPr>
              <a:t>Untagged resources land in a bucket nobody owns, so chargeback is disputed and showback is ignored.</a:t>
            </a:r>
          </a:p>
        </p:txBody>
      </p:sp>
      <p:sp>
        <p:nvSpPr>
          <p:cNvPr id="18" name="Rounded Rectangle 17"/>
          <p:cNvSpPr/>
          <p:nvPr/>
        </p:nvSpPr>
        <p:spPr>
          <a:xfrm>
            <a:off x="640080" y="4892040"/>
            <a:ext cx="10881360" cy="667512"/>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68680" y="4965192"/>
            <a:ext cx="2651760" cy="365760"/>
          </a:xfrm>
          <a:prstGeom prst="rect">
            <a:avLst/>
          </a:prstGeom>
          <a:noFill/>
        </p:spPr>
        <p:txBody>
          <a:bodyPr wrap="square">
            <a:spAutoFit/>
          </a:bodyPr>
          <a:lstStyle/>
          <a:p>
            <a:pPr algn="l">
              <a:spcAft>
                <a:spcPts val="400"/>
              </a:spcAft>
            </a:pPr>
            <a:r>
              <a:rPr sz="1250" b="1">
                <a:solidFill>
                  <a:srgbClr val="0B142A"/>
                </a:solidFill>
                <a:latin typeface="Segoe UI"/>
              </a:rPr>
              <a:t>Blind forecasting</a:t>
            </a:r>
          </a:p>
        </p:txBody>
      </p:sp>
      <p:sp>
        <p:nvSpPr>
          <p:cNvPr id="20" name="TextBox 19"/>
          <p:cNvSpPr txBox="1"/>
          <p:nvPr/>
        </p:nvSpPr>
        <p:spPr>
          <a:xfrm>
            <a:off x="3611880" y="4965192"/>
            <a:ext cx="7680960" cy="502920"/>
          </a:xfrm>
          <a:prstGeom prst="rect">
            <a:avLst/>
          </a:prstGeom>
          <a:noFill/>
        </p:spPr>
        <p:txBody>
          <a:bodyPr wrap="square">
            <a:spAutoFit/>
          </a:bodyPr>
          <a:lstStyle/>
          <a:p>
            <a:pPr algn="l">
              <a:spcAft>
                <a:spcPts val="400"/>
              </a:spcAft>
            </a:pPr>
            <a:r>
              <a:rPr sz="1100" b="0">
                <a:solidFill>
                  <a:srgbClr val="445066"/>
                </a:solidFill>
                <a:latin typeface="Segoe UI"/>
              </a:rPr>
              <a:t>A trend line walks straight through a commitment expiry. The rate snaps back to on-demand and the variance lands unannounced.</a:t>
            </a:r>
          </a:p>
        </p:txBody>
      </p:sp>
      <p:sp>
        <p:nvSpPr>
          <p:cNvPr id="21" name="Rounded Rectangle 20"/>
          <p:cNvSpPr/>
          <p:nvPr/>
        </p:nvSpPr>
        <p:spPr>
          <a:xfrm>
            <a:off x="640080" y="5623560"/>
            <a:ext cx="10881360" cy="667512"/>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68680" y="5696712"/>
            <a:ext cx="2651760" cy="365760"/>
          </a:xfrm>
          <a:prstGeom prst="rect">
            <a:avLst/>
          </a:prstGeom>
          <a:noFill/>
        </p:spPr>
        <p:txBody>
          <a:bodyPr wrap="square">
            <a:spAutoFit/>
          </a:bodyPr>
          <a:lstStyle/>
          <a:p>
            <a:pPr algn="l">
              <a:spcAft>
                <a:spcPts val="400"/>
              </a:spcAft>
            </a:pPr>
            <a:r>
              <a:rPr sz="1250" b="1">
                <a:solidFill>
                  <a:srgbClr val="0B142A"/>
                </a:solidFill>
                <a:latin typeface="Segoe UI"/>
              </a:rPr>
              <a:t>Scale</a:t>
            </a:r>
          </a:p>
        </p:txBody>
      </p:sp>
      <p:sp>
        <p:nvSpPr>
          <p:cNvPr id="23" name="TextBox 22"/>
          <p:cNvSpPr txBox="1"/>
          <p:nvPr/>
        </p:nvSpPr>
        <p:spPr>
          <a:xfrm>
            <a:off x="3611880" y="5696712"/>
            <a:ext cx="7680960" cy="502920"/>
          </a:xfrm>
          <a:prstGeom prst="rect">
            <a:avLst/>
          </a:prstGeom>
          <a:noFill/>
        </p:spPr>
        <p:txBody>
          <a:bodyPr wrap="square">
            <a:spAutoFit/>
          </a:bodyPr>
          <a:lstStyle/>
          <a:p>
            <a:pPr algn="l">
              <a:spcAft>
                <a:spcPts val="400"/>
              </a:spcAft>
            </a:pPr>
            <a:r>
              <a:rPr sz="1100" b="0">
                <a:solidFill>
                  <a:srgbClr val="445066"/>
                </a:solidFill>
                <a:latin typeface="Segoe UI"/>
              </a:rPr>
              <a:t>A utility estate is millions of billing line-items a month. A single-process dashboard cannot hold it.</a:t>
            </a:r>
          </a:p>
        </p:txBody>
      </p:sp>
      <p:sp>
        <p:nvSpPr>
          <p:cNvPr id="24" name="TextBox 23"/>
          <p:cNvSpPr txBox="1"/>
          <p:nvPr/>
        </p:nvSpPr>
        <p:spPr>
          <a:xfrm>
            <a:off x="640080" y="6355080"/>
            <a:ext cx="8686800" cy="274320"/>
          </a:xfrm>
          <a:prstGeom prst="rect">
            <a:avLst/>
          </a:prstGeom>
          <a:noFill/>
        </p:spPr>
        <p:txBody>
          <a:bodyPr wrap="square">
            <a:spAutoFit/>
          </a:bodyPr>
          <a:lstStyle/>
          <a:p>
            <a:pPr algn="l">
              <a:spcAft>
                <a:spcPts val="400"/>
              </a:spcAft>
            </a:pPr>
          </a:p>
        </p:txBody>
      </p:sp>
      <p:sp>
        <p:nvSpPr>
          <p:cNvPr id="25" name="TextBox 24"/>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THE APPROACH</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One idea: normalise everything to FOCUS 1.2</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The FinOps Foundation's Open Cost and Usage Specification is the contract</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2587752" cy="13716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0080" y="2011680"/>
            <a:ext cx="2587752" cy="50800"/>
          </a:xfrm>
          <a:prstGeom prst="rect">
            <a:avLst/>
          </a:prstGeom>
          <a:solidFill>
            <a:srgbClr val="C98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2221992" cy="365760"/>
          </a:xfrm>
          <a:prstGeom prst="rect">
            <a:avLst/>
          </a:prstGeom>
          <a:noFill/>
        </p:spPr>
        <p:txBody>
          <a:bodyPr wrap="square">
            <a:spAutoFit/>
          </a:bodyPr>
          <a:lstStyle/>
          <a:p>
            <a:pPr algn="l">
              <a:spcAft>
                <a:spcPts val="400"/>
              </a:spcAft>
            </a:pPr>
            <a:r>
              <a:rPr sz="1400" b="1">
                <a:solidFill>
                  <a:srgbClr val="0B142A"/>
                </a:solidFill>
                <a:latin typeface="Segoe UI"/>
              </a:rPr>
              <a:t>AWS</a:t>
            </a:r>
          </a:p>
        </p:txBody>
      </p:sp>
      <p:sp>
        <p:nvSpPr>
          <p:cNvPr id="9" name="TextBox 8"/>
          <p:cNvSpPr txBox="1"/>
          <p:nvPr/>
        </p:nvSpPr>
        <p:spPr>
          <a:xfrm>
            <a:off x="822960" y="2578608"/>
            <a:ext cx="2221992" cy="731520"/>
          </a:xfrm>
          <a:prstGeom prst="rect">
            <a:avLst/>
          </a:prstGeom>
          <a:noFill/>
        </p:spPr>
        <p:txBody>
          <a:bodyPr wrap="square">
            <a:spAutoFit/>
          </a:bodyPr>
          <a:lstStyle/>
          <a:p>
            <a:pPr algn="l">
              <a:spcAft>
                <a:spcPts val="400"/>
              </a:spcAft>
            </a:pPr>
            <a:r>
              <a:rPr sz="950" b="0">
                <a:solidFill>
                  <a:srgbClr val="445066"/>
                </a:solidFill>
                <a:latin typeface="Segoe UI"/>
              </a:rPr>
              <a:t>Data Exports — FOCUS_1_2_AWS</a:t>
            </a:r>
          </a:p>
          <a:p>
            <a:pPr algn="l">
              <a:spcAft>
                <a:spcPts val="400"/>
              </a:spcAft>
            </a:pPr>
            <a:r>
              <a:rPr sz="950" b="0">
                <a:solidFill>
                  <a:srgbClr val="445066"/>
                </a:solidFill>
                <a:latin typeface="Segoe UI"/>
              </a:rPr>
              <a:t>GA 19 Nov 2025 (1.0 GA Nov 2024)</a:t>
            </a:r>
          </a:p>
        </p:txBody>
      </p:sp>
      <p:sp>
        <p:nvSpPr>
          <p:cNvPr id="10" name="Rounded Rectangle 9"/>
          <p:cNvSpPr/>
          <p:nvPr/>
        </p:nvSpPr>
        <p:spPr>
          <a:xfrm>
            <a:off x="3410712" y="2011680"/>
            <a:ext cx="2587752" cy="13716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410712" y="2011680"/>
            <a:ext cx="2587752" cy="508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2194560"/>
            <a:ext cx="2221992" cy="365760"/>
          </a:xfrm>
          <a:prstGeom prst="rect">
            <a:avLst/>
          </a:prstGeom>
          <a:noFill/>
        </p:spPr>
        <p:txBody>
          <a:bodyPr wrap="square">
            <a:spAutoFit/>
          </a:bodyPr>
          <a:lstStyle/>
          <a:p>
            <a:pPr algn="l">
              <a:spcAft>
                <a:spcPts val="400"/>
              </a:spcAft>
            </a:pPr>
            <a:r>
              <a:rPr sz="1400" b="1">
                <a:solidFill>
                  <a:srgbClr val="0B142A"/>
                </a:solidFill>
                <a:latin typeface="Segoe UI"/>
              </a:rPr>
              <a:t>Azure</a:t>
            </a:r>
          </a:p>
        </p:txBody>
      </p:sp>
      <p:sp>
        <p:nvSpPr>
          <p:cNvPr id="13" name="TextBox 12"/>
          <p:cNvSpPr txBox="1"/>
          <p:nvPr/>
        </p:nvSpPr>
        <p:spPr>
          <a:xfrm>
            <a:off x="3593592" y="2578608"/>
            <a:ext cx="2221992" cy="731520"/>
          </a:xfrm>
          <a:prstGeom prst="rect">
            <a:avLst/>
          </a:prstGeom>
          <a:noFill/>
        </p:spPr>
        <p:txBody>
          <a:bodyPr wrap="square">
            <a:spAutoFit/>
          </a:bodyPr>
          <a:lstStyle/>
          <a:p>
            <a:pPr algn="l">
              <a:spcAft>
                <a:spcPts val="400"/>
              </a:spcAft>
            </a:pPr>
            <a:r>
              <a:rPr sz="950" b="0">
                <a:solidFill>
                  <a:srgbClr val="445066"/>
                </a:solidFill>
                <a:latin typeface="Segoe UI"/>
              </a:rPr>
              <a:t>Cost Management exports</a:t>
            </a:r>
          </a:p>
          <a:p>
            <a:pPr algn="l">
              <a:spcAft>
                <a:spcPts val="400"/>
              </a:spcAft>
            </a:pPr>
            <a:r>
              <a:rPr sz="950" b="0">
                <a:solidFill>
                  <a:srgbClr val="445066"/>
                </a:solidFill>
                <a:latin typeface="Segoe UI"/>
              </a:rPr>
              <a:t>dataset type FocusCost</a:t>
            </a:r>
          </a:p>
        </p:txBody>
      </p:sp>
      <p:sp>
        <p:nvSpPr>
          <p:cNvPr id="14" name="Rounded Rectangle 13"/>
          <p:cNvSpPr/>
          <p:nvPr/>
        </p:nvSpPr>
        <p:spPr>
          <a:xfrm>
            <a:off x="6181344" y="2011680"/>
            <a:ext cx="2587752" cy="13716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181344" y="2011680"/>
            <a:ext cx="2587752" cy="50800"/>
          </a:xfrm>
          <a:prstGeom prst="rect">
            <a:avLst/>
          </a:prstGeom>
          <a:solidFill>
            <a:srgbClr val="0C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2194560"/>
            <a:ext cx="2221992" cy="365760"/>
          </a:xfrm>
          <a:prstGeom prst="rect">
            <a:avLst/>
          </a:prstGeom>
          <a:noFill/>
        </p:spPr>
        <p:txBody>
          <a:bodyPr wrap="square">
            <a:spAutoFit/>
          </a:bodyPr>
          <a:lstStyle/>
          <a:p>
            <a:pPr algn="l">
              <a:spcAft>
                <a:spcPts val="400"/>
              </a:spcAft>
            </a:pPr>
            <a:r>
              <a:rPr sz="1400" b="1">
                <a:solidFill>
                  <a:srgbClr val="0B142A"/>
                </a:solidFill>
                <a:latin typeface="Segoe UI"/>
              </a:rPr>
              <a:t>Google Cloud</a:t>
            </a:r>
          </a:p>
        </p:txBody>
      </p:sp>
      <p:sp>
        <p:nvSpPr>
          <p:cNvPr id="17" name="TextBox 16"/>
          <p:cNvSpPr txBox="1"/>
          <p:nvPr/>
        </p:nvSpPr>
        <p:spPr>
          <a:xfrm>
            <a:off x="6364224" y="2578608"/>
            <a:ext cx="2221992" cy="731520"/>
          </a:xfrm>
          <a:prstGeom prst="rect">
            <a:avLst/>
          </a:prstGeom>
          <a:noFill/>
        </p:spPr>
        <p:txBody>
          <a:bodyPr wrap="square">
            <a:spAutoFit/>
          </a:bodyPr>
          <a:lstStyle/>
          <a:p>
            <a:pPr algn="l">
              <a:spcAft>
                <a:spcPts val="400"/>
              </a:spcAft>
            </a:pPr>
            <a:r>
              <a:rPr sz="950" b="0">
                <a:solidFill>
                  <a:srgbClr val="445066"/>
                </a:solidFill>
                <a:latin typeface="Segoe UI"/>
              </a:rPr>
              <a:t>gcp_billing_export_focus_*</a:t>
            </a:r>
          </a:p>
          <a:p>
            <a:pPr algn="l">
              <a:spcAft>
                <a:spcPts val="400"/>
              </a:spcAft>
            </a:pPr>
            <a:r>
              <a:rPr sz="950" b="0">
                <a:solidFill>
                  <a:srgbClr val="445066"/>
                </a:solidFill>
                <a:latin typeface="Segoe UI"/>
              </a:rPr>
              <a:t>native, inside BigQuery already</a:t>
            </a:r>
          </a:p>
        </p:txBody>
      </p:sp>
      <p:sp>
        <p:nvSpPr>
          <p:cNvPr id="18" name="Rounded Rectangle 17"/>
          <p:cNvSpPr/>
          <p:nvPr/>
        </p:nvSpPr>
        <p:spPr>
          <a:xfrm>
            <a:off x="8951976" y="2011680"/>
            <a:ext cx="2587752" cy="13716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951976" y="2011680"/>
            <a:ext cx="2587752" cy="50800"/>
          </a:xfrm>
          <a:prstGeom prst="rect">
            <a:avLst/>
          </a:prstGeom>
          <a:solidFill>
            <a:srgbClr val="6E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34856" y="2194560"/>
            <a:ext cx="2221992" cy="365760"/>
          </a:xfrm>
          <a:prstGeom prst="rect">
            <a:avLst/>
          </a:prstGeom>
          <a:noFill/>
        </p:spPr>
        <p:txBody>
          <a:bodyPr wrap="square">
            <a:spAutoFit/>
          </a:bodyPr>
          <a:lstStyle/>
          <a:p>
            <a:pPr algn="l">
              <a:spcAft>
                <a:spcPts val="400"/>
              </a:spcAft>
            </a:pPr>
            <a:r>
              <a:rPr sz="1400" b="1">
                <a:solidFill>
                  <a:srgbClr val="0B142A"/>
                </a:solidFill>
                <a:latin typeface="Segoe UI"/>
              </a:rPr>
              <a:t>OCI</a:t>
            </a:r>
          </a:p>
        </p:txBody>
      </p:sp>
      <p:sp>
        <p:nvSpPr>
          <p:cNvPr id="21" name="TextBox 20"/>
          <p:cNvSpPr txBox="1"/>
          <p:nvPr/>
        </p:nvSpPr>
        <p:spPr>
          <a:xfrm>
            <a:off x="9134856" y="2578608"/>
            <a:ext cx="2221992" cy="731520"/>
          </a:xfrm>
          <a:prstGeom prst="rect">
            <a:avLst/>
          </a:prstGeom>
          <a:noFill/>
        </p:spPr>
        <p:txBody>
          <a:bodyPr wrap="square">
            <a:spAutoFit/>
          </a:bodyPr>
          <a:lstStyle/>
          <a:p>
            <a:pPr algn="l">
              <a:spcAft>
                <a:spcPts val="400"/>
              </a:spcAft>
            </a:pPr>
            <a:r>
              <a:rPr sz="950" b="0">
                <a:solidFill>
                  <a:srgbClr val="445066"/>
                </a:solidFill>
                <a:latin typeface="Segoe UI"/>
              </a:rPr>
              <a:t>FOCUS Reports in the Oracle-owned</a:t>
            </a:r>
          </a:p>
          <a:p>
            <a:pPr algn="l">
              <a:spcAft>
                <a:spcPts val="400"/>
              </a:spcAft>
            </a:pPr>
            <a:r>
              <a:rPr sz="950" b="0">
                <a:solidFill>
                  <a:srgbClr val="445066"/>
                </a:solidFill>
                <a:latin typeface="Segoe UI"/>
              </a:rPr>
              <a:t>'bling' bucket, gzipped CSV</a:t>
            </a:r>
          </a:p>
        </p:txBody>
      </p:sp>
      <p:sp>
        <p:nvSpPr>
          <p:cNvPr id="22" name="TextBox 21"/>
          <p:cNvSpPr txBox="1"/>
          <p:nvPr/>
        </p:nvSpPr>
        <p:spPr>
          <a:xfrm>
            <a:off x="640080" y="3657600"/>
            <a:ext cx="10881360" cy="1280160"/>
          </a:xfrm>
          <a:prstGeom prst="rect">
            <a:avLst/>
          </a:prstGeom>
          <a:noFill/>
        </p:spPr>
        <p:txBody>
          <a:bodyPr wrap="square">
            <a:spAutoFit/>
          </a:bodyPr>
          <a:lstStyle/>
          <a:p>
            <a:pPr algn="l">
              <a:spcAft>
                <a:spcPts val="400"/>
              </a:spcAft>
            </a:pPr>
            <a:r>
              <a:rPr sz="1300" b="0">
                <a:solidFill>
                  <a:srgbClr val="445066"/>
                </a:solidFill>
                <a:latin typeface="Segoe UI"/>
              </a:rPr>
              <a:t>All four providers emit FOCUS natively today. So do CloudZero and Vantage; Cloudability, CloudHealth and Flexera ingest it. That is why this platform is vendor-neutral by construction rather than by adapter: no dashboard, KPI formula, optimization detector or agent tool has ever seen a vendor-specific field.</a:t>
            </a:r>
          </a:p>
        </p:txBody>
      </p:sp>
      <p:sp>
        <p:nvSpPr>
          <p:cNvPr id="23" name="Rounded Rectangle 22"/>
          <p:cNvSpPr/>
          <p:nvPr/>
        </p:nvSpPr>
        <p:spPr>
          <a:xfrm>
            <a:off x="640080" y="4892040"/>
            <a:ext cx="3502152" cy="118872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40080" y="4892040"/>
            <a:ext cx="44450" cy="118872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965192"/>
            <a:ext cx="3227832" cy="256032"/>
          </a:xfrm>
          <a:prstGeom prst="rect">
            <a:avLst/>
          </a:prstGeom>
          <a:noFill/>
        </p:spPr>
        <p:txBody>
          <a:bodyPr wrap="square">
            <a:spAutoFit/>
          </a:bodyPr>
          <a:lstStyle/>
          <a:p>
            <a:pPr algn="l">
              <a:spcAft>
                <a:spcPts val="400"/>
              </a:spcAft>
            </a:pPr>
            <a:r>
              <a:rPr sz="850" b="1">
                <a:solidFill>
                  <a:srgbClr val="7A8599"/>
                </a:solidFill>
                <a:latin typeface="Segoe UI"/>
              </a:rPr>
              <a:t>CONNECTORS</a:t>
            </a:r>
          </a:p>
        </p:txBody>
      </p:sp>
      <p:sp>
        <p:nvSpPr>
          <p:cNvPr id="26" name="TextBox 25"/>
          <p:cNvSpPr txBox="1"/>
          <p:nvPr/>
        </p:nvSpPr>
        <p:spPr>
          <a:xfrm>
            <a:off x="804672" y="5202936"/>
            <a:ext cx="3227832" cy="457200"/>
          </a:xfrm>
          <a:prstGeom prst="rect">
            <a:avLst/>
          </a:prstGeom>
          <a:noFill/>
        </p:spPr>
        <p:txBody>
          <a:bodyPr wrap="square">
            <a:spAutoFit/>
          </a:bodyPr>
          <a:lstStyle/>
          <a:p>
            <a:pPr algn="l">
              <a:spcAft>
                <a:spcPts val="400"/>
              </a:spcAft>
            </a:pPr>
            <a:r>
              <a:rPr sz="2100" b="1">
                <a:solidFill>
                  <a:srgbClr val="0B142A"/>
                </a:solidFill>
                <a:latin typeface="Segoe UI"/>
              </a:rPr>
              <a:t>18</a:t>
            </a:r>
          </a:p>
        </p:txBody>
      </p:sp>
      <p:sp>
        <p:nvSpPr>
          <p:cNvPr id="27" name="TextBox 26"/>
          <p:cNvSpPr txBox="1"/>
          <p:nvPr/>
        </p:nvSpPr>
        <p:spPr>
          <a:xfrm>
            <a:off x="804672" y="5678424"/>
            <a:ext cx="3227832" cy="365760"/>
          </a:xfrm>
          <a:prstGeom prst="rect">
            <a:avLst/>
          </a:prstGeom>
          <a:noFill/>
        </p:spPr>
        <p:txBody>
          <a:bodyPr wrap="square">
            <a:spAutoFit/>
          </a:bodyPr>
          <a:lstStyle/>
          <a:p>
            <a:pPr algn="l">
              <a:spcAft>
                <a:spcPts val="400"/>
              </a:spcAft>
            </a:pPr>
            <a:r>
              <a:rPr sz="900" b="0">
                <a:solidFill>
                  <a:srgbClr val="7A8599"/>
                </a:solidFill>
                <a:latin typeface="Segoe UI"/>
              </a:rPr>
              <a:t>3 native + 12 procured tools + any FOCUS file</a:t>
            </a:r>
          </a:p>
        </p:txBody>
      </p:sp>
      <p:sp>
        <p:nvSpPr>
          <p:cNvPr id="28" name="Rounded Rectangle 27"/>
          <p:cNvSpPr/>
          <p:nvPr/>
        </p:nvSpPr>
        <p:spPr>
          <a:xfrm>
            <a:off x="4315968" y="4892040"/>
            <a:ext cx="3502152" cy="118872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315968" y="4892040"/>
            <a:ext cx="44450" cy="1188720"/>
          </a:xfrm>
          <a:prstGeom prst="rect">
            <a:avLst/>
          </a:prstGeom>
          <a:solidFill>
            <a:srgbClr val="119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4965192"/>
            <a:ext cx="3227832" cy="256032"/>
          </a:xfrm>
          <a:prstGeom prst="rect">
            <a:avLst/>
          </a:prstGeom>
          <a:noFill/>
        </p:spPr>
        <p:txBody>
          <a:bodyPr wrap="square">
            <a:spAutoFit/>
          </a:bodyPr>
          <a:lstStyle/>
          <a:p>
            <a:pPr algn="l">
              <a:spcAft>
                <a:spcPts val="400"/>
              </a:spcAft>
            </a:pPr>
            <a:r>
              <a:rPr sz="850" b="1">
                <a:solidFill>
                  <a:srgbClr val="7A8599"/>
                </a:solidFill>
                <a:latin typeface="Segoe UI"/>
              </a:rPr>
              <a:t>ADOPTING A NEW TOOL</a:t>
            </a:r>
          </a:p>
        </p:txBody>
      </p:sp>
      <p:sp>
        <p:nvSpPr>
          <p:cNvPr id="31" name="TextBox 30"/>
          <p:cNvSpPr txBox="1"/>
          <p:nvPr/>
        </p:nvSpPr>
        <p:spPr>
          <a:xfrm>
            <a:off x="4480560" y="5202936"/>
            <a:ext cx="3227832" cy="457200"/>
          </a:xfrm>
          <a:prstGeom prst="rect">
            <a:avLst/>
          </a:prstGeom>
          <a:noFill/>
        </p:spPr>
        <p:txBody>
          <a:bodyPr wrap="square">
            <a:spAutoFit/>
          </a:bodyPr>
          <a:lstStyle/>
          <a:p>
            <a:pPr algn="l">
              <a:spcAft>
                <a:spcPts val="400"/>
              </a:spcAft>
            </a:pPr>
            <a:r>
              <a:rPr sz="2100" b="1">
                <a:solidFill>
                  <a:srgbClr val="0B142A"/>
                </a:solidFill>
                <a:latin typeface="Segoe UI"/>
              </a:rPr>
              <a:t>1 subclass</a:t>
            </a:r>
          </a:p>
        </p:txBody>
      </p:sp>
      <p:sp>
        <p:nvSpPr>
          <p:cNvPr id="32" name="TextBox 31"/>
          <p:cNvSpPr txBox="1"/>
          <p:nvPr/>
        </p:nvSpPr>
        <p:spPr>
          <a:xfrm>
            <a:off x="4480560" y="5678424"/>
            <a:ext cx="3227832" cy="365760"/>
          </a:xfrm>
          <a:prstGeom prst="rect">
            <a:avLst/>
          </a:prstGeom>
          <a:noFill/>
        </p:spPr>
        <p:txBody>
          <a:bodyPr wrap="square">
            <a:spAutoFit/>
          </a:bodyPr>
          <a:lstStyle/>
          <a:p>
            <a:pPr algn="l">
              <a:spcAft>
                <a:spcPts val="400"/>
              </a:spcAft>
            </a:pPr>
            <a:r>
              <a:rPr sz="900" b="0">
                <a:solidFill>
                  <a:srgbClr val="7A8599"/>
                </a:solidFill>
                <a:latin typeface="Segoe UI"/>
              </a:rPr>
              <a:t>plus one line in the registry</a:t>
            </a:r>
          </a:p>
        </p:txBody>
      </p:sp>
      <p:sp>
        <p:nvSpPr>
          <p:cNvPr id="33" name="Rounded Rectangle 32"/>
          <p:cNvSpPr/>
          <p:nvPr/>
        </p:nvSpPr>
        <p:spPr>
          <a:xfrm>
            <a:off x="7991856" y="4892040"/>
            <a:ext cx="3529584" cy="118872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991856" y="4892040"/>
            <a:ext cx="44450" cy="1188720"/>
          </a:xfrm>
          <a:prstGeom prst="rect">
            <a:avLst/>
          </a:prstGeom>
          <a:solidFill>
            <a:srgbClr val="5B4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56448" y="4965192"/>
            <a:ext cx="3255264" cy="256032"/>
          </a:xfrm>
          <a:prstGeom prst="rect">
            <a:avLst/>
          </a:prstGeom>
          <a:noFill/>
        </p:spPr>
        <p:txBody>
          <a:bodyPr wrap="square">
            <a:spAutoFit/>
          </a:bodyPr>
          <a:lstStyle/>
          <a:p>
            <a:pPr algn="l">
              <a:spcAft>
                <a:spcPts val="400"/>
              </a:spcAft>
            </a:pPr>
            <a:r>
              <a:rPr sz="850" b="1">
                <a:solidFill>
                  <a:srgbClr val="7A8599"/>
                </a:solidFill>
                <a:latin typeface="Segoe UI"/>
              </a:rPr>
              <a:t>DOWNSTREAM CHANGES</a:t>
            </a:r>
          </a:p>
        </p:txBody>
      </p:sp>
      <p:sp>
        <p:nvSpPr>
          <p:cNvPr id="36" name="TextBox 35"/>
          <p:cNvSpPr txBox="1"/>
          <p:nvPr/>
        </p:nvSpPr>
        <p:spPr>
          <a:xfrm>
            <a:off x="8156448" y="5202936"/>
            <a:ext cx="3255264" cy="457200"/>
          </a:xfrm>
          <a:prstGeom prst="rect">
            <a:avLst/>
          </a:prstGeom>
          <a:noFill/>
        </p:spPr>
        <p:txBody>
          <a:bodyPr wrap="square">
            <a:spAutoFit/>
          </a:bodyPr>
          <a:lstStyle/>
          <a:p>
            <a:pPr algn="l">
              <a:spcAft>
                <a:spcPts val="400"/>
              </a:spcAft>
            </a:pPr>
            <a:r>
              <a:rPr sz="2100" b="1">
                <a:solidFill>
                  <a:srgbClr val="0B142A"/>
                </a:solidFill>
                <a:latin typeface="Segoe UI"/>
              </a:rPr>
              <a:t>None</a:t>
            </a:r>
          </a:p>
        </p:txBody>
      </p:sp>
      <p:sp>
        <p:nvSpPr>
          <p:cNvPr id="37" name="TextBox 36"/>
          <p:cNvSpPr txBox="1"/>
          <p:nvPr/>
        </p:nvSpPr>
        <p:spPr>
          <a:xfrm>
            <a:off x="8156448" y="5678424"/>
            <a:ext cx="3255264" cy="365760"/>
          </a:xfrm>
          <a:prstGeom prst="rect">
            <a:avLst/>
          </a:prstGeom>
          <a:noFill/>
        </p:spPr>
        <p:txBody>
          <a:bodyPr wrap="square">
            <a:spAutoFit/>
          </a:bodyPr>
          <a:lstStyle/>
          <a:p>
            <a:pPr algn="l">
              <a:spcAft>
                <a:spcPts val="400"/>
              </a:spcAft>
            </a:pPr>
            <a:r>
              <a:rPr sz="900" b="0">
                <a:solidFill>
                  <a:srgbClr val="7A8599"/>
                </a:solidFill>
                <a:latin typeface="Segoe UI"/>
              </a:rPr>
              <a:t>every dashboard and agent keeps working</a:t>
            </a:r>
          </a:p>
        </p:txBody>
      </p:sp>
      <p:sp>
        <p:nvSpPr>
          <p:cNvPr id="38" name="TextBox 37"/>
          <p:cNvSpPr txBox="1"/>
          <p:nvPr/>
        </p:nvSpPr>
        <p:spPr>
          <a:xfrm>
            <a:off x="640080" y="6355080"/>
            <a:ext cx="8686800" cy="274320"/>
          </a:xfrm>
          <a:prstGeom prst="rect">
            <a:avLst/>
          </a:prstGeom>
          <a:noFill/>
        </p:spPr>
        <p:txBody>
          <a:bodyPr wrap="square">
            <a:spAutoFit/>
          </a:bodyPr>
          <a:lstStyle/>
          <a:p>
            <a:pPr algn="l">
              <a:spcAft>
                <a:spcPts val="400"/>
              </a:spcAft>
            </a:pPr>
          </a:p>
        </p:txBody>
      </p:sp>
      <p:sp>
        <p:nvSpPr>
          <p:cNvPr id="39" name="TextBox 38"/>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TARGET ARCHITECTURE</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Three clouds, one FOCUS warehouse, one control plane</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Sources · Identity · Ingest · Warehouse · Serving · Experience</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cp_architecture.png"/>
          <p:cNvPicPr>
            <a:picLocks noChangeAspect="1"/>
          </p:cNvPicPr>
          <p:nvPr/>
        </p:nvPicPr>
        <p:blipFill>
          <a:blip r:embed="rId2"/>
          <a:stretch>
            <a:fillRect/>
          </a:stretch>
        </p:blipFill>
        <p:spPr>
          <a:xfrm>
            <a:off x="3039872" y="1874519"/>
            <a:ext cx="6111951" cy="4206240"/>
          </a:xfrm>
          <a:prstGeom prst="rect">
            <a:avLst/>
          </a:prstGeom>
        </p:spPr>
      </p:pic>
      <p:sp>
        <p:nvSpPr>
          <p:cNvPr id="7" name="TextBox 6"/>
          <p:cNvSpPr txBox="1"/>
          <p:nvPr/>
        </p:nvSpPr>
        <p:spPr>
          <a:xfrm>
            <a:off x="640080" y="6144768"/>
            <a:ext cx="9509760" cy="274320"/>
          </a:xfrm>
          <a:prstGeom prst="rect">
            <a:avLst/>
          </a:prstGeom>
          <a:noFill/>
        </p:spPr>
        <p:txBody>
          <a:bodyPr wrap="square">
            <a:spAutoFit/>
          </a:bodyPr>
          <a:lstStyle/>
          <a:p>
            <a:pPr algn="l">
              <a:spcAft>
                <a:spcPts val="400"/>
              </a:spcAft>
            </a:pPr>
            <a:r>
              <a:rPr sz="900" b="0">
                <a:solidFill>
                  <a:srgbClr val="7A8599"/>
                </a:solidFill>
                <a:latin typeface="Segoe UI"/>
              </a:rPr>
              <a:t>Vector source: docs/diagrams/gcp_architecture.svg</a:t>
            </a:r>
          </a:p>
        </p:txBody>
      </p:sp>
      <p:sp>
        <p:nvSpPr>
          <p:cNvPr id="8" name="TextBox 7"/>
          <p:cNvSpPr txBox="1"/>
          <p:nvPr/>
        </p:nvSpPr>
        <p:spPr>
          <a:xfrm>
            <a:off x="9966960" y="6144768"/>
            <a:ext cx="1645920" cy="274320"/>
          </a:xfrm>
          <a:prstGeom prst="rect">
            <a:avLst/>
          </a:prstGeom>
          <a:noFill/>
        </p:spPr>
        <p:txBody>
          <a:bodyPr wrap="square">
            <a:spAutoFit/>
          </a:bodyPr>
          <a:lstStyle/>
          <a:p>
            <a:pPr algn="r">
              <a:spcAft>
                <a:spcPts val="400"/>
              </a:spcAft>
            </a:pPr>
            <a:r>
              <a:rPr sz="800" b="0">
                <a:solidFill>
                  <a:srgbClr val="7A8599"/>
                </a:solidFill>
                <a:latin typeface="Segoe UI"/>
              </a:rPr>
              <a:t>docs/diagrams/gcp_architecture.svg</a:t>
            </a:r>
          </a:p>
        </p:txBody>
      </p:sp>
      <p:sp>
        <p:nvSpPr>
          <p:cNvPr id="9" name="TextBox 8"/>
          <p:cNvSpPr txBox="1"/>
          <p:nvPr/>
        </p:nvSpPr>
        <p:spPr>
          <a:xfrm>
            <a:off x="640080" y="6355080"/>
            <a:ext cx="8686800" cy="274320"/>
          </a:xfrm>
          <a:prstGeom prst="rect">
            <a:avLst/>
          </a:prstGeom>
          <a:noFill/>
        </p:spPr>
        <p:txBody>
          <a:bodyPr wrap="square">
            <a:spAutoFit/>
          </a:bodyPr>
          <a:lstStyle/>
          <a:p>
            <a:pPr algn="l">
              <a:spcAft>
                <a:spcPts val="400"/>
              </a:spcAft>
            </a:pPr>
          </a:p>
        </p:txBody>
      </p:sp>
      <p:sp>
        <p:nvSpPr>
          <p:cNvPr id="10" name="TextBox 9"/>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CONNECTING THE CLOUDS</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One credential per payer, not one per account</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How AWS, Azure, Google Cloud and OCI each aggregate billing</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oud_onboarding.png"/>
          <p:cNvPicPr>
            <a:picLocks noChangeAspect="1"/>
          </p:cNvPicPr>
          <p:nvPr/>
        </p:nvPicPr>
        <p:blipFill>
          <a:blip r:embed="rId2"/>
          <a:stretch>
            <a:fillRect/>
          </a:stretch>
        </p:blipFill>
        <p:spPr>
          <a:xfrm>
            <a:off x="2570291" y="1874519"/>
            <a:ext cx="7051113" cy="4206240"/>
          </a:xfrm>
          <a:prstGeom prst="rect">
            <a:avLst/>
          </a:prstGeom>
        </p:spPr>
      </p:pic>
      <p:sp>
        <p:nvSpPr>
          <p:cNvPr id="7" name="TextBox 6"/>
          <p:cNvSpPr txBox="1"/>
          <p:nvPr/>
        </p:nvSpPr>
        <p:spPr>
          <a:xfrm>
            <a:off x="640080" y="6144768"/>
            <a:ext cx="9509760" cy="274320"/>
          </a:xfrm>
          <a:prstGeom prst="rect">
            <a:avLst/>
          </a:prstGeom>
          <a:noFill/>
        </p:spPr>
        <p:txBody>
          <a:bodyPr wrap="square">
            <a:spAutoFit/>
          </a:bodyPr>
          <a:lstStyle/>
          <a:p>
            <a:pPr algn="l">
              <a:spcAft>
                <a:spcPts val="400"/>
              </a:spcAft>
            </a:pPr>
            <a:r>
              <a:rPr sz="900" b="0">
                <a:solidFill>
                  <a:srgbClr val="7A8599"/>
                </a:solidFill>
                <a:latin typeface="Segoe UI"/>
              </a:rPr>
              <a:t>Vector source: docs/diagrams/cloud_onboarding.svg</a:t>
            </a:r>
          </a:p>
        </p:txBody>
      </p:sp>
      <p:sp>
        <p:nvSpPr>
          <p:cNvPr id="8" name="TextBox 7"/>
          <p:cNvSpPr txBox="1"/>
          <p:nvPr/>
        </p:nvSpPr>
        <p:spPr>
          <a:xfrm>
            <a:off x="9966960" y="6144768"/>
            <a:ext cx="1645920" cy="274320"/>
          </a:xfrm>
          <a:prstGeom prst="rect">
            <a:avLst/>
          </a:prstGeom>
          <a:noFill/>
        </p:spPr>
        <p:txBody>
          <a:bodyPr wrap="square">
            <a:spAutoFit/>
          </a:bodyPr>
          <a:lstStyle/>
          <a:p>
            <a:pPr algn="r">
              <a:spcAft>
                <a:spcPts val="400"/>
              </a:spcAft>
            </a:pPr>
            <a:r>
              <a:rPr sz="800" b="0">
                <a:solidFill>
                  <a:srgbClr val="7A8599"/>
                </a:solidFill>
                <a:latin typeface="Segoe UI"/>
              </a:rPr>
              <a:t>docs/diagrams/cloud_onboarding.svg</a:t>
            </a:r>
          </a:p>
        </p:txBody>
      </p:sp>
      <p:sp>
        <p:nvSpPr>
          <p:cNvPr id="9" name="TextBox 8"/>
          <p:cNvSpPr txBox="1"/>
          <p:nvPr/>
        </p:nvSpPr>
        <p:spPr>
          <a:xfrm>
            <a:off x="640080" y="6355080"/>
            <a:ext cx="8686800" cy="274320"/>
          </a:xfrm>
          <a:prstGeom prst="rect">
            <a:avLst/>
          </a:prstGeom>
          <a:noFill/>
        </p:spPr>
        <p:txBody>
          <a:bodyPr wrap="square">
            <a:spAutoFit/>
          </a:bodyPr>
          <a:lstStyle/>
          <a:p>
            <a:pPr algn="l">
              <a:spcAft>
                <a:spcPts val="400"/>
              </a:spcAft>
            </a:pPr>
          </a:p>
        </p:txBody>
      </p:sp>
      <p:sp>
        <p:nvSpPr>
          <p:cNvPr id="10" name="TextBox 9"/>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STREAMLIT VS GOOGLE CLOUD</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What actually changes, and what does not</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The engines are identical. The warehouse, the runtime, the model and the front end are not.</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38528"/>
            <a:ext cx="10881360" cy="310896"/>
          </a:xfrm>
          <a:prstGeom prst="roundRect">
            <a:avLst>
              <a:gd name="adj" fmla="val 6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956816"/>
            <a:ext cx="2651760" cy="274320"/>
          </a:xfrm>
          <a:prstGeom prst="rect">
            <a:avLst/>
          </a:prstGeom>
          <a:noFill/>
        </p:spPr>
        <p:txBody>
          <a:bodyPr wrap="square">
            <a:spAutoFit/>
          </a:bodyPr>
          <a:lstStyle/>
          <a:p>
            <a:pPr algn="l">
              <a:spcAft>
                <a:spcPts val="400"/>
              </a:spcAft>
            </a:pPr>
          </a:p>
        </p:txBody>
      </p:sp>
      <p:sp>
        <p:nvSpPr>
          <p:cNvPr id="8" name="TextBox 7"/>
          <p:cNvSpPr txBox="1"/>
          <p:nvPr/>
        </p:nvSpPr>
        <p:spPr>
          <a:xfrm>
            <a:off x="3566160" y="1956816"/>
            <a:ext cx="3840480" cy="274320"/>
          </a:xfrm>
          <a:prstGeom prst="rect">
            <a:avLst/>
          </a:prstGeom>
          <a:noFill/>
        </p:spPr>
        <p:txBody>
          <a:bodyPr wrap="square">
            <a:spAutoFit/>
          </a:bodyPr>
          <a:lstStyle/>
          <a:p>
            <a:pPr algn="l">
              <a:spcAft>
                <a:spcPts val="400"/>
              </a:spcAft>
            </a:pPr>
            <a:r>
              <a:rPr sz="950" b="1">
                <a:solidFill>
                  <a:srgbClr val="7A8599"/>
                </a:solidFill>
                <a:latin typeface="Segoe UI"/>
              </a:rPr>
              <a:t>Streamlit (reference)</a:t>
            </a:r>
          </a:p>
        </p:txBody>
      </p:sp>
      <p:sp>
        <p:nvSpPr>
          <p:cNvPr id="9" name="TextBox 8"/>
          <p:cNvSpPr txBox="1"/>
          <p:nvPr/>
        </p:nvSpPr>
        <p:spPr>
          <a:xfrm>
            <a:off x="7589519" y="1956816"/>
            <a:ext cx="4297680" cy="274320"/>
          </a:xfrm>
          <a:prstGeom prst="rect">
            <a:avLst/>
          </a:prstGeom>
          <a:noFill/>
        </p:spPr>
        <p:txBody>
          <a:bodyPr wrap="square">
            <a:spAutoFit/>
          </a:bodyPr>
          <a:lstStyle/>
          <a:p>
            <a:pPr algn="l">
              <a:spcAft>
                <a:spcPts val="400"/>
              </a:spcAft>
            </a:pPr>
            <a:r>
              <a:rPr sz="950" b="1">
                <a:solidFill>
                  <a:srgbClr val="7A8599"/>
                </a:solidFill>
                <a:latin typeface="Segoe UI"/>
              </a:rPr>
              <a:t>Google Cloud (target)</a:t>
            </a:r>
          </a:p>
        </p:txBody>
      </p:sp>
      <p:sp>
        <p:nvSpPr>
          <p:cNvPr id="10" name="Rounded Rectangle 9"/>
          <p:cNvSpPr/>
          <p:nvPr/>
        </p:nvSpPr>
        <p:spPr>
          <a:xfrm>
            <a:off x="640080" y="2286000"/>
            <a:ext cx="10881360" cy="384048"/>
          </a:xfrm>
          <a:prstGeom prst="roundRect">
            <a:avLst>
              <a:gd name="adj" fmla="val 6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2304288"/>
            <a:ext cx="2651760" cy="329184"/>
          </a:xfrm>
          <a:prstGeom prst="rect">
            <a:avLst/>
          </a:prstGeom>
          <a:noFill/>
        </p:spPr>
        <p:txBody>
          <a:bodyPr wrap="square">
            <a:spAutoFit/>
          </a:bodyPr>
          <a:lstStyle/>
          <a:p>
            <a:pPr algn="l">
              <a:spcAft>
                <a:spcPts val="400"/>
              </a:spcAft>
            </a:pPr>
            <a:r>
              <a:rPr sz="1000" b="1">
                <a:solidFill>
                  <a:srgbClr val="0B142A"/>
                </a:solidFill>
                <a:latin typeface="Segoe UI"/>
              </a:rPr>
              <a:t>Where it runs</a:t>
            </a:r>
          </a:p>
        </p:txBody>
      </p:sp>
      <p:sp>
        <p:nvSpPr>
          <p:cNvPr id="12" name="TextBox 11"/>
          <p:cNvSpPr txBox="1"/>
          <p:nvPr/>
        </p:nvSpPr>
        <p:spPr>
          <a:xfrm>
            <a:off x="3566160" y="2304288"/>
            <a:ext cx="3749039" cy="329184"/>
          </a:xfrm>
          <a:prstGeom prst="rect">
            <a:avLst/>
          </a:prstGeom>
          <a:noFill/>
        </p:spPr>
        <p:txBody>
          <a:bodyPr wrap="square">
            <a:spAutoFit/>
          </a:bodyPr>
          <a:lstStyle/>
          <a:p>
            <a:pPr algn="l">
              <a:spcAft>
                <a:spcPts val="400"/>
              </a:spcAft>
            </a:pPr>
            <a:r>
              <a:rPr sz="950" b="0">
                <a:solidFill>
                  <a:srgbClr val="7A8599"/>
                </a:solidFill>
                <a:latin typeface="Segoe UI"/>
              </a:rPr>
              <a:t>Streamlit Community Cloud, one process</a:t>
            </a:r>
          </a:p>
        </p:txBody>
      </p:sp>
      <p:sp>
        <p:nvSpPr>
          <p:cNvPr id="13" name="TextBox 12"/>
          <p:cNvSpPr txBox="1"/>
          <p:nvPr/>
        </p:nvSpPr>
        <p:spPr>
          <a:xfrm>
            <a:off x="7589520" y="2304288"/>
            <a:ext cx="3931920" cy="329184"/>
          </a:xfrm>
          <a:prstGeom prst="rect">
            <a:avLst/>
          </a:prstGeom>
          <a:noFill/>
        </p:spPr>
        <p:txBody>
          <a:bodyPr wrap="square">
            <a:spAutoFit/>
          </a:bodyPr>
          <a:lstStyle/>
          <a:p>
            <a:pPr algn="l">
              <a:spcAft>
                <a:spcPts val="400"/>
              </a:spcAft>
            </a:pPr>
            <a:r>
              <a:rPr sz="950" b="0">
                <a:solidFill>
                  <a:srgbClr val="445066"/>
                </a:solidFill>
                <a:latin typeface="Segoe UI"/>
              </a:rPr>
              <a:t>Cloud Run, scales to zero, one service per concern</a:t>
            </a:r>
          </a:p>
        </p:txBody>
      </p:sp>
      <p:sp>
        <p:nvSpPr>
          <p:cNvPr id="14" name="TextBox 13"/>
          <p:cNvSpPr txBox="1"/>
          <p:nvPr/>
        </p:nvSpPr>
        <p:spPr>
          <a:xfrm>
            <a:off x="777240" y="2688336"/>
            <a:ext cx="2651760" cy="329184"/>
          </a:xfrm>
          <a:prstGeom prst="rect">
            <a:avLst/>
          </a:prstGeom>
          <a:noFill/>
        </p:spPr>
        <p:txBody>
          <a:bodyPr wrap="square">
            <a:spAutoFit/>
          </a:bodyPr>
          <a:lstStyle/>
          <a:p>
            <a:pPr algn="l">
              <a:spcAft>
                <a:spcPts val="400"/>
              </a:spcAft>
            </a:pPr>
            <a:r>
              <a:rPr sz="1000" b="1">
                <a:solidFill>
                  <a:srgbClr val="0B142A"/>
                </a:solidFill>
                <a:latin typeface="Segoe UI"/>
              </a:rPr>
              <a:t>Data</a:t>
            </a:r>
          </a:p>
        </p:txBody>
      </p:sp>
      <p:sp>
        <p:nvSpPr>
          <p:cNvPr id="15" name="TextBox 14"/>
          <p:cNvSpPr txBox="1"/>
          <p:nvPr/>
        </p:nvSpPr>
        <p:spPr>
          <a:xfrm>
            <a:off x="3566160" y="2688336"/>
            <a:ext cx="3749039" cy="329184"/>
          </a:xfrm>
          <a:prstGeom prst="rect">
            <a:avLst/>
          </a:prstGeom>
          <a:noFill/>
        </p:spPr>
        <p:txBody>
          <a:bodyPr wrap="square">
            <a:spAutoFit/>
          </a:bodyPr>
          <a:lstStyle/>
          <a:p>
            <a:pPr algn="l">
              <a:spcAft>
                <a:spcPts val="400"/>
              </a:spcAft>
            </a:pPr>
            <a:r>
              <a:rPr sz="950" b="0">
                <a:solidFill>
                  <a:srgbClr val="7A8599"/>
                </a:solidFill>
                <a:latin typeface="Segoe UI"/>
              </a:rPr>
              <a:t>Whole FOCUS frame in pandas memory</a:t>
            </a:r>
          </a:p>
        </p:txBody>
      </p:sp>
      <p:sp>
        <p:nvSpPr>
          <p:cNvPr id="16" name="TextBox 15"/>
          <p:cNvSpPr txBox="1"/>
          <p:nvPr/>
        </p:nvSpPr>
        <p:spPr>
          <a:xfrm>
            <a:off x="7589520" y="2688336"/>
            <a:ext cx="3931920" cy="329184"/>
          </a:xfrm>
          <a:prstGeom prst="rect">
            <a:avLst/>
          </a:prstGeom>
          <a:noFill/>
        </p:spPr>
        <p:txBody>
          <a:bodyPr wrap="square">
            <a:spAutoFit/>
          </a:bodyPr>
          <a:lstStyle/>
          <a:p>
            <a:pPr algn="l">
              <a:spcAft>
                <a:spcPts val="400"/>
              </a:spcAft>
            </a:pPr>
            <a:r>
              <a:rPr sz="950" b="0">
                <a:solidFill>
                  <a:srgbClr val="445066"/>
                </a:solidFill>
                <a:latin typeface="Segoe UI"/>
              </a:rPr>
              <a:t>BigQuery, partitioned and clustered; aggregates pushed to SQL</a:t>
            </a:r>
          </a:p>
        </p:txBody>
      </p:sp>
      <p:sp>
        <p:nvSpPr>
          <p:cNvPr id="17" name="Rounded Rectangle 16"/>
          <p:cNvSpPr/>
          <p:nvPr/>
        </p:nvSpPr>
        <p:spPr>
          <a:xfrm>
            <a:off x="640080" y="3054096"/>
            <a:ext cx="10881360" cy="384048"/>
          </a:xfrm>
          <a:prstGeom prst="roundRect">
            <a:avLst>
              <a:gd name="adj" fmla="val 6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77240" y="3072384"/>
            <a:ext cx="2651760" cy="329184"/>
          </a:xfrm>
          <a:prstGeom prst="rect">
            <a:avLst/>
          </a:prstGeom>
          <a:noFill/>
        </p:spPr>
        <p:txBody>
          <a:bodyPr wrap="square">
            <a:spAutoFit/>
          </a:bodyPr>
          <a:lstStyle/>
          <a:p>
            <a:pPr algn="l">
              <a:spcAft>
                <a:spcPts val="400"/>
              </a:spcAft>
            </a:pPr>
            <a:r>
              <a:rPr sz="1000" b="1">
                <a:solidFill>
                  <a:srgbClr val="0B142A"/>
                </a:solidFill>
                <a:latin typeface="Segoe UI"/>
              </a:rPr>
              <a:t>Scale ceiling</a:t>
            </a:r>
          </a:p>
        </p:txBody>
      </p:sp>
      <p:sp>
        <p:nvSpPr>
          <p:cNvPr id="19" name="TextBox 18"/>
          <p:cNvSpPr txBox="1"/>
          <p:nvPr/>
        </p:nvSpPr>
        <p:spPr>
          <a:xfrm>
            <a:off x="3566160" y="3072384"/>
            <a:ext cx="3749039" cy="329184"/>
          </a:xfrm>
          <a:prstGeom prst="rect">
            <a:avLst/>
          </a:prstGeom>
          <a:noFill/>
        </p:spPr>
        <p:txBody>
          <a:bodyPr wrap="square">
            <a:spAutoFit/>
          </a:bodyPr>
          <a:lstStyle/>
          <a:p>
            <a:pPr algn="l">
              <a:spcAft>
                <a:spcPts val="400"/>
              </a:spcAft>
            </a:pPr>
            <a:r>
              <a:rPr sz="950" b="0">
                <a:solidFill>
                  <a:srgbClr val="7A8599"/>
                </a:solidFill>
                <a:latin typeface="Segoe UI"/>
              </a:rPr>
              <a:t>~63k rows demo; ~8 GB at 500k line-items/month</a:t>
            </a:r>
          </a:p>
        </p:txBody>
      </p:sp>
      <p:sp>
        <p:nvSpPr>
          <p:cNvPr id="20" name="TextBox 19"/>
          <p:cNvSpPr txBox="1"/>
          <p:nvPr/>
        </p:nvSpPr>
        <p:spPr>
          <a:xfrm>
            <a:off x="7589520" y="3072384"/>
            <a:ext cx="3931920" cy="329184"/>
          </a:xfrm>
          <a:prstGeom prst="rect">
            <a:avLst/>
          </a:prstGeom>
          <a:noFill/>
        </p:spPr>
        <p:txBody>
          <a:bodyPr wrap="square">
            <a:spAutoFit/>
          </a:bodyPr>
          <a:lstStyle/>
          <a:p>
            <a:pPr algn="l">
              <a:spcAft>
                <a:spcPts val="400"/>
              </a:spcAft>
            </a:pPr>
            <a:r>
              <a:rPr sz="950" b="0">
                <a:solidFill>
                  <a:srgbClr val="445066"/>
                </a:solidFill>
                <a:latin typeface="Segoe UI"/>
              </a:rPr>
              <a:t>Billions of rows; queries prune to a slice</a:t>
            </a:r>
          </a:p>
        </p:txBody>
      </p:sp>
      <p:sp>
        <p:nvSpPr>
          <p:cNvPr id="21" name="TextBox 20"/>
          <p:cNvSpPr txBox="1"/>
          <p:nvPr/>
        </p:nvSpPr>
        <p:spPr>
          <a:xfrm>
            <a:off x="777240" y="3456432"/>
            <a:ext cx="2651760" cy="329184"/>
          </a:xfrm>
          <a:prstGeom prst="rect">
            <a:avLst/>
          </a:prstGeom>
          <a:noFill/>
        </p:spPr>
        <p:txBody>
          <a:bodyPr wrap="square">
            <a:spAutoFit/>
          </a:bodyPr>
          <a:lstStyle/>
          <a:p>
            <a:pPr algn="l">
              <a:spcAft>
                <a:spcPts val="400"/>
              </a:spcAft>
            </a:pPr>
            <a:r>
              <a:rPr sz="1000" b="1">
                <a:solidFill>
                  <a:srgbClr val="0B142A"/>
                </a:solidFill>
                <a:latin typeface="Segoe UI"/>
              </a:rPr>
              <a:t>Cost control</a:t>
            </a:r>
          </a:p>
        </p:txBody>
      </p:sp>
      <p:sp>
        <p:nvSpPr>
          <p:cNvPr id="22" name="TextBox 21"/>
          <p:cNvSpPr txBox="1"/>
          <p:nvPr/>
        </p:nvSpPr>
        <p:spPr>
          <a:xfrm>
            <a:off x="3566160" y="3456432"/>
            <a:ext cx="3749039" cy="329184"/>
          </a:xfrm>
          <a:prstGeom prst="rect">
            <a:avLst/>
          </a:prstGeom>
          <a:noFill/>
        </p:spPr>
        <p:txBody>
          <a:bodyPr wrap="square">
            <a:spAutoFit/>
          </a:bodyPr>
          <a:lstStyle/>
          <a:p>
            <a:pPr algn="l">
              <a:spcAft>
                <a:spcPts val="400"/>
              </a:spcAft>
            </a:pPr>
            <a:r>
              <a:rPr sz="950" b="0">
                <a:solidFill>
                  <a:srgbClr val="7A8599"/>
                </a:solidFill>
                <a:latin typeface="Segoe UI"/>
              </a:rPr>
              <a:t>None needed</a:t>
            </a:r>
          </a:p>
        </p:txBody>
      </p:sp>
      <p:sp>
        <p:nvSpPr>
          <p:cNvPr id="23" name="TextBox 22"/>
          <p:cNvSpPr txBox="1"/>
          <p:nvPr/>
        </p:nvSpPr>
        <p:spPr>
          <a:xfrm>
            <a:off x="7589520" y="3456432"/>
            <a:ext cx="3931920" cy="329184"/>
          </a:xfrm>
          <a:prstGeom prst="rect">
            <a:avLst/>
          </a:prstGeom>
          <a:noFill/>
        </p:spPr>
        <p:txBody>
          <a:bodyPr wrap="square">
            <a:spAutoFit/>
          </a:bodyPr>
          <a:lstStyle/>
          <a:p>
            <a:pPr algn="l">
              <a:spcAft>
                <a:spcPts val="400"/>
              </a:spcAft>
            </a:pPr>
            <a:r>
              <a:rPr sz="950" b="0">
                <a:solidFill>
                  <a:srgbClr val="445066"/>
                </a:solidFill>
                <a:latin typeface="Segoe UI"/>
              </a:rPr>
              <a:t>Partition filter required, bytes-billed capped, detectors run nightly</a:t>
            </a:r>
          </a:p>
        </p:txBody>
      </p:sp>
      <p:sp>
        <p:nvSpPr>
          <p:cNvPr id="24" name="Rounded Rectangle 23"/>
          <p:cNvSpPr/>
          <p:nvPr/>
        </p:nvSpPr>
        <p:spPr>
          <a:xfrm>
            <a:off x="640080" y="3822192"/>
            <a:ext cx="10881360" cy="384048"/>
          </a:xfrm>
          <a:prstGeom prst="roundRect">
            <a:avLst>
              <a:gd name="adj" fmla="val 6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 y="3840480"/>
            <a:ext cx="2651760" cy="329184"/>
          </a:xfrm>
          <a:prstGeom prst="rect">
            <a:avLst/>
          </a:prstGeom>
          <a:noFill/>
        </p:spPr>
        <p:txBody>
          <a:bodyPr wrap="square">
            <a:spAutoFit/>
          </a:bodyPr>
          <a:lstStyle/>
          <a:p>
            <a:pPr algn="l">
              <a:spcAft>
                <a:spcPts val="400"/>
              </a:spcAft>
            </a:pPr>
            <a:r>
              <a:rPr sz="1000" b="1">
                <a:solidFill>
                  <a:srgbClr val="0B142A"/>
                </a:solidFill>
                <a:latin typeface="Segoe UI"/>
              </a:rPr>
              <a:t>Agents</a:t>
            </a:r>
          </a:p>
        </p:txBody>
      </p:sp>
      <p:sp>
        <p:nvSpPr>
          <p:cNvPr id="26" name="TextBox 25"/>
          <p:cNvSpPr txBox="1"/>
          <p:nvPr/>
        </p:nvSpPr>
        <p:spPr>
          <a:xfrm>
            <a:off x="3566160" y="3840480"/>
            <a:ext cx="3749039" cy="329184"/>
          </a:xfrm>
          <a:prstGeom prst="rect">
            <a:avLst/>
          </a:prstGeom>
          <a:noFill/>
        </p:spPr>
        <p:txBody>
          <a:bodyPr wrap="square">
            <a:spAutoFit/>
          </a:bodyPr>
          <a:lstStyle/>
          <a:p>
            <a:pPr algn="l">
              <a:spcAft>
                <a:spcPts val="400"/>
              </a:spcAft>
            </a:pPr>
            <a:r>
              <a:rPr sz="950" b="0">
                <a:solidFill>
                  <a:srgbClr val="7A8599"/>
                </a:solidFill>
                <a:latin typeface="Segoe UI"/>
              </a:rPr>
              <a:t>LangGraph supervisor on gpt-5</a:t>
            </a:r>
          </a:p>
        </p:txBody>
      </p:sp>
      <p:sp>
        <p:nvSpPr>
          <p:cNvPr id="27" name="TextBox 26"/>
          <p:cNvSpPr txBox="1"/>
          <p:nvPr/>
        </p:nvSpPr>
        <p:spPr>
          <a:xfrm>
            <a:off x="7589520" y="3840480"/>
            <a:ext cx="3931920" cy="329184"/>
          </a:xfrm>
          <a:prstGeom prst="rect">
            <a:avLst/>
          </a:prstGeom>
          <a:noFill/>
        </p:spPr>
        <p:txBody>
          <a:bodyPr wrap="square">
            <a:spAutoFit/>
          </a:bodyPr>
          <a:lstStyle/>
          <a:p>
            <a:pPr algn="l">
              <a:spcAft>
                <a:spcPts val="400"/>
              </a:spcAft>
            </a:pPr>
            <a:r>
              <a:rPr sz="950" b="0">
                <a:solidFill>
                  <a:srgbClr val="445066"/>
                </a:solidFill>
                <a:latin typeface="Segoe UI"/>
              </a:rPr>
              <a:t>Google ADK coordinator on Gemini, via Vertex</a:t>
            </a:r>
          </a:p>
        </p:txBody>
      </p:sp>
      <p:sp>
        <p:nvSpPr>
          <p:cNvPr id="28" name="TextBox 27"/>
          <p:cNvSpPr txBox="1"/>
          <p:nvPr/>
        </p:nvSpPr>
        <p:spPr>
          <a:xfrm>
            <a:off x="777240" y="4224528"/>
            <a:ext cx="2651760" cy="329184"/>
          </a:xfrm>
          <a:prstGeom prst="rect">
            <a:avLst/>
          </a:prstGeom>
          <a:noFill/>
        </p:spPr>
        <p:txBody>
          <a:bodyPr wrap="square">
            <a:spAutoFit/>
          </a:bodyPr>
          <a:lstStyle/>
          <a:p>
            <a:pPr algn="l">
              <a:spcAft>
                <a:spcPts val="400"/>
              </a:spcAft>
            </a:pPr>
            <a:r>
              <a:rPr sz="1000" b="1">
                <a:solidFill>
                  <a:srgbClr val="0B142A"/>
                </a:solidFill>
                <a:latin typeface="Segoe UI"/>
              </a:rPr>
              <a:t>Model credentials</a:t>
            </a:r>
          </a:p>
        </p:txBody>
      </p:sp>
      <p:sp>
        <p:nvSpPr>
          <p:cNvPr id="29" name="TextBox 28"/>
          <p:cNvSpPr txBox="1"/>
          <p:nvPr/>
        </p:nvSpPr>
        <p:spPr>
          <a:xfrm>
            <a:off x="3566160" y="4224528"/>
            <a:ext cx="3749039" cy="329184"/>
          </a:xfrm>
          <a:prstGeom prst="rect">
            <a:avLst/>
          </a:prstGeom>
          <a:noFill/>
        </p:spPr>
        <p:txBody>
          <a:bodyPr wrap="square">
            <a:spAutoFit/>
          </a:bodyPr>
          <a:lstStyle/>
          <a:p>
            <a:pPr algn="l">
              <a:spcAft>
                <a:spcPts val="400"/>
              </a:spcAft>
            </a:pPr>
            <a:r>
              <a:rPr sz="950" b="0">
                <a:solidFill>
                  <a:srgbClr val="7A8599"/>
                </a:solidFill>
                <a:latin typeface="Segoe UI"/>
              </a:rPr>
              <a:t>OPENAI_API_KEY in a secret</a:t>
            </a:r>
          </a:p>
        </p:txBody>
      </p:sp>
      <p:sp>
        <p:nvSpPr>
          <p:cNvPr id="30" name="TextBox 29"/>
          <p:cNvSpPr txBox="1"/>
          <p:nvPr/>
        </p:nvSpPr>
        <p:spPr>
          <a:xfrm>
            <a:off x="7589520" y="4224528"/>
            <a:ext cx="3931920" cy="329184"/>
          </a:xfrm>
          <a:prstGeom prst="rect">
            <a:avLst/>
          </a:prstGeom>
          <a:noFill/>
        </p:spPr>
        <p:txBody>
          <a:bodyPr wrap="square">
            <a:spAutoFit/>
          </a:bodyPr>
          <a:lstStyle/>
          <a:p>
            <a:pPr algn="l">
              <a:spcAft>
                <a:spcPts val="400"/>
              </a:spcAft>
            </a:pPr>
            <a:r>
              <a:rPr sz="950" b="0">
                <a:solidFill>
                  <a:srgbClr val="445066"/>
                </a:solidFill>
                <a:latin typeface="Segoe UI"/>
              </a:rPr>
              <a:t>ADC on the service account — no model API key exists</a:t>
            </a:r>
          </a:p>
        </p:txBody>
      </p:sp>
      <p:sp>
        <p:nvSpPr>
          <p:cNvPr id="31" name="Rounded Rectangle 30"/>
          <p:cNvSpPr/>
          <p:nvPr/>
        </p:nvSpPr>
        <p:spPr>
          <a:xfrm>
            <a:off x="640080" y="4590288"/>
            <a:ext cx="10881360" cy="384048"/>
          </a:xfrm>
          <a:prstGeom prst="roundRect">
            <a:avLst>
              <a:gd name="adj" fmla="val 6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77240" y="4608576"/>
            <a:ext cx="2651760" cy="329184"/>
          </a:xfrm>
          <a:prstGeom prst="rect">
            <a:avLst/>
          </a:prstGeom>
          <a:noFill/>
        </p:spPr>
        <p:txBody>
          <a:bodyPr wrap="square">
            <a:spAutoFit/>
          </a:bodyPr>
          <a:lstStyle/>
          <a:p>
            <a:pPr algn="l">
              <a:spcAft>
                <a:spcPts val="400"/>
              </a:spcAft>
            </a:pPr>
            <a:r>
              <a:rPr sz="1000" b="1">
                <a:solidFill>
                  <a:srgbClr val="0B142A"/>
                </a:solidFill>
                <a:latin typeface="Segoe UI"/>
              </a:rPr>
              <a:t>Front end</a:t>
            </a:r>
          </a:p>
        </p:txBody>
      </p:sp>
      <p:sp>
        <p:nvSpPr>
          <p:cNvPr id="33" name="TextBox 32"/>
          <p:cNvSpPr txBox="1"/>
          <p:nvPr/>
        </p:nvSpPr>
        <p:spPr>
          <a:xfrm>
            <a:off x="3566160" y="4608576"/>
            <a:ext cx="3749039" cy="329184"/>
          </a:xfrm>
          <a:prstGeom prst="rect">
            <a:avLst/>
          </a:prstGeom>
          <a:noFill/>
        </p:spPr>
        <p:txBody>
          <a:bodyPr wrap="square">
            <a:spAutoFit/>
          </a:bodyPr>
          <a:lstStyle/>
          <a:p>
            <a:pPr algn="l">
              <a:spcAft>
                <a:spcPts val="400"/>
              </a:spcAft>
            </a:pPr>
            <a:r>
              <a:rPr sz="950" b="0">
                <a:solidFill>
                  <a:srgbClr val="7A8599"/>
                </a:solidFill>
                <a:latin typeface="Segoe UI"/>
              </a:rPr>
              <a:t>Streamlit, server-rendered</a:t>
            </a:r>
          </a:p>
        </p:txBody>
      </p:sp>
      <p:sp>
        <p:nvSpPr>
          <p:cNvPr id="34" name="TextBox 33"/>
          <p:cNvSpPr txBox="1"/>
          <p:nvPr/>
        </p:nvSpPr>
        <p:spPr>
          <a:xfrm>
            <a:off x="7589520" y="4608576"/>
            <a:ext cx="3931920" cy="329184"/>
          </a:xfrm>
          <a:prstGeom prst="rect">
            <a:avLst/>
          </a:prstGeom>
          <a:noFill/>
        </p:spPr>
        <p:txBody>
          <a:bodyPr wrap="square">
            <a:spAutoFit/>
          </a:bodyPr>
          <a:lstStyle/>
          <a:p>
            <a:pPr algn="l">
              <a:spcAft>
                <a:spcPts val="400"/>
              </a:spcAft>
            </a:pPr>
            <a:r>
              <a:rPr sz="950" b="0">
                <a:solidFill>
                  <a:srgbClr val="445066"/>
                </a:solidFill>
                <a:latin typeface="Segoe UI"/>
              </a:rPr>
              <a:t>React + TypeScript, Plotly figure JSON from the same chart code</a:t>
            </a:r>
          </a:p>
        </p:txBody>
      </p:sp>
      <p:sp>
        <p:nvSpPr>
          <p:cNvPr id="35" name="TextBox 34"/>
          <p:cNvSpPr txBox="1"/>
          <p:nvPr/>
        </p:nvSpPr>
        <p:spPr>
          <a:xfrm>
            <a:off x="777240" y="4992624"/>
            <a:ext cx="2651760" cy="329184"/>
          </a:xfrm>
          <a:prstGeom prst="rect">
            <a:avLst/>
          </a:prstGeom>
          <a:noFill/>
        </p:spPr>
        <p:txBody>
          <a:bodyPr wrap="square">
            <a:spAutoFit/>
          </a:bodyPr>
          <a:lstStyle/>
          <a:p>
            <a:pPr algn="l">
              <a:spcAft>
                <a:spcPts val="400"/>
              </a:spcAft>
            </a:pPr>
            <a:r>
              <a:rPr sz="1000" b="1">
                <a:solidFill>
                  <a:srgbClr val="0B142A"/>
                </a:solidFill>
                <a:latin typeface="Segoe UI"/>
              </a:rPr>
              <a:t>Auth</a:t>
            </a:r>
          </a:p>
        </p:txBody>
      </p:sp>
      <p:sp>
        <p:nvSpPr>
          <p:cNvPr id="36" name="TextBox 35"/>
          <p:cNvSpPr txBox="1"/>
          <p:nvPr/>
        </p:nvSpPr>
        <p:spPr>
          <a:xfrm>
            <a:off x="3566160" y="4992624"/>
            <a:ext cx="3749039" cy="329184"/>
          </a:xfrm>
          <a:prstGeom prst="rect">
            <a:avLst/>
          </a:prstGeom>
          <a:noFill/>
        </p:spPr>
        <p:txBody>
          <a:bodyPr wrap="square">
            <a:spAutoFit/>
          </a:bodyPr>
          <a:lstStyle/>
          <a:p>
            <a:pPr algn="l">
              <a:spcAft>
                <a:spcPts val="400"/>
              </a:spcAft>
            </a:pPr>
            <a:r>
              <a:rPr sz="950" b="0">
                <a:solidFill>
                  <a:srgbClr val="7A8599"/>
                </a:solidFill>
                <a:latin typeface="Segoe UI"/>
              </a:rPr>
              <a:t>Shared password</a:t>
            </a:r>
          </a:p>
        </p:txBody>
      </p:sp>
      <p:sp>
        <p:nvSpPr>
          <p:cNvPr id="37" name="TextBox 36"/>
          <p:cNvSpPr txBox="1"/>
          <p:nvPr/>
        </p:nvSpPr>
        <p:spPr>
          <a:xfrm>
            <a:off x="7589520" y="4992624"/>
            <a:ext cx="3931920" cy="329184"/>
          </a:xfrm>
          <a:prstGeom prst="rect">
            <a:avLst/>
          </a:prstGeom>
          <a:noFill/>
        </p:spPr>
        <p:txBody>
          <a:bodyPr wrap="square">
            <a:spAutoFit/>
          </a:bodyPr>
          <a:lstStyle/>
          <a:p>
            <a:pPr algn="l">
              <a:spcAft>
                <a:spcPts val="400"/>
              </a:spcAft>
            </a:pPr>
            <a:r>
              <a:rPr sz="950" b="0">
                <a:solidFill>
                  <a:srgbClr val="445066"/>
                </a:solidFill>
                <a:latin typeface="Segoe UI"/>
              </a:rPr>
              <a:t>Cloud Identity / Okta behind IAP, per-persona RBAC</a:t>
            </a:r>
          </a:p>
        </p:txBody>
      </p:sp>
      <p:sp>
        <p:nvSpPr>
          <p:cNvPr id="38" name="Rounded Rectangle 37"/>
          <p:cNvSpPr/>
          <p:nvPr/>
        </p:nvSpPr>
        <p:spPr>
          <a:xfrm>
            <a:off x="640080" y="5358384"/>
            <a:ext cx="10881360" cy="384048"/>
          </a:xfrm>
          <a:prstGeom prst="roundRect">
            <a:avLst>
              <a:gd name="adj" fmla="val 6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77240" y="5376672"/>
            <a:ext cx="2651760" cy="329184"/>
          </a:xfrm>
          <a:prstGeom prst="rect">
            <a:avLst/>
          </a:prstGeom>
          <a:noFill/>
        </p:spPr>
        <p:txBody>
          <a:bodyPr wrap="square">
            <a:spAutoFit/>
          </a:bodyPr>
          <a:lstStyle/>
          <a:p>
            <a:pPr algn="l">
              <a:spcAft>
                <a:spcPts val="400"/>
              </a:spcAft>
            </a:pPr>
            <a:r>
              <a:rPr sz="1000" b="1">
                <a:solidFill>
                  <a:srgbClr val="0B142A"/>
                </a:solidFill>
                <a:latin typeface="Segoe UI"/>
              </a:rPr>
              <a:t>Ingest</a:t>
            </a:r>
          </a:p>
        </p:txBody>
      </p:sp>
      <p:sp>
        <p:nvSpPr>
          <p:cNvPr id="40" name="TextBox 39"/>
          <p:cNvSpPr txBox="1"/>
          <p:nvPr/>
        </p:nvSpPr>
        <p:spPr>
          <a:xfrm>
            <a:off x="3566160" y="5376672"/>
            <a:ext cx="3749039" cy="329184"/>
          </a:xfrm>
          <a:prstGeom prst="rect">
            <a:avLst/>
          </a:prstGeom>
          <a:noFill/>
        </p:spPr>
        <p:txBody>
          <a:bodyPr wrap="square">
            <a:spAutoFit/>
          </a:bodyPr>
          <a:lstStyle/>
          <a:p>
            <a:pPr algn="l">
              <a:spcAft>
                <a:spcPts val="400"/>
              </a:spcAft>
            </a:pPr>
            <a:r>
              <a:rPr sz="950" b="0">
                <a:solidFill>
                  <a:srgbClr val="7A8599"/>
                </a:solidFill>
                <a:latin typeface="Segoe UI"/>
              </a:rPr>
              <a:t>On demand, in the request</a:t>
            </a:r>
          </a:p>
        </p:txBody>
      </p:sp>
      <p:sp>
        <p:nvSpPr>
          <p:cNvPr id="41" name="TextBox 40"/>
          <p:cNvSpPr txBox="1"/>
          <p:nvPr/>
        </p:nvSpPr>
        <p:spPr>
          <a:xfrm>
            <a:off x="7589520" y="5376672"/>
            <a:ext cx="3931920" cy="329184"/>
          </a:xfrm>
          <a:prstGeom prst="rect">
            <a:avLst/>
          </a:prstGeom>
          <a:noFill/>
        </p:spPr>
        <p:txBody>
          <a:bodyPr wrap="square">
            <a:spAutoFit/>
          </a:bodyPr>
          <a:lstStyle/>
          <a:p>
            <a:pPr algn="l">
              <a:spcAft>
                <a:spcPts val="400"/>
              </a:spcAft>
            </a:pPr>
            <a:r>
              <a:rPr sz="950" b="0">
                <a:solidFill>
                  <a:srgbClr val="445066"/>
                </a:solidFill>
                <a:latin typeface="Segoe UI"/>
              </a:rPr>
              <a:t>Nightly Cloud Run Job, idempotent, GCS as replay source</a:t>
            </a:r>
          </a:p>
        </p:txBody>
      </p:sp>
      <p:sp>
        <p:nvSpPr>
          <p:cNvPr id="42" name="TextBox 41"/>
          <p:cNvSpPr txBox="1"/>
          <p:nvPr/>
        </p:nvSpPr>
        <p:spPr>
          <a:xfrm>
            <a:off x="777240" y="5760720"/>
            <a:ext cx="2651760" cy="329184"/>
          </a:xfrm>
          <a:prstGeom prst="rect">
            <a:avLst/>
          </a:prstGeom>
          <a:noFill/>
        </p:spPr>
        <p:txBody>
          <a:bodyPr wrap="square">
            <a:spAutoFit/>
          </a:bodyPr>
          <a:lstStyle/>
          <a:p>
            <a:pPr algn="l">
              <a:spcAft>
                <a:spcPts val="400"/>
              </a:spcAft>
            </a:pPr>
            <a:r>
              <a:rPr sz="1000" b="1">
                <a:solidFill>
                  <a:srgbClr val="0B142A"/>
                </a:solidFill>
                <a:latin typeface="Segoe UI"/>
              </a:rPr>
              <a:t>Shared code</a:t>
            </a:r>
          </a:p>
        </p:txBody>
      </p:sp>
      <p:sp>
        <p:nvSpPr>
          <p:cNvPr id="43" name="TextBox 42"/>
          <p:cNvSpPr txBox="1"/>
          <p:nvPr/>
        </p:nvSpPr>
        <p:spPr>
          <a:xfrm>
            <a:off x="3566160" y="5760720"/>
            <a:ext cx="3749039" cy="329184"/>
          </a:xfrm>
          <a:prstGeom prst="rect">
            <a:avLst/>
          </a:prstGeom>
          <a:noFill/>
        </p:spPr>
        <p:txBody>
          <a:bodyPr wrap="square">
            <a:spAutoFit/>
          </a:bodyPr>
          <a:lstStyle/>
          <a:p>
            <a:pPr algn="l">
              <a:spcAft>
                <a:spcPts val="400"/>
              </a:spcAft>
            </a:pPr>
            <a:r>
              <a:rPr sz="950" b="0">
                <a:solidFill>
                  <a:srgbClr val="7A8599"/>
                </a:solidFill>
                <a:latin typeface="Segoe UI"/>
              </a:rPr>
              <a:t>9,100 lines</a:t>
            </a:r>
          </a:p>
        </p:txBody>
      </p:sp>
      <p:sp>
        <p:nvSpPr>
          <p:cNvPr id="44" name="TextBox 43"/>
          <p:cNvSpPr txBox="1"/>
          <p:nvPr/>
        </p:nvSpPr>
        <p:spPr>
          <a:xfrm>
            <a:off x="7589520" y="5760720"/>
            <a:ext cx="3931920" cy="329184"/>
          </a:xfrm>
          <a:prstGeom prst="rect">
            <a:avLst/>
          </a:prstGeom>
          <a:noFill/>
        </p:spPr>
        <p:txBody>
          <a:bodyPr wrap="square">
            <a:spAutoFit/>
          </a:bodyPr>
          <a:lstStyle/>
          <a:p>
            <a:pPr algn="l">
              <a:spcAft>
                <a:spcPts val="400"/>
              </a:spcAft>
            </a:pPr>
            <a:r>
              <a:rPr sz="950" b="0">
                <a:solidFill>
                  <a:srgbClr val="445066"/>
                </a:solidFill>
                <a:latin typeface="Segoe UI"/>
              </a:rPr>
              <a:t>The same 9,100 lines, as an installable package</a:t>
            </a:r>
          </a:p>
        </p:txBody>
      </p:sp>
      <p:sp>
        <p:nvSpPr>
          <p:cNvPr id="45" name="TextBox 44"/>
          <p:cNvSpPr txBox="1"/>
          <p:nvPr/>
        </p:nvSpPr>
        <p:spPr>
          <a:xfrm>
            <a:off x="640080" y="6053328"/>
            <a:ext cx="10881360" cy="365760"/>
          </a:xfrm>
          <a:prstGeom prst="rect">
            <a:avLst/>
          </a:prstGeom>
          <a:noFill/>
        </p:spPr>
        <p:txBody>
          <a:bodyPr wrap="square">
            <a:spAutoFit/>
          </a:bodyPr>
          <a:lstStyle/>
          <a:p>
            <a:pPr algn="l">
              <a:spcAft>
                <a:spcPts val="400"/>
              </a:spcAft>
            </a:pPr>
            <a:r>
              <a:rPr sz="1050" b="1">
                <a:solidFill>
                  <a:srgbClr val="0B142A"/>
                </a:solidFill>
                <a:latin typeface="Segoe UI"/>
              </a:rPr>
              <a:t>The Streamlit app is not thrown away. It stays as the reference implementation and the demo surface — and a bug fixed there is re-extracted into the package, so one copy of the FinOps definitions exists.</a:t>
            </a:r>
          </a:p>
        </p:txBody>
      </p:sp>
      <p:sp>
        <p:nvSpPr>
          <p:cNvPr id="46" name="TextBox 45"/>
          <p:cNvSpPr txBox="1"/>
          <p:nvPr/>
        </p:nvSpPr>
        <p:spPr>
          <a:xfrm>
            <a:off x="640080" y="6355080"/>
            <a:ext cx="8686800" cy="274320"/>
          </a:xfrm>
          <a:prstGeom prst="rect">
            <a:avLst/>
          </a:prstGeom>
          <a:noFill/>
        </p:spPr>
        <p:txBody>
          <a:bodyPr wrap="square">
            <a:spAutoFit/>
          </a:bodyPr>
          <a:lstStyle/>
          <a:p>
            <a:pPr algn="l">
              <a:spcAft>
                <a:spcPts val="400"/>
              </a:spcAft>
            </a:pPr>
          </a:p>
        </p:txBody>
      </p:sp>
      <p:sp>
        <p:nvSpPr>
          <p:cNvPr id="47" name="TextBox 46"/>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WHY REBUILD</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It was never the user interface. It was pandas.</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The single number that forced the architecture</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3502152" cy="12344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0080" y="2011680"/>
            <a:ext cx="44450" cy="123444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84832"/>
            <a:ext cx="3227832" cy="256032"/>
          </a:xfrm>
          <a:prstGeom prst="rect">
            <a:avLst/>
          </a:prstGeom>
          <a:noFill/>
        </p:spPr>
        <p:txBody>
          <a:bodyPr wrap="square">
            <a:spAutoFit/>
          </a:bodyPr>
          <a:lstStyle/>
          <a:p>
            <a:pPr algn="l">
              <a:spcAft>
                <a:spcPts val="400"/>
              </a:spcAft>
            </a:pPr>
            <a:r>
              <a:rPr sz="850" b="1">
                <a:solidFill>
                  <a:srgbClr val="7A8599"/>
                </a:solidFill>
                <a:latin typeface="Segoe UI"/>
              </a:rPr>
              <a:t>DEMO ESTATE</a:t>
            </a:r>
          </a:p>
        </p:txBody>
      </p:sp>
      <p:sp>
        <p:nvSpPr>
          <p:cNvPr id="9" name="TextBox 8"/>
          <p:cNvSpPr txBox="1"/>
          <p:nvPr/>
        </p:nvSpPr>
        <p:spPr>
          <a:xfrm>
            <a:off x="804672" y="2322576"/>
            <a:ext cx="3227832" cy="457200"/>
          </a:xfrm>
          <a:prstGeom prst="rect">
            <a:avLst/>
          </a:prstGeom>
          <a:noFill/>
        </p:spPr>
        <p:txBody>
          <a:bodyPr wrap="square">
            <a:spAutoFit/>
          </a:bodyPr>
          <a:lstStyle/>
          <a:p>
            <a:pPr algn="l">
              <a:spcAft>
                <a:spcPts val="400"/>
              </a:spcAft>
            </a:pPr>
            <a:r>
              <a:rPr sz="2100" b="1">
                <a:solidFill>
                  <a:srgbClr val="0B142A"/>
                </a:solidFill>
                <a:latin typeface="Segoe UI"/>
              </a:rPr>
              <a:t>63,358 rows</a:t>
            </a:r>
          </a:p>
        </p:txBody>
      </p:sp>
      <p:sp>
        <p:nvSpPr>
          <p:cNvPr id="10" name="TextBox 9"/>
          <p:cNvSpPr txBox="1"/>
          <p:nvPr/>
        </p:nvSpPr>
        <p:spPr>
          <a:xfrm>
            <a:off x="804672" y="2798064"/>
            <a:ext cx="3227832" cy="365760"/>
          </a:xfrm>
          <a:prstGeom prst="rect">
            <a:avLst/>
          </a:prstGeom>
          <a:noFill/>
        </p:spPr>
        <p:txBody>
          <a:bodyPr wrap="square">
            <a:spAutoFit/>
          </a:bodyPr>
          <a:lstStyle/>
          <a:p>
            <a:pPr algn="l">
              <a:spcAft>
                <a:spcPts val="400"/>
              </a:spcAft>
            </a:pPr>
            <a:r>
              <a:rPr sz="900" b="0">
                <a:solidFill>
                  <a:srgbClr val="7A8599"/>
                </a:solidFill>
                <a:latin typeface="Segoe UI"/>
              </a:rPr>
              <a:t>36 MB — about 654 bytes per row</a:t>
            </a:r>
          </a:p>
        </p:txBody>
      </p:sp>
      <p:sp>
        <p:nvSpPr>
          <p:cNvPr id="11" name="Rounded Rectangle 10"/>
          <p:cNvSpPr/>
          <p:nvPr/>
        </p:nvSpPr>
        <p:spPr>
          <a:xfrm>
            <a:off x="4315968" y="2011680"/>
            <a:ext cx="3502152" cy="12344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15968" y="2011680"/>
            <a:ext cx="44450" cy="1234440"/>
          </a:xfrm>
          <a:prstGeom prst="rect">
            <a:avLst/>
          </a:prstGeom>
          <a:solidFill>
            <a:srgbClr val="C98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084832"/>
            <a:ext cx="3227832" cy="256032"/>
          </a:xfrm>
          <a:prstGeom prst="rect">
            <a:avLst/>
          </a:prstGeom>
          <a:noFill/>
        </p:spPr>
        <p:txBody>
          <a:bodyPr wrap="square">
            <a:spAutoFit/>
          </a:bodyPr>
          <a:lstStyle/>
          <a:p>
            <a:pPr algn="l">
              <a:spcAft>
                <a:spcPts val="400"/>
              </a:spcAft>
            </a:pPr>
            <a:r>
              <a:rPr sz="850" b="1">
                <a:solidFill>
                  <a:srgbClr val="7A8599"/>
                </a:solidFill>
                <a:latin typeface="Segoe UI"/>
              </a:rPr>
              <a:t>CON EDISON SCALE</a:t>
            </a:r>
          </a:p>
        </p:txBody>
      </p:sp>
      <p:sp>
        <p:nvSpPr>
          <p:cNvPr id="14" name="TextBox 13"/>
          <p:cNvSpPr txBox="1"/>
          <p:nvPr/>
        </p:nvSpPr>
        <p:spPr>
          <a:xfrm>
            <a:off x="4480560" y="2322576"/>
            <a:ext cx="3227832" cy="457200"/>
          </a:xfrm>
          <a:prstGeom prst="rect">
            <a:avLst/>
          </a:prstGeom>
          <a:noFill/>
        </p:spPr>
        <p:txBody>
          <a:bodyPr wrap="square">
            <a:spAutoFit/>
          </a:bodyPr>
          <a:lstStyle/>
          <a:p>
            <a:pPr algn="l">
              <a:spcAft>
                <a:spcPts val="400"/>
              </a:spcAft>
            </a:pPr>
            <a:r>
              <a:rPr sz="2100" b="1">
                <a:solidFill>
                  <a:srgbClr val="0B142A"/>
                </a:solidFill>
                <a:latin typeface="Segoe UI"/>
              </a:rPr>
              <a:t>~8 GB</a:t>
            </a:r>
          </a:p>
        </p:txBody>
      </p:sp>
      <p:sp>
        <p:nvSpPr>
          <p:cNvPr id="15" name="TextBox 14"/>
          <p:cNvSpPr txBox="1"/>
          <p:nvPr/>
        </p:nvSpPr>
        <p:spPr>
          <a:xfrm>
            <a:off x="4480560" y="2798064"/>
            <a:ext cx="3227832" cy="365760"/>
          </a:xfrm>
          <a:prstGeom prst="rect">
            <a:avLst/>
          </a:prstGeom>
          <a:noFill/>
        </p:spPr>
        <p:txBody>
          <a:bodyPr wrap="square">
            <a:spAutoFit/>
          </a:bodyPr>
          <a:lstStyle/>
          <a:p>
            <a:pPr algn="l">
              <a:spcAft>
                <a:spcPts val="400"/>
              </a:spcAft>
            </a:pPr>
            <a:r>
              <a:rPr sz="900" b="0">
                <a:solidFill>
                  <a:srgbClr val="7A8599"/>
                </a:solidFill>
                <a:latin typeface="Segoe UI"/>
              </a:rPr>
              <a:t>500k line-items/month over two years</a:t>
            </a:r>
          </a:p>
        </p:txBody>
      </p:sp>
      <p:sp>
        <p:nvSpPr>
          <p:cNvPr id="16" name="Rounded Rectangle 15"/>
          <p:cNvSpPr/>
          <p:nvPr/>
        </p:nvSpPr>
        <p:spPr>
          <a:xfrm>
            <a:off x="7991856" y="2011680"/>
            <a:ext cx="3529584" cy="12344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991856" y="2011680"/>
            <a:ext cx="44450" cy="1234440"/>
          </a:xfrm>
          <a:prstGeom prst="rect">
            <a:avLst/>
          </a:prstGeom>
          <a:solidFill>
            <a:srgbClr val="C2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6448" y="2084832"/>
            <a:ext cx="3255264" cy="256032"/>
          </a:xfrm>
          <a:prstGeom prst="rect">
            <a:avLst/>
          </a:prstGeom>
          <a:noFill/>
        </p:spPr>
        <p:txBody>
          <a:bodyPr wrap="square">
            <a:spAutoFit/>
          </a:bodyPr>
          <a:lstStyle/>
          <a:p>
            <a:pPr algn="l">
              <a:spcAft>
                <a:spcPts val="400"/>
              </a:spcAft>
            </a:pPr>
            <a:r>
              <a:rPr sz="850" b="1">
                <a:solidFill>
                  <a:srgbClr val="7A8599"/>
                </a:solidFill>
                <a:latin typeface="Segoe UI"/>
              </a:rPr>
              <a:t>LARGE ENTERPRISE</a:t>
            </a:r>
          </a:p>
        </p:txBody>
      </p:sp>
      <p:sp>
        <p:nvSpPr>
          <p:cNvPr id="19" name="TextBox 18"/>
          <p:cNvSpPr txBox="1"/>
          <p:nvPr/>
        </p:nvSpPr>
        <p:spPr>
          <a:xfrm>
            <a:off x="8156448" y="2322576"/>
            <a:ext cx="3255264" cy="457200"/>
          </a:xfrm>
          <a:prstGeom prst="rect">
            <a:avLst/>
          </a:prstGeom>
          <a:noFill/>
        </p:spPr>
        <p:txBody>
          <a:bodyPr wrap="square">
            <a:spAutoFit/>
          </a:bodyPr>
          <a:lstStyle/>
          <a:p>
            <a:pPr algn="l">
              <a:spcAft>
                <a:spcPts val="400"/>
              </a:spcAft>
            </a:pPr>
            <a:r>
              <a:rPr sz="2100" b="1">
                <a:solidFill>
                  <a:srgbClr val="0B142A"/>
                </a:solidFill>
                <a:latin typeface="Segoe UI"/>
              </a:rPr>
              <a:t>~31 GB</a:t>
            </a:r>
          </a:p>
        </p:txBody>
      </p:sp>
      <p:sp>
        <p:nvSpPr>
          <p:cNvPr id="20" name="TextBox 19"/>
          <p:cNvSpPr txBox="1"/>
          <p:nvPr/>
        </p:nvSpPr>
        <p:spPr>
          <a:xfrm>
            <a:off x="8156448" y="2798064"/>
            <a:ext cx="3255264" cy="365760"/>
          </a:xfrm>
          <a:prstGeom prst="rect">
            <a:avLst/>
          </a:prstGeom>
          <a:noFill/>
        </p:spPr>
        <p:txBody>
          <a:bodyPr wrap="square">
            <a:spAutoFit/>
          </a:bodyPr>
          <a:lstStyle/>
          <a:p>
            <a:pPr algn="l">
              <a:spcAft>
                <a:spcPts val="400"/>
              </a:spcAft>
            </a:pPr>
            <a:r>
              <a:rPr sz="900" b="0">
                <a:solidFill>
                  <a:srgbClr val="7A8599"/>
                </a:solidFill>
                <a:latin typeface="Segoe UI"/>
              </a:rPr>
              <a:t>2M line-items/month over two years</a:t>
            </a:r>
          </a:p>
        </p:txBody>
      </p:sp>
      <p:sp>
        <p:nvSpPr>
          <p:cNvPr id="21" name="TextBox 20"/>
          <p:cNvSpPr txBox="1"/>
          <p:nvPr/>
        </p:nvSpPr>
        <p:spPr>
          <a:xfrm>
            <a:off x="640080" y="3520440"/>
            <a:ext cx="10881360" cy="822960"/>
          </a:xfrm>
          <a:prstGeom prst="rect">
            <a:avLst/>
          </a:prstGeom>
          <a:noFill/>
        </p:spPr>
        <p:txBody>
          <a:bodyPr wrap="square">
            <a:spAutoFit/>
          </a:bodyPr>
          <a:lstStyle/>
          <a:p>
            <a:pPr algn="l">
              <a:spcAft>
                <a:spcPts val="400"/>
              </a:spcAft>
            </a:pPr>
            <a:r>
              <a:rPr sz="1300" b="0">
                <a:solidFill>
                  <a:srgbClr val="445066"/>
                </a:solidFill>
                <a:latin typeface="Segoe UI"/>
              </a:rPr>
              <a:t>The Streamlit design loads the entire FOCUS frame into one process. It demonstrates beautifully and it will not survive a utility. BigQuery is not an upgrade; it is the only option that works at Con Edison's scale.</a:t>
            </a:r>
          </a:p>
        </p:txBody>
      </p:sp>
      <p:sp>
        <p:nvSpPr>
          <p:cNvPr id="22" name="TextBox 21"/>
          <p:cNvSpPr txBox="1"/>
          <p:nvPr/>
        </p:nvSpPr>
        <p:spPr>
          <a:xfrm>
            <a:off x="640080" y="4434840"/>
            <a:ext cx="10881360" cy="320040"/>
          </a:xfrm>
          <a:prstGeom prst="rect">
            <a:avLst/>
          </a:prstGeom>
          <a:noFill/>
        </p:spPr>
        <p:txBody>
          <a:bodyPr wrap="square">
            <a:spAutoFit/>
          </a:bodyPr>
          <a:lstStyle/>
          <a:p>
            <a:pPr algn="l">
              <a:spcAft>
                <a:spcPts val="400"/>
              </a:spcAft>
            </a:pPr>
            <a:r>
              <a:rPr sz="1400" b="1">
                <a:solidFill>
                  <a:srgbClr val="0B142A"/>
                </a:solidFill>
                <a:latin typeface="Segoe UI"/>
              </a:rPr>
              <a:t>Three cost guards, because BigQuery will happily bill you</a:t>
            </a:r>
          </a:p>
        </p:txBody>
      </p:sp>
      <p:sp>
        <p:nvSpPr>
          <p:cNvPr id="23" name="Rounded Rectangle 22"/>
          <p:cNvSpPr/>
          <p:nvPr/>
        </p:nvSpPr>
        <p:spPr>
          <a:xfrm>
            <a:off x="640080" y="4800600"/>
            <a:ext cx="10881360" cy="475488"/>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68680" y="4828032"/>
            <a:ext cx="2651760" cy="365760"/>
          </a:xfrm>
          <a:prstGeom prst="rect">
            <a:avLst/>
          </a:prstGeom>
          <a:noFill/>
        </p:spPr>
        <p:txBody>
          <a:bodyPr wrap="square">
            <a:spAutoFit/>
          </a:bodyPr>
          <a:lstStyle/>
          <a:p>
            <a:pPr algn="l">
              <a:spcAft>
                <a:spcPts val="400"/>
              </a:spcAft>
            </a:pPr>
            <a:r>
              <a:rPr sz="1050" b="1">
                <a:solidFill>
                  <a:srgbClr val="119B8A"/>
                </a:solidFill>
                <a:latin typeface="Segoe UI"/>
              </a:rPr>
              <a:t>Partition filter required</a:t>
            </a:r>
          </a:p>
        </p:txBody>
      </p:sp>
      <p:sp>
        <p:nvSpPr>
          <p:cNvPr id="25" name="TextBox 24"/>
          <p:cNvSpPr txBox="1"/>
          <p:nvPr/>
        </p:nvSpPr>
        <p:spPr>
          <a:xfrm>
            <a:off x="3611880" y="4828032"/>
            <a:ext cx="7680960" cy="402336"/>
          </a:xfrm>
          <a:prstGeom prst="rect">
            <a:avLst/>
          </a:prstGeom>
          <a:noFill/>
        </p:spPr>
        <p:txBody>
          <a:bodyPr wrap="square">
            <a:spAutoFit/>
          </a:bodyPr>
          <a:lstStyle/>
          <a:p>
            <a:pPr algn="l">
              <a:spcAft>
                <a:spcPts val="400"/>
              </a:spcAft>
            </a:pPr>
            <a:r>
              <a:rPr sz="950" b="0">
                <a:solidFill>
                  <a:srgbClr val="445066"/>
                </a:solidFill>
                <a:latin typeface="Segoe UI"/>
              </a:rPr>
              <a:t>A query with no bound on the charge period is rejected, not answered. Writing this guard immediately caught a query of ours that had no WHERE clause at all.</a:t>
            </a:r>
          </a:p>
        </p:txBody>
      </p:sp>
      <p:sp>
        <p:nvSpPr>
          <p:cNvPr id="26" name="Rounded Rectangle 25"/>
          <p:cNvSpPr/>
          <p:nvPr/>
        </p:nvSpPr>
        <p:spPr>
          <a:xfrm>
            <a:off x="640080" y="5349240"/>
            <a:ext cx="10881360" cy="475488"/>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5376672"/>
            <a:ext cx="2651760" cy="365760"/>
          </a:xfrm>
          <a:prstGeom prst="rect">
            <a:avLst/>
          </a:prstGeom>
          <a:noFill/>
        </p:spPr>
        <p:txBody>
          <a:bodyPr wrap="square">
            <a:spAutoFit/>
          </a:bodyPr>
          <a:lstStyle/>
          <a:p>
            <a:pPr algn="l">
              <a:spcAft>
                <a:spcPts val="400"/>
              </a:spcAft>
            </a:pPr>
            <a:r>
              <a:rPr sz="1050" b="1">
                <a:solidFill>
                  <a:srgbClr val="119B8A"/>
                </a:solidFill>
                <a:latin typeface="Segoe UI"/>
              </a:rPr>
              <a:t>Bytes billed capped</a:t>
            </a:r>
          </a:p>
        </p:txBody>
      </p:sp>
      <p:sp>
        <p:nvSpPr>
          <p:cNvPr id="28" name="TextBox 27"/>
          <p:cNvSpPr txBox="1"/>
          <p:nvPr/>
        </p:nvSpPr>
        <p:spPr>
          <a:xfrm>
            <a:off x="3611880" y="5376672"/>
            <a:ext cx="7680960" cy="402336"/>
          </a:xfrm>
          <a:prstGeom prst="rect">
            <a:avLst/>
          </a:prstGeom>
          <a:noFill/>
        </p:spPr>
        <p:txBody>
          <a:bodyPr wrap="square">
            <a:spAutoFit/>
          </a:bodyPr>
          <a:lstStyle/>
          <a:p>
            <a:pPr algn="l">
              <a:spcAft>
                <a:spcPts val="400"/>
              </a:spcAft>
            </a:pPr>
            <a:r>
              <a:rPr sz="950" b="0">
                <a:solidFill>
                  <a:srgbClr val="445066"/>
                </a:solidFill>
                <a:latin typeface="Segoe UI"/>
              </a:rPr>
              <a:t>Every job carries a ceiling (20 GiB ≈ 12¢). BigQuery fails the job rather than billing past it.</a:t>
            </a:r>
          </a:p>
        </p:txBody>
      </p:sp>
      <p:sp>
        <p:nvSpPr>
          <p:cNvPr id="29" name="Rounded Rectangle 28"/>
          <p:cNvSpPr/>
          <p:nvPr/>
        </p:nvSpPr>
        <p:spPr>
          <a:xfrm>
            <a:off x="640080" y="5897880"/>
            <a:ext cx="10881360" cy="475488"/>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68680" y="5925312"/>
            <a:ext cx="2651760" cy="365760"/>
          </a:xfrm>
          <a:prstGeom prst="rect">
            <a:avLst/>
          </a:prstGeom>
          <a:noFill/>
        </p:spPr>
        <p:txBody>
          <a:bodyPr wrap="square">
            <a:spAutoFit/>
          </a:bodyPr>
          <a:lstStyle/>
          <a:p>
            <a:pPr algn="l">
              <a:spcAft>
                <a:spcPts val="400"/>
              </a:spcAft>
            </a:pPr>
            <a:r>
              <a:rPr sz="1050" b="1">
                <a:solidFill>
                  <a:srgbClr val="119B8A"/>
                </a:solidFill>
                <a:latin typeface="Segoe UI"/>
              </a:rPr>
              <a:t>Detectors run nightly</a:t>
            </a:r>
          </a:p>
        </p:txBody>
      </p:sp>
      <p:sp>
        <p:nvSpPr>
          <p:cNvPr id="31" name="TextBox 30"/>
          <p:cNvSpPr txBox="1"/>
          <p:nvPr/>
        </p:nvSpPr>
        <p:spPr>
          <a:xfrm>
            <a:off x="3611880" y="5925312"/>
            <a:ext cx="7680960" cy="402336"/>
          </a:xfrm>
          <a:prstGeom prst="rect">
            <a:avLst/>
          </a:prstGeom>
          <a:noFill/>
        </p:spPr>
        <p:txBody>
          <a:bodyPr wrap="square">
            <a:spAutoFit/>
          </a:bodyPr>
          <a:lstStyle/>
          <a:p>
            <a:pPr algn="l">
              <a:spcAft>
                <a:spcPts val="400"/>
              </a:spcAft>
            </a:pPr>
            <a:r>
              <a:rPr sz="950" b="0">
                <a:solidFill>
                  <a:srgbClr val="445066"/>
                </a:solidFill>
                <a:latin typeface="Segoe UI"/>
              </a:rPr>
              <a:t>The row-level scans never run per request. Their answer changes once a day at most.</a:t>
            </a:r>
          </a:p>
        </p:txBody>
      </p:sp>
      <p:sp>
        <p:nvSpPr>
          <p:cNvPr id="32" name="TextBox 31"/>
          <p:cNvSpPr txBox="1"/>
          <p:nvPr/>
        </p:nvSpPr>
        <p:spPr>
          <a:xfrm>
            <a:off x="640080" y="6355080"/>
            <a:ext cx="8686800" cy="274320"/>
          </a:xfrm>
          <a:prstGeom prst="rect">
            <a:avLst/>
          </a:prstGeom>
          <a:noFill/>
        </p:spPr>
        <p:txBody>
          <a:bodyPr wrap="square">
            <a:spAutoFit/>
          </a:bodyPr>
          <a:lstStyle/>
          <a:p>
            <a:pPr algn="l">
              <a:spcAft>
                <a:spcPts val="400"/>
              </a:spcAft>
            </a:pPr>
          </a:p>
        </p:txBody>
      </p:sp>
      <p:sp>
        <p:nvSpPr>
          <p:cNvPr id="33" name="TextBox 32"/>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AGENTIC AI</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A coordinator and four specialists, on Google ADK</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Every figure quoted comes from a tool call against the FOCUS frame</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2377440" cy="960120"/>
          </a:xfrm>
          <a:prstGeom prst="roundRect">
            <a:avLst>
              <a:gd name="adj" fmla="val 6000"/>
            </a:avLst>
          </a:prstGeom>
          <a:solidFill>
            <a:srgbClr val="E8F1FD"/>
          </a:solidFill>
          <a:ln w="12700">
            <a:solidFill>
              <a:srgbClr val="1E6F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2157984"/>
            <a:ext cx="2194560" cy="320040"/>
          </a:xfrm>
          <a:prstGeom prst="rect">
            <a:avLst/>
          </a:prstGeom>
          <a:noFill/>
        </p:spPr>
        <p:txBody>
          <a:bodyPr wrap="square">
            <a:spAutoFit/>
          </a:bodyPr>
          <a:lstStyle/>
          <a:p>
            <a:pPr algn="ctr">
              <a:spcAft>
                <a:spcPts val="400"/>
              </a:spcAft>
            </a:pPr>
            <a:r>
              <a:rPr sz="1300" b="1">
                <a:solidFill>
                  <a:srgbClr val="0B142A"/>
                </a:solidFill>
                <a:latin typeface="Segoe UI"/>
              </a:rPr>
              <a:t>Coordinator</a:t>
            </a:r>
          </a:p>
        </p:txBody>
      </p:sp>
      <p:sp>
        <p:nvSpPr>
          <p:cNvPr id="8" name="TextBox 7"/>
          <p:cNvSpPr txBox="1"/>
          <p:nvPr/>
        </p:nvSpPr>
        <p:spPr>
          <a:xfrm>
            <a:off x="731520" y="2487168"/>
            <a:ext cx="2194560" cy="365760"/>
          </a:xfrm>
          <a:prstGeom prst="rect">
            <a:avLst/>
          </a:prstGeom>
          <a:noFill/>
        </p:spPr>
        <p:txBody>
          <a:bodyPr wrap="square">
            <a:spAutoFit/>
          </a:bodyPr>
          <a:lstStyle/>
          <a:p>
            <a:pPr algn="ctr">
              <a:spcAft>
                <a:spcPts val="400"/>
              </a:spcAft>
            </a:pPr>
            <a:r>
              <a:rPr sz="850" b="0">
                <a:solidFill>
                  <a:srgbClr val="7A8599"/>
                </a:solidFill>
                <a:latin typeface="Segoe UI"/>
              </a:rPr>
              <a:t>gemini-3.1-flash-lite</a:t>
            </a:r>
          </a:p>
        </p:txBody>
      </p:sp>
      <p:sp>
        <p:nvSpPr>
          <p:cNvPr id="9" name="Rounded Rectangle 8"/>
          <p:cNvSpPr/>
          <p:nvPr/>
        </p:nvSpPr>
        <p:spPr>
          <a:xfrm>
            <a:off x="3474720" y="2011680"/>
            <a:ext cx="8046720" cy="694944"/>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57600" y="2057400"/>
            <a:ext cx="1554480" cy="320040"/>
          </a:xfrm>
          <a:prstGeom prst="rect">
            <a:avLst/>
          </a:prstGeom>
          <a:noFill/>
        </p:spPr>
        <p:txBody>
          <a:bodyPr wrap="square">
            <a:spAutoFit/>
          </a:bodyPr>
          <a:lstStyle/>
          <a:p>
            <a:pPr algn="l">
              <a:spcAft>
                <a:spcPts val="400"/>
              </a:spcAft>
            </a:pPr>
            <a:r>
              <a:rPr sz="1200" b="1">
                <a:solidFill>
                  <a:srgbClr val="0B142A"/>
                </a:solidFill>
                <a:latin typeface="Segoe UI"/>
              </a:rPr>
              <a:t>Analyst</a:t>
            </a:r>
          </a:p>
        </p:txBody>
      </p:sp>
      <p:sp>
        <p:nvSpPr>
          <p:cNvPr id="11" name="TextBox 10"/>
          <p:cNvSpPr txBox="1"/>
          <p:nvPr/>
        </p:nvSpPr>
        <p:spPr>
          <a:xfrm>
            <a:off x="5212080" y="2075688"/>
            <a:ext cx="2743200" cy="274320"/>
          </a:xfrm>
          <a:prstGeom prst="rect">
            <a:avLst/>
          </a:prstGeom>
          <a:noFill/>
        </p:spPr>
        <p:txBody>
          <a:bodyPr wrap="square">
            <a:spAutoFit/>
          </a:bodyPr>
          <a:lstStyle/>
          <a:p>
            <a:pPr algn="l">
              <a:spcAft>
                <a:spcPts val="400"/>
              </a:spcAft>
            </a:pPr>
            <a:r>
              <a:rPr sz="950" b="1">
                <a:solidFill>
                  <a:srgbClr val="5B4BC4"/>
                </a:solidFill>
                <a:latin typeface="Segoe UI"/>
              </a:rPr>
              <a:t>Understand Usage and Cost</a:t>
            </a:r>
          </a:p>
        </p:txBody>
      </p:sp>
      <p:sp>
        <p:nvSpPr>
          <p:cNvPr id="12" name="TextBox 11"/>
          <p:cNvSpPr txBox="1"/>
          <p:nvPr/>
        </p:nvSpPr>
        <p:spPr>
          <a:xfrm>
            <a:off x="8046720" y="2075688"/>
            <a:ext cx="3291840" cy="457200"/>
          </a:xfrm>
          <a:prstGeom prst="rect">
            <a:avLst/>
          </a:prstGeom>
          <a:noFill/>
        </p:spPr>
        <p:txBody>
          <a:bodyPr wrap="square">
            <a:spAutoFit/>
          </a:bodyPr>
          <a:lstStyle/>
          <a:p>
            <a:pPr algn="l">
              <a:spcAft>
                <a:spcPts val="400"/>
              </a:spcAft>
            </a:pPr>
            <a:r>
              <a:rPr sz="950" b="0">
                <a:solidFill>
                  <a:srgbClr val="445066"/>
                </a:solidFill>
                <a:latin typeface="Segoe UI"/>
              </a:rPr>
              <a:t>spend, allocation, anomalies, coverage</a:t>
            </a:r>
          </a:p>
        </p:txBody>
      </p:sp>
      <p:sp>
        <p:nvSpPr>
          <p:cNvPr id="13" name="Rounded Rectangle 12"/>
          <p:cNvSpPr/>
          <p:nvPr/>
        </p:nvSpPr>
        <p:spPr>
          <a:xfrm>
            <a:off x="3474720" y="2779776"/>
            <a:ext cx="8046720" cy="694944"/>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657600" y="2825496"/>
            <a:ext cx="1554480" cy="320040"/>
          </a:xfrm>
          <a:prstGeom prst="rect">
            <a:avLst/>
          </a:prstGeom>
          <a:noFill/>
        </p:spPr>
        <p:txBody>
          <a:bodyPr wrap="square">
            <a:spAutoFit/>
          </a:bodyPr>
          <a:lstStyle/>
          <a:p>
            <a:pPr algn="l">
              <a:spcAft>
                <a:spcPts val="400"/>
              </a:spcAft>
            </a:pPr>
            <a:r>
              <a:rPr sz="1200" b="1">
                <a:solidFill>
                  <a:srgbClr val="0B142A"/>
                </a:solidFill>
                <a:latin typeface="Segoe UI"/>
              </a:rPr>
              <a:t>Forecaster</a:t>
            </a:r>
          </a:p>
        </p:txBody>
      </p:sp>
      <p:sp>
        <p:nvSpPr>
          <p:cNvPr id="15" name="TextBox 14"/>
          <p:cNvSpPr txBox="1"/>
          <p:nvPr/>
        </p:nvSpPr>
        <p:spPr>
          <a:xfrm>
            <a:off x="5212080" y="2843784"/>
            <a:ext cx="2743200" cy="274320"/>
          </a:xfrm>
          <a:prstGeom prst="rect">
            <a:avLst/>
          </a:prstGeom>
          <a:noFill/>
        </p:spPr>
        <p:txBody>
          <a:bodyPr wrap="square">
            <a:spAutoFit/>
          </a:bodyPr>
          <a:lstStyle/>
          <a:p>
            <a:pPr algn="l">
              <a:spcAft>
                <a:spcPts val="400"/>
              </a:spcAft>
            </a:pPr>
            <a:r>
              <a:rPr sz="950" b="1">
                <a:solidFill>
                  <a:srgbClr val="5B4BC4"/>
                </a:solidFill>
                <a:latin typeface="Segoe UI"/>
              </a:rPr>
              <a:t>Quantify Business Value</a:t>
            </a:r>
          </a:p>
        </p:txBody>
      </p:sp>
      <p:sp>
        <p:nvSpPr>
          <p:cNvPr id="16" name="TextBox 15"/>
          <p:cNvSpPr txBox="1"/>
          <p:nvPr/>
        </p:nvSpPr>
        <p:spPr>
          <a:xfrm>
            <a:off x="8046720" y="2843784"/>
            <a:ext cx="3291840" cy="457200"/>
          </a:xfrm>
          <a:prstGeom prst="rect">
            <a:avLst/>
          </a:prstGeom>
          <a:noFill/>
        </p:spPr>
        <p:txBody>
          <a:bodyPr wrap="square">
            <a:spAutoFit/>
          </a:bodyPr>
          <a:lstStyle/>
          <a:p>
            <a:pPr algn="l">
              <a:spcAft>
                <a:spcPts val="400"/>
              </a:spcAft>
            </a:pPr>
            <a:r>
              <a:rPr sz="950" b="0">
                <a:solidFill>
                  <a:srgbClr val="445066"/>
                </a:solidFill>
                <a:latin typeface="Segoe UI"/>
              </a:rPr>
              <a:t>forecast, budget variance, commitment cliffs</a:t>
            </a:r>
          </a:p>
        </p:txBody>
      </p:sp>
      <p:sp>
        <p:nvSpPr>
          <p:cNvPr id="17" name="Rounded Rectangle 16"/>
          <p:cNvSpPr/>
          <p:nvPr/>
        </p:nvSpPr>
        <p:spPr>
          <a:xfrm>
            <a:off x="3474720" y="3547872"/>
            <a:ext cx="8046720" cy="694944"/>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657600" y="3593592"/>
            <a:ext cx="1554480" cy="320040"/>
          </a:xfrm>
          <a:prstGeom prst="rect">
            <a:avLst/>
          </a:prstGeom>
          <a:noFill/>
        </p:spPr>
        <p:txBody>
          <a:bodyPr wrap="square">
            <a:spAutoFit/>
          </a:bodyPr>
          <a:lstStyle/>
          <a:p>
            <a:pPr algn="l">
              <a:spcAft>
                <a:spcPts val="400"/>
              </a:spcAft>
            </a:pPr>
            <a:r>
              <a:rPr sz="1200" b="1">
                <a:solidFill>
                  <a:srgbClr val="0B142A"/>
                </a:solidFill>
                <a:latin typeface="Segoe UI"/>
              </a:rPr>
              <a:t>Optimizer</a:t>
            </a:r>
          </a:p>
        </p:txBody>
      </p:sp>
      <p:sp>
        <p:nvSpPr>
          <p:cNvPr id="19" name="TextBox 18"/>
          <p:cNvSpPr txBox="1"/>
          <p:nvPr/>
        </p:nvSpPr>
        <p:spPr>
          <a:xfrm>
            <a:off x="5212080" y="3611880"/>
            <a:ext cx="2743200" cy="274320"/>
          </a:xfrm>
          <a:prstGeom prst="rect">
            <a:avLst/>
          </a:prstGeom>
          <a:noFill/>
        </p:spPr>
        <p:txBody>
          <a:bodyPr wrap="square">
            <a:spAutoFit/>
          </a:bodyPr>
          <a:lstStyle/>
          <a:p>
            <a:pPr algn="l">
              <a:spcAft>
                <a:spcPts val="400"/>
              </a:spcAft>
            </a:pPr>
            <a:r>
              <a:rPr sz="950" b="1">
                <a:solidFill>
                  <a:srgbClr val="5B4BC4"/>
                </a:solidFill>
                <a:latin typeface="Segoe UI"/>
              </a:rPr>
              <a:t>Optimize Usage and Cost</a:t>
            </a:r>
          </a:p>
        </p:txBody>
      </p:sp>
      <p:sp>
        <p:nvSpPr>
          <p:cNvPr id="20" name="TextBox 19"/>
          <p:cNvSpPr txBox="1"/>
          <p:nvPr/>
        </p:nvSpPr>
        <p:spPr>
          <a:xfrm>
            <a:off x="8046720" y="3611880"/>
            <a:ext cx="3291840" cy="457200"/>
          </a:xfrm>
          <a:prstGeom prst="rect">
            <a:avLst/>
          </a:prstGeom>
          <a:noFill/>
        </p:spPr>
        <p:txBody>
          <a:bodyPr wrap="square">
            <a:spAutoFit/>
          </a:bodyPr>
          <a:lstStyle/>
          <a:p>
            <a:pPr algn="l">
              <a:spcAft>
                <a:spcPts val="400"/>
              </a:spcAft>
            </a:pPr>
            <a:r>
              <a:rPr sz="950" b="0">
                <a:solidFill>
                  <a:srgbClr val="445066"/>
                </a:solidFill>
                <a:latin typeface="Segoe UI"/>
              </a:rPr>
              <a:t>levers, opportunities, ESR uplift</a:t>
            </a:r>
          </a:p>
        </p:txBody>
      </p:sp>
      <p:sp>
        <p:nvSpPr>
          <p:cNvPr id="21" name="Rounded Rectangle 20"/>
          <p:cNvSpPr/>
          <p:nvPr/>
        </p:nvSpPr>
        <p:spPr>
          <a:xfrm>
            <a:off x="3474720" y="4315968"/>
            <a:ext cx="8046720" cy="694944"/>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657600" y="4361688"/>
            <a:ext cx="1554480" cy="320040"/>
          </a:xfrm>
          <a:prstGeom prst="rect">
            <a:avLst/>
          </a:prstGeom>
          <a:noFill/>
        </p:spPr>
        <p:txBody>
          <a:bodyPr wrap="square">
            <a:spAutoFit/>
          </a:bodyPr>
          <a:lstStyle/>
          <a:p>
            <a:pPr algn="l">
              <a:spcAft>
                <a:spcPts val="400"/>
              </a:spcAft>
            </a:pPr>
            <a:r>
              <a:rPr sz="1200" b="1">
                <a:solidFill>
                  <a:srgbClr val="0B142A"/>
                </a:solidFill>
                <a:latin typeface="Segoe UI"/>
              </a:rPr>
              <a:t>Governor</a:t>
            </a:r>
          </a:p>
        </p:txBody>
      </p:sp>
      <p:sp>
        <p:nvSpPr>
          <p:cNvPr id="23" name="TextBox 22"/>
          <p:cNvSpPr txBox="1"/>
          <p:nvPr/>
        </p:nvSpPr>
        <p:spPr>
          <a:xfrm>
            <a:off x="5212080" y="4379976"/>
            <a:ext cx="2743200" cy="274320"/>
          </a:xfrm>
          <a:prstGeom prst="rect">
            <a:avLst/>
          </a:prstGeom>
          <a:noFill/>
        </p:spPr>
        <p:txBody>
          <a:bodyPr wrap="square">
            <a:spAutoFit/>
          </a:bodyPr>
          <a:lstStyle/>
          <a:p>
            <a:pPr algn="l">
              <a:spcAft>
                <a:spcPts val="400"/>
              </a:spcAft>
            </a:pPr>
            <a:r>
              <a:rPr sz="950" b="1">
                <a:solidFill>
                  <a:srgbClr val="5B4BC4"/>
                </a:solidFill>
                <a:latin typeface="Segoe UI"/>
              </a:rPr>
              <a:t>Manage the FinOps Practice</a:t>
            </a:r>
          </a:p>
        </p:txBody>
      </p:sp>
      <p:sp>
        <p:nvSpPr>
          <p:cNvPr id="24" name="TextBox 23"/>
          <p:cNvSpPr txBox="1"/>
          <p:nvPr/>
        </p:nvSpPr>
        <p:spPr>
          <a:xfrm>
            <a:off x="8046720" y="4379976"/>
            <a:ext cx="3291840" cy="457200"/>
          </a:xfrm>
          <a:prstGeom prst="rect">
            <a:avLst/>
          </a:prstGeom>
          <a:noFill/>
        </p:spPr>
        <p:txBody>
          <a:bodyPr wrap="square">
            <a:spAutoFit/>
          </a:bodyPr>
          <a:lstStyle/>
          <a:p>
            <a:pPr algn="l">
              <a:spcAft>
                <a:spcPts val="400"/>
              </a:spcAft>
            </a:pPr>
            <a:r>
              <a:rPr sz="950" b="0">
                <a:solidFill>
                  <a:srgbClr val="445066"/>
                </a:solidFill>
                <a:latin typeface="Segoe UI"/>
              </a:rPr>
              <a:t>tagging, chargeback readiness, policy</a:t>
            </a:r>
          </a:p>
        </p:txBody>
      </p:sp>
      <p:sp>
        <p:nvSpPr>
          <p:cNvPr id="25" name="TextBox 24"/>
          <p:cNvSpPr txBox="1"/>
          <p:nvPr/>
        </p:nvSpPr>
        <p:spPr>
          <a:xfrm>
            <a:off x="640080" y="5212080"/>
            <a:ext cx="10881360" cy="320040"/>
          </a:xfrm>
          <a:prstGeom prst="rect">
            <a:avLst/>
          </a:prstGeom>
          <a:noFill/>
        </p:spPr>
        <p:txBody>
          <a:bodyPr wrap="square">
            <a:spAutoFit/>
          </a:bodyPr>
          <a:lstStyle/>
          <a:p>
            <a:pPr algn="l">
              <a:spcAft>
                <a:spcPts val="400"/>
              </a:spcAft>
            </a:pPr>
            <a:r>
              <a:rPr sz="1350" b="1">
                <a:solidFill>
                  <a:srgbClr val="0B142A"/>
                </a:solidFill>
                <a:latin typeface="Segoe UI"/>
              </a:rPr>
              <a:t>Two decisions worth defending in review</a:t>
            </a:r>
          </a:p>
        </p:txBody>
      </p:sp>
      <p:sp>
        <p:nvSpPr>
          <p:cNvPr id="26" name="TextBox 25"/>
          <p:cNvSpPr txBox="1"/>
          <p:nvPr/>
        </p:nvSpPr>
        <p:spPr>
          <a:xfrm>
            <a:off x="640080" y="5532120"/>
            <a:ext cx="10881360" cy="822960"/>
          </a:xfrm>
          <a:prstGeom prst="rect">
            <a:avLst/>
          </a:prstGeom>
          <a:noFill/>
        </p:spPr>
        <p:txBody>
          <a:bodyPr wrap="square">
            <a:spAutoFit/>
          </a:bodyPr>
          <a:lstStyle/>
          <a:p>
            <a:pPr>
              <a:spcAft>
                <a:spcPts val="900"/>
              </a:spcAft>
            </a:pPr>
            <a:r>
              <a:rPr sz="1050">
                <a:solidFill>
                  <a:srgbClr val="445066"/>
                </a:solidFill>
                <a:latin typeface="Segoe UI"/>
              </a:rPr>
              <a:t>—  Specialists are held as tools, not sub-agents. Handing over control lets the last specialist to run write the answer in its own register; a FinOps question spans domains and the answer must be one voice speaking to one persona.</a:t>
            </a:r>
          </a:p>
          <a:p>
            <a:pPr>
              <a:spcAft>
                <a:spcPts val="900"/>
              </a:spcAft>
            </a:pPr>
            <a:r>
              <a:rPr sz="1050">
                <a:solidFill>
                  <a:srgbClr val="445066"/>
                </a:solidFill>
                <a:latin typeface="Segoe UI"/>
              </a:rPr>
              <a:t>—  The model is never given SQL. Hand it a SQL prompt and it invents its own Effective Savings Rate — dropping the on-demand-equivalent denominator, or counting Purchase rows. Plausible, wrong, uncaught. It gets typed tools that call the same engines the API calls.</a:t>
            </a:r>
          </a:p>
        </p:txBody>
      </p:sp>
      <p:sp>
        <p:nvSpPr>
          <p:cNvPr id="27" name="TextBox 26"/>
          <p:cNvSpPr txBox="1"/>
          <p:nvPr/>
        </p:nvSpPr>
        <p:spPr>
          <a:xfrm>
            <a:off x="640080" y="6355080"/>
            <a:ext cx="8686800" cy="274320"/>
          </a:xfrm>
          <a:prstGeom prst="rect">
            <a:avLst/>
          </a:prstGeom>
          <a:noFill/>
        </p:spPr>
        <p:txBody>
          <a:bodyPr wrap="square">
            <a:spAutoFit/>
          </a:bodyPr>
          <a:lstStyle/>
          <a:p>
            <a:pPr algn="l">
              <a:spcAft>
                <a:spcPts val="400"/>
              </a:spcAft>
            </a:pPr>
          </a:p>
        </p:txBody>
      </p:sp>
      <p:sp>
        <p:nvSpPr>
          <p:cNvPr id="28" name="TextBox 27"/>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AGENTIC AI</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What the agents actually cost</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Token footprint measured against the running system, not estimated</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5760720" cy="310896"/>
          </a:xfrm>
          <a:prstGeom prst="roundRect">
            <a:avLst>
              <a:gd name="adj" fmla="val 6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029968"/>
            <a:ext cx="2377440" cy="274320"/>
          </a:xfrm>
          <a:prstGeom prst="rect">
            <a:avLst/>
          </a:prstGeom>
          <a:noFill/>
        </p:spPr>
        <p:txBody>
          <a:bodyPr wrap="square">
            <a:spAutoFit/>
          </a:bodyPr>
          <a:lstStyle/>
          <a:p>
            <a:pPr algn="l">
              <a:spcAft>
                <a:spcPts val="400"/>
              </a:spcAft>
            </a:pPr>
            <a:r>
              <a:rPr sz="950" b="1">
                <a:solidFill>
                  <a:srgbClr val="7A8599"/>
                </a:solidFill>
                <a:latin typeface="Segoe UI"/>
              </a:rPr>
              <a:t>Per question</a:t>
            </a:r>
          </a:p>
        </p:txBody>
      </p:sp>
      <p:sp>
        <p:nvSpPr>
          <p:cNvPr id="8" name="TextBox 7"/>
          <p:cNvSpPr txBox="1"/>
          <p:nvPr/>
        </p:nvSpPr>
        <p:spPr>
          <a:xfrm>
            <a:off x="3291839" y="2029968"/>
            <a:ext cx="1463040" cy="274320"/>
          </a:xfrm>
          <a:prstGeom prst="rect">
            <a:avLst/>
          </a:prstGeom>
          <a:noFill/>
        </p:spPr>
        <p:txBody>
          <a:bodyPr wrap="square">
            <a:spAutoFit/>
          </a:bodyPr>
          <a:lstStyle/>
          <a:p>
            <a:pPr algn="l">
              <a:spcAft>
                <a:spcPts val="400"/>
              </a:spcAft>
            </a:pPr>
            <a:r>
              <a:rPr sz="950" b="1">
                <a:solidFill>
                  <a:srgbClr val="7A8599"/>
                </a:solidFill>
                <a:latin typeface="Segoe UI"/>
              </a:rPr>
              <a:t>Input tokens</a:t>
            </a:r>
          </a:p>
        </p:txBody>
      </p:sp>
      <p:sp>
        <p:nvSpPr>
          <p:cNvPr id="9" name="TextBox 8"/>
          <p:cNvSpPr txBox="1"/>
          <p:nvPr/>
        </p:nvSpPr>
        <p:spPr>
          <a:xfrm>
            <a:off x="4846320" y="2029968"/>
            <a:ext cx="1463040" cy="274320"/>
          </a:xfrm>
          <a:prstGeom prst="rect">
            <a:avLst/>
          </a:prstGeom>
          <a:noFill/>
        </p:spPr>
        <p:txBody>
          <a:bodyPr wrap="square">
            <a:spAutoFit/>
          </a:bodyPr>
          <a:lstStyle/>
          <a:p>
            <a:pPr algn="l">
              <a:spcAft>
                <a:spcPts val="400"/>
              </a:spcAft>
            </a:pPr>
            <a:r>
              <a:rPr sz="950" b="1">
                <a:solidFill>
                  <a:srgbClr val="7A8599"/>
                </a:solidFill>
                <a:latin typeface="Segoe UI"/>
              </a:rPr>
              <a:t>Output tokens</a:t>
            </a:r>
          </a:p>
        </p:txBody>
      </p:sp>
      <p:sp>
        <p:nvSpPr>
          <p:cNvPr id="10" name="TextBox 9"/>
          <p:cNvSpPr txBox="1"/>
          <p:nvPr/>
        </p:nvSpPr>
        <p:spPr>
          <a:xfrm>
            <a:off x="777240" y="2377440"/>
            <a:ext cx="2377440" cy="310896"/>
          </a:xfrm>
          <a:prstGeom prst="rect">
            <a:avLst/>
          </a:prstGeom>
          <a:noFill/>
        </p:spPr>
        <p:txBody>
          <a:bodyPr wrap="square">
            <a:spAutoFit/>
          </a:bodyPr>
          <a:lstStyle/>
          <a:p>
            <a:pPr algn="l">
              <a:spcAft>
                <a:spcPts val="400"/>
              </a:spcAft>
            </a:pPr>
            <a:r>
              <a:rPr sz="1000" b="0">
                <a:solidFill>
                  <a:srgbClr val="445066"/>
                </a:solidFill>
                <a:latin typeface="Segoe UI"/>
              </a:rPr>
              <a:t>Coordinator (routing)</a:t>
            </a:r>
          </a:p>
        </p:txBody>
      </p:sp>
      <p:sp>
        <p:nvSpPr>
          <p:cNvPr id="11" name="TextBox 10"/>
          <p:cNvSpPr txBox="1"/>
          <p:nvPr/>
        </p:nvSpPr>
        <p:spPr>
          <a:xfrm>
            <a:off x="3291840" y="2377440"/>
            <a:ext cx="1463040" cy="310896"/>
          </a:xfrm>
          <a:prstGeom prst="rect">
            <a:avLst/>
          </a:prstGeom>
          <a:noFill/>
        </p:spPr>
        <p:txBody>
          <a:bodyPr wrap="square">
            <a:spAutoFit/>
          </a:bodyPr>
          <a:lstStyle/>
          <a:p>
            <a:pPr algn="l">
              <a:spcAft>
                <a:spcPts val="400"/>
              </a:spcAft>
            </a:pPr>
            <a:r>
              <a:rPr sz="1000" b="0">
                <a:solidFill>
                  <a:srgbClr val="445066"/>
                </a:solidFill>
                <a:latin typeface="Segoe UI"/>
              </a:rPr>
              <a:t>3,600</a:t>
            </a:r>
          </a:p>
        </p:txBody>
      </p:sp>
      <p:sp>
        <p:nvSpPr>
          <p:cNvPr id="12" name="TextBox 11"/>
          <p:cNvSpPr txBox="1"/>
          <p:nvPr/>
        </p:nvSpPr>
        <p:spPr>
          <a:xfrm>
            <a:off x="4846320" y="2377440"/>
            <a:ext cx="1463040" cy="310896"/>
          </a:xfrm>
          <a:prstGeom prst="rect">
            <a:avLst/>
          </a:prstGeom>
          <a:noFill/>
        </p:spPr>
        <p:txBody>
          <a:bodyPr wrap="square">
            <a:spAutoFit/>
          </a:bodyPr>
          <a:lstStyle/>
          <a:p>
            <a:pPr algn="l">
              <a:spcAft>
                <a:spcPts val="400"/>
              </a:spcAft>
            </a:pPr>
            <a:r>
              <a:rPr sz="1000" b="0">
                <a:solidFill>
                  <a:srgbClr val="445066"/>
                </a:solidFill>
                <a:latin typeface="Segoe UI"/>
              </a:rPr>
              <a:t>90</a:t>
            </a:r>
          </a:p>
        </p:txBody>
      </p:sp>
      <p:sp>
        <p:nvSpPr>
          <p:cNvPr id="13" name="TextBox 12"/>
          <p:cNvSpPr txBox="1"/>
          <p:nvPr/>
        </p:nvSpPr>
        <p:spPr>
          <a:xfrm>
            <a:off x="777240" y="2743200"/>
            <a:ext cx="2377440" cy="310896"/>
          </a:xfrm>
          <a:prstGeom prst="rect">
            <a:avLst/>
          </a:prstGeom>
          <a:noFill/>
        </p:spPr>
        <p:txBody>
          <a:bodyPr wrap="square">
            <a:spAutoFit/>
          </a:bodyPr>
          <a:lstStyle/>
          <a:p>
            <a:pPr algn="l">
              <a:spcAft>
                <a:spcPts val="400"/>
              </a:spcAft>
            </a:pPr>
            <a:r>
              <a:rPr sz="1000" b="0">
                <a:solidFill>
                  <a:srgbClr val="445066"/>
                </a:solidFill>
                <a:latin typeface="Segoe UI"/>
              </a:rPr>
              <a:t>Specialists (reasoning)</a:t>
            </a:r>
          </a:p>
        </p:txBody>
      </p:sp>
      <p:sp>
        <p:nvSpPr>
          <p:cNvPr id="14" name="TextBox 13"/>
          <p:cNvSpPr txBox="1"/>
          <p:nvPr/>
        </p:nvSpPr>
        <p:spPr>
          <a:xfrm>
            <a:off x="3291840" y="2743200"/>
            <a:ext cx="1463040" cy="310896"/>
          </a:xfrm>
          <a:prstGeom prst="rect">
            <a:avLst/>
          </a:prstGeom>
          <a:noFill/>
        </p:spPr>
        <p:txBody>
          <a:bodyPr wrap="square">
            <a:spAutoFit/>
          </a:bodyPr>
          <a:lstStyle/>
          <a:p>
            <a:pPr algn="l">
              <a:spcAft>
                <a:spcPts val="400"/>
              </a:spcAft>
            </a:pPr>
            <a:r>
              <a:rPr sz="1000" b="0">
                <a:solidFill>
                  <a:srgbClr val="445066"/>
                </a:solidFill>
                <a:latin typeface="Segoe UI"/>
              </a:rPr>
              <a:t>12,000</a:t>
            </a:r>
          </a:p>
        </p:txBody>
      </p:sp>
      <p:sp>
        <p:nvSpPr>
          <p:cNvPr id="15" name="TextBox 14"/>
          <p:cNvSpPr txBox="1"/>
          <p:nvPr/>
        </p:nvSpPr>
        <p:spPr>
          <a:xfrm>
            <a:off x="4846320" y="2743200"/>
            <a:ext cx="1463040" cy="310896"/>
          </a:xfrm>
          <a:prstGeom prst="rect">
            <a:avLst/>
          </a:prstGeom>
          <a:noFill/>
        </p:spPr>
        <p:txBody>
          <a:bodyPr wrap="square">
            <a:spAutoFit/>
          </a:bodyPr>
          <a:lstStyle/>
          <a:p>
            <a:pPr algn="l">
              <a:spcAft>
                <a:spcPts val="400"/>
              </a:spcAft>
            </a:pPr>
            <a:r>
              <a:rPr sz="1000" b="0">
                <a:solidFill>
                  <a:srgbClr val="445066"/>
                </a:solidFill>
                <a:latin typeface="Segoe UI"/>
              </a:rPr>
              <a:t>820</a:t>
            </a:r>
          </a:p>
        </p:txBody>
      </p:sp>
      <p:sp>
        <p:nvSpPr>
          <p:cNvPr id="16" name="TextBox 15"/>
          <p:cNvSpPr txBox="1"/>
          <p:nvPr/>
        </p:nvSpPr>
        <p:spPr>
          <a:xfrm>
            <a:off x="777240" y="3108960"/>
            <a:ext cx="2377440" cy="310896"/>
          </a:xfrm>
          <a:prstGeom prst="rect">
            <a:avLst/>
          </a:prstGeom>
          <a:noFill/>
        </p:spPr>
        <p:txBody>
          <a:bodyPr wrap="square">
            <a:spAutoFit/>
          </a:bodyPr>
          <a:lstStyle/>
          <a:p>
            <a:pPr algn="l">
              <a:spcAft>
                <a:spcPts val="400"/>
              </a:spcAft>
            </a:pPr>
            <a:r>
              <a:rPr sz="1000" b="1">
                <a:solidFill>
                  <a:srgbClr val="0B142A"/>
                </a:solidFill>
                <a:latin typeface="Segoe UI"/>
              </a:rPr>
              <a:t>Total</a:t>
            </a:r>
          </a:p>
        </p:txBody>
      </p:sp>
      <p:sp>
        <p:nvSpPr>
          <p:cNvPr id="17" name="TextBox 16"/>
          <p:cNvSpPr txBox="1"/>
          <p:nvPr/>
        </p:nvSpPr>
        <p:spPr>
          <a:xfrm>
            <a:off x="3291840" y="3108960"/>
            <a:ext cx="1463040" cy="310896"/>
          </a:xfrm>
          <a:prstGeom prst="rect">
            <a:avLst/>
          </a:prstGeom>
          <a:noFill/>
        </p:spPr>
        <p:txBody>
          <a:bodyPr wrap="square">
            <a:spAutoFit/>
          </a:bodyPr>
          <a:lstStyle/>
          <a:p>
            <a:pPr algn="l">
              <a:spcAft>
                <a:spcPts val="400"/>
              </a:spcAft>
            </a:pPr>
            <a:r>
              <a:rPr sz="1000" b="1">
                <a:solidFill>
                  <a:srgbClr val="0B142A"/>
                </a:solidFill>
                <a:latin typeface="Segoe UI"/>
              </a:rPr>
              <a:t>15,600</a:t>
            </a:r>
          </a:p>
        </p:txBody>
      </p:sp>
      <p:sp>
        <p:nvSpPr>
          <p:cNvPr id="18" name="TextBox 17"/>
          <p:cNvSpPr txBox="1"/>
          <p:nvPr/>
        </p:nvSpPr>
        <p:spPr>
          <a:xfrm>
            <a:off x="4846320" y="3108960"/>
            <a:ext cx="1463040" cy="310896"/>
          </a:xfrm>
          <a:prstGeom prst="rect">
            <a:avLst/>
          </a:prstGeom>
          <a:noFill/>
        </p:spPr>
        <p:txBody>
          <a:bodyPr wrap="square">
            <a:spAutoFit/>
          </a:bodyPr>
          <a:lstStyle/>
          <a:p>
            <a:pPr algn="l">
              <a:spcAft>
                <a:spcPts val="400"/>
              </a:spcAft>
            </a:pPr>
            <a:r>
              <a:rPr sz="1000" b="1">
                <a:solidFill>
                  <a:srgbClr val="0B142A"/>
                </a:solidFill>
                <a:latin typeface="Segoe UI"/>
              </a:rPr>
              <a:t>910</a:t>
            </a:r>
          </a:p>
        </p:txBody>
      </p:sp>
      <p:sp>
        <p:nvSpPr>
          <p:cNvPr id="19" name="Rounded Rectangle 18"/>
          <p:cNvSpPr/>
          <p:nvPr/>
        </p:nvSpPr>
        <p:spPr>
          <a:xfrm>
            <a:off x="6766560" y="2011680"/>
            <a:ext cx="2286000" cy="11430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766560" y="2011680"/>
            <a:ext cx="44450" cy="11430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31152" y="2084832"/>
            <a:ext cx="2011680" cy="256032"/>
          </a:xfrm>
          <a:prstGeom prst="rect">
            <a:avLst/>
          </a:prstGeom>
          <a:noFill/>
        </p:spPr>
        <p:txBody>
          <a:bodyPr wrap="square">
            <a:spAutoFit/>
          </a:bodyPr>
          <a:lstStyle/>
          <a:p>
            <a:pPr algn="l">
              <a:spcAft>
                <a:spcPts val="400"/>
              </a:spcAft>
            </a:pPr>
            <a:r>
              <a:rPr sz="850" b="1">
                <a:solidFill>
                  <a:srgbClr val="7A8599"/>
                </a:solidFill>
                <a:latin typeface="Segoe UI"/>
              </a:rPr>
              <a:t>PER QUESTION</a:t>
            </a:r>
          </a:p>
        </p:txBody>
      </p:sp>
      <p:sp>
        <p:nvSpPr>
          <p:cNvPr id="22" name="TextBox 21"/>
          <p:cNvSpPr txBox="1"/>
          <p:nvPr/>
        </p:nvSpPr>
        <p:spPr>
          <a:xfrm>
            <a:off x="6931152" y="2322576"/>
            <a:ext cx="2011680" cy="457200"/>
          </a:xfrm>
          <a:prstGeom prst="rect">
            <a:avLst/>
          </a:prstGeom>
          <a:noFill/>
        </p:spPr>
        <p:txBody>
          <a:bodyPr wrap="square">
            <a:spAutoFit/>
          </a:bodyPr>
          <a:lstStyle/>
          <a:p>
            <a:pPr algn="l">
              <a:spcAft>
                <a:spcPts val="400"/>
              </a:spcAft>
            </a:pPr>
            <a:r>
              <a:rPr sz="2100" b="1">
                <a:solidFill>
                  <a:srgbClr val="0B142A"/>
                </a:solidFill>
                <a:latin typeface="Segoe UI"/>
              </a:rPr>
              <a:t>$0.026</a:t>
            </a:r>
          </a:p>
        </p:txBody>
      </p:sp>
      <p:sp>
        <p:nvSpPr>
          <p:cNvPr id="23" name="TextBox 22"/>
          <p:cNvSpPr txBox="1"/>
          <p:nvPr/>
        </p:nvSpPr>
        <p:spPr>
          <a:xfrm>
            <a:off x="6931152" y="2798064"/>
            <a:ext cx="2011680" cy="365760"/>
          </a:xfrm>
          <a:prstGeom prst="rect">
            <a:avLst/>
          </a:prstGeom>
          <a:noFill/>
        </p:spPr>
        <p:txBody>
          <a:bodyPr wrap="square">
            <a:spAutoFit/>
          </a:bodyPr>
          <a:lstStyle/>
          <a:p>
            <a:pPr algn="l">
              <a:spcAft>
                <a:spcPts val="400"/>
              </a:spcAft>
            </a:pPr>
            <a:r>
              <a:rPr sz="900" b="0">
                <a:solidFill>
                  <a:srgbClr val="7A8599"/>
                </a:solidFill>
                <a:latin typeface="Segoe UI"/>
              </a:rPr>
              <a:t>coordinator + specialists</a:t>
            </a:r>
          </a:p>
        </p:txBody>
      </p:sp>
      <p:sp>
        <p:nvSpPr>
          <p:cNvPr id="24" name="Rounded Rectangle 23"/>
          <p:cNvSpPr/>
          <p:nvPr/>
        </p:nvSpPr>
        <p:spPr>
          <a:xfrm>
            <a:off x="9235440" y="2011680"/>
            <a:ext cx="2286000" cy="11430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235440" y="2011680"/>
            <a:ext cx="44450" cy="1143000"/>
          </a:xfrm>
          <a:prstGeom prst="rect">
            <a:avLst/>
          </a:prstGeom>
          <a:solidFill>
            <a:srgbClr val="5B4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00032" y="2084832"/>
            <a:ext cx="2011680" cy="256032"/>
          </a:xfrm>
          <a:prstGeom prst="rect">
            <a:avLst/>
          </a:prstGeom>
          <a:noFill/>
        </p:spPr>
        <p:txBody>
          <a:bodyPr wrap="square">
            <a:spAutoFit/>
          </a:bodyPr>
          <a:lstStyle/>
          <a:p>
            <a:pPr algn="l">
              <a:spcAft>
                <a:spcPts val="400"/>
              </a:spcAft>
            </a:pPr>
            <a:r>
              <a:rPr sz="850" b="1">
                <a:solidFill>
                  <a:srgbClr val="7A8599"/>
                </a:solidFill>
                <a:latin typeface="Segoe UI"/>
              </a:rPr>
              <a:t>PER MONTH</a:t>
            </a:r>
          </a:p>
        </p:txBody>
      </p:sp>
      <p:sp>
        <p:nvSpPr>
          <p:cNvPr id="27" name="TextBox 26"/>
          <p:cNvSpPr txBox="1"/>
          <p:nvPr/>
        </p:nvSpPr>
        <p:spPr>
          <a:xfrm>
            <a:off x="9400032" y="2322576"/>
            <a:ext cx="2011680" cy="457200"/>
          </a:xfrm>
          <a:prstGeom prst="rect">
            <a:avLst/>
          </a:prstGeom>
          <a:noFill/>
        </p:spPr>
        <p:txBody>
          <a:bodyPr wrap="square">
            <a:spAutoFit/>
          </a:bodyPr>
          <a:lstStyle/>
          <a:p>
            <a:pPr algn="l">
              <a:spcAft>
                <a:spcPts val="400"/>
              </a:spcAft>
            </a:pPr>
            <a:r>
              <a:rPr sz="2100" b="1">
                <a:solidFill>
                  <a:srgbClr val="0B142A"/>
                </a:solidFill>
                <a:latin typeface="Segoe UI"/>
              </a:rPr>
              <a:t>$116</a:t>
            </a:r>
          </a:p>
        </p:txBody>
      </p:sp>
      <p:sp>
        <p:nvSpPr>
          <p:cNvPr id="28" name="TextBox 27"/>
          <p:cNvSpPr txBox="1"/>
          <p:nvPr/>
        </p:nvSpPr>
        <p:spPr>
          <a:xfrm>
            <a:off x="9400032" y="2798064"/>
            <a:ext cx="2011680" cy="365760"/>
          </a:xfrm>
          <a:prstGeom prst="rect">
            <a:avLst/>
          </a:prstGeom>
          <a:noFill/>
        </p:spPr>
        <p:txBody>
          <a:bodyPr wrap="square">
            <a:spAutoFit/>
          </a:bodyPr>
          <a:lstStyle/>
          <a:p>
            <a:pPr algn="l">
              <a:spcAft>
                <a:spcPts val="400"/>
              </a:spcAft>
            </a:pPr>
            <a:r>
              <a:rPr sz="900" b="0">
                <a:solidFill>
                  <a:srgbClr val="7A8599"/>
                </a:solidFill>
                <a:latin typeface="Segoe UI"/>
              </a:rPr>
              <a:t>4,400 questions</a:t>
            </a:r>
          </a:p>
        </p:txBody>
      </p:sp>
      <p:sp>
        <p:nvSpPr>
          <p:cNvPr id="29" name="TextBox 28"/>
          <p:cNvSpPr txBox="1"/>
          <p:nvPr/>
        </p:nvSpPr>
        <p:spPr>
          <a:xfrm>
            <a:off x="640080" y="3657600"/>
            <a:ext cx="10881360" cy="320040"/>
          </a:xfrm>
          <a:prstGeom prst="rect">
            <a:avLst/>
          </a:prstGeom>
          <a:noFill/>
        </p:spPr>
        <p:txBody>
          <a:bodyPr wrap="square">
            <a:spAutoFit/>
          </a:bodyPr>
          <a:lstStyle/>
          <a:p>
            <a:pPr algn="l">
              <a:spcAft>
                <a:spcPts val="400"/>
              </a:spcAft>
            </a:pPr>
            <a:r>
              <a:rPr sz="1350" b="1">
                <a:solidFill>
                  <a:srgbClr val="0B142A"/>
                </a:solidFill>
                <a:latin typeface="Segoe UI"/>
              </a:rPr>
              <a:t>Model choice — and a naming trap</a:t>
            </a:r>
          </a:p>
        </p:txBody>
      </p:sp>
      <p:sp>
        <p:nvSpPr>
          <p:cNvPr id="30" name="TextBox 29"/>
          <p:cNvSpPr txBox="1"/>
          <p:nvPr/>
        </p:nvSpPr>
        <p:spPr>
          <a:xfrm>
            <a:off x="640080" y="4023360"/>
            <a:ext cx="10881360" cy="1371600"/>
          </a:xfrm>
          <a:prstGeom prst="rect">
            <a:avLst/>
          </a:prstGeom>
          <a:noFill/>
        </p:spPr>
        <p:txBody>
          <a:bodyPr wrap="square">
            <a:spAutoFit/>
          </a:bodyPr>
          <a:lstStyle/>
          <a:p>
            <a:pPr>
              <a:spcAft>
                <a:spcPts val="900"/>
              </a:spcAft>
            </a:pPr>
            <a:r>
              <a:rPr sz="1050">
                <a:solidFill>
                  <a:srgbClr val="445066"/>
                </a:solidFill>
                <a:latin typeface="Segoe UI"/>
              </a:rPr>
              <a:t>—  Reasoning: gemini-3.5-flash at $1.50 in / $9.00 out per 1M tokens. Routing: gemini-3.1-flash-lite at $0.25 / $1.50.</a:t>
            </a:r>
          </a:p>
          <a:p>
            <a:pPr>
              <a:spcAft>
                <a:spcPts val="900"/>
              </a:spcAft>
            </a:pPr>
            <a:r>
              <a:rPr sz="1050">
                <a:solidFill>
                  <a:srgbClr val="445066"/>
                </a:solidFill>
                <a:latin typeface="Segoe UI"/>
              </a:rPr>
              <a:t>—  Google's flagship is 3.5-flash despite the .5, while Pro and Lite are 3.1. There is no bare gemini-3-flash or gemini-3-pro — those identifiers return 404. A test pins the model ids, because a typo surfaces only when a user asks a question in production.</a:t>
            </a:r>
          </a:p>
          <a:p>
            <a:pPr>
              <a:spcAft>
                <a:spcPts val="900"/>
              </a:spcAft>
            </a:pPr>
            <a:r>
              <a:rPr sz="1050">
                <a:solidFill>
                  <a:srgbClr val="445066"/>
                </a:solidFill>
                <a:latin typeface="Segoe UI"/>
              </a:rPr>
              <a:t>—  gemini-2.0-flash was retired on 1 June 2026 and the whole gemini-2.5-* family shuts down on 16 October 2026.</a:t>
            </a:r>
          </a:p>
          <a:p>
            <a:pPr>
              <a:spcAft>
                <a:spcPts val="900"/>
              </a:spcAft>
            </a:pPr>
            <a:r>
              <a:rPr sz="1050">
                <a:solidFill>
                  <a:srgbClr val="445066"/>
                </a:solidFill>
                <a:latin typeface="Segoe UI"/>
              </a:rPr>
              <a:t>—  Context caching gives 90% off repeated input; batch gives 50% off but is useless here, because the Copilot is interactive.</a:t>
            </a:r>
          </a:p>
        </p:txBody>
      </p:sp>
      <p:sp>
        <p:nvSpPr>
          <p:cNvPr id="31" name="TextBox 30"/>
          <p:cNvSpPr txBox="1"/>
          <p:nvPr/>
        </p:nvSpPr>
        <p:spPr>
          <a:xfrm>
            <a:off x="640080" y="5577840"/>
            <a:ext cx="10881360" cy="640080"/>
          </a:xfrm>
          <a:prstGeom prst="rect">
            <a:avLst/>
          </a:prstGeom>
          <a:noFill/>
        </p:spPr>
        <p:txBody>
          <a:bodyPr wrap="square">
            <a:spAutoFit/>
          </a:bodyPr>
          <a:lstStyle/>
          <a:p>
            <a:pPr algn="l">
              <a:spcAft>
                <a:spcPts val="400"/>
              </a:spcAft>
            </a:pPr>
            <a:r>
              <a:rPr sz="1100" b="1">
                <a:solidFill>
                  <a:srgbClr val="0B142A"/>
                </a:solidFill>
                <a:latin typeface="Segoe UI"/>
              </a:rPr>
              <a:t>For scale: the model bill is roughly 0.0085% of the $32.65M of cloud spend under management. The Copilot is not where a FinOps programme's money goes.</a:t>
            </a:r>
          </a:p>
        </p:txBody>
      </p:sp>
      <p:sp>
        <p:nvSpPr>
          <p:cNvPr id="32" name="TextBox 31"/>
          <p:cNvSpPr txBox="1"/>
          <p:nvPr/>
        </p:nvSpPr>
        <p:spPr>
          <a:xfrm>
            <a:off x="640080" y="6355080"/>
            <a:ext cx="8686800" cy="274320"/>
          </a:xfrm>
          <a:prstGeom prst="rect">
            <a:avLst/>
          </a:prstGeom>
          <a:noFill/>
        </p:spPr>
        <p:txBody>
          <a:bodyPr wrap="square">
            <a:spAutoFit/>
          </a:bodyPr>
          <a:lstStyle/>
          <a:p>
            <a:pPr algn="l">
              <a:spcAft>
                <a:spcPts val="400"/>
              </a:spcAft>
            </a:pPr>
            <a:r>
              <a:rPr sz="850" b="0">
                <a:solidFill>
                  <a:srgbClr val="7A8599"/>
                </a:solidFill>
                <a:latin typeface="Segoe UI"/>
              </a:rPr>
              <a:t>Gemini list prices, July 2026. Token counts measured against the running agent team.</a:t>
            </a:r>
          </a:p>
        </p:txBody>
      </p:sp>
      <p:sp>
        <p:nvSpPr>
          <p:cNvPr id="33" name="TextBox 32"/>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WHAT IT TELLS YOU</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The executive view</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Amortised spend across AWS, Azure, GCP and OCI · 24 months of history</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65960"/>
            <a:ext cx="3502152" cy="12344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0080" y="1965960"/>
            <a:ext cx="44450" cy="123444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39112"/>
            <a:ext cx="3227832" cy="256032"/>
          </a:xfrm>
          <a:prstGeom prst="rect">
            <a:avLst/>
          </a:prstGeom>
          <a:noFill/>
        </p:spPr>
        <p:txBody>
          <a:bodyPr wrap="square">
            <a:spAutoFit/>
          </a:bodyPr>
          <a:lstStyle/>
          <a:p>
            <a:pPr algn="l">
              <a:spcAft>
                <a:spcPts val="400"/>
              </a:spcAft>
            </a:pPr>
            <a:r>
              <a:rPr sz="850" b="1">
                <a:solidFill>
                  <a:srgbClr val="7A8599"/>
                </a:solidFill>
                <a:latin typeface="Segoe UI"/>
              </a:rPr>
              <a:t>TOTAL AMORTISED SPEND</a:t>
            </a:r>
          </a:p>
        </p:txBody>
      </p:sp>
      <p:sp>
        <p:nvSpPr>
          <p:cNvPr id="9" name="TextBox 8"/>
          <p:cNvSpPr txBox="1"/>
          <p:nvPr/>
        </p:nvSpPr>
        <p:spPr>
          <a:xfrm>
            <a:off x="804672" y="2276856"/>
            <a:ext cx="3227832" cy="457200"/>
          </a:xfrm>
          <a:prstGeom prst="rect">
            <a:avLst/>
          </a:prstGeom>
          <a:noFill/>
        </p:spPr>
        <p:txBody>
          <a:bodyPr wrap="square">
            <a:spAutoFit/>
          </a:bodyPr>
          <a:lstStyle/>
          <a:p>
            <a:pPr algn="l">
              <a:spcAft>
                <a:spcPts val="400"/>
              </a:spcAft>
            </a:pPr>
            <a:r>
              <a:rPr sz="2100" b="1">
                <a:solidFill>
                  <a:srgbClr val="0B142A"/>
                </a:solidFill>
                <a:latin typeface="Segoe UI"/>
              </a:rPr>
              <a:t>$32.65M</a:t>
            </a:r>
          </a:p>
        </p:txBody>
      </p:sp>
      <p:sp>
        <p:nvSpPr>
          <p:cNvPr id="10" name="TextBox 9"/>
          <p:cNvSpPr txBox="1"/>
          <p:nvPr/>
        </p:nvSpPr>
        <p:spPr>
          <a:xfrm>
            <a:off x="804672" y="2752344"/>
            <a:ext cx="3227832" cy="365760"/>
          </a:xfrm>
          <a:prstGeom prst="rect">
            <a:avLst/>
          </a:prstGeom>
          <a:noFill/>
        </p:spPr>
        <p:txBody>
          <a:bodyPr wrap="square">
            <a:spAutoFit/>
          </a:bodyPr>
          <a:lstStyle/>
          <a:p>
            <a:pPr algn="l">
              <a:spcAft>
                <a:spcPts val="400"/>
              </a:spcAft>
            </a:pPr>
            <a:r>
              <a:rPr sz="900" b="0">
                <a:solidFill>
                  <a:srgbClr val="7A8599"/>
                </a:solidFill>
                <a:latin typeface="Segoe UI"/>
              </a:rPr>
              <a:t>FOCUS EffectiveCost</a:t>
            </a:r>
          </a:p>
        </p:txBody>
      </p:sp>
      <p:sp>
        <p:nvSpPr>
          <p:cNvPr id="11" name="Rounded Rectangle 10"/>
          <p:cNvSpPr/>
          <p:nvPr/>
        </p:nvSpPr>
        <p:spPr>
          <a:xfrm>
            <a:off x="4315967" y="1965960"/>
            <a:ext cx="3502152" cy="12344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15967" y="1965960"/>
            <a:ext cx="44450" cy="1234440"/>
          </a:xfrm>
          <a:prstGeom prst="rect">
            <a:avLst/>
          </a:prstGeom>
          <a:solidFill>
            <a:srgbClr val="5B4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2039112"/>
            <a:ext cx="3227832" cy="256032"/>
          </a:xfrm>
          <a:prstGeom prst="rect">
            <a:avLst/>
          </a:prstGeom>
          <a:noFill/>
        </p:spPr>
        <p:txBody>
          <a:bodyPr wrap="square">
            <a:spAutoFit/>
          </a:bodyPr>
          <a:lstStyle/>
          <a:p>
            <a:pPr algn="l">
              <a:spcAft>
                <a:spcPts val="400"/>
              </a:spcAft>
            </a:pPr>
            <a:r>
              <a:rPr sz="850" b="1">
                <a:solidFill>
                  <a:srgbClr val="7A8599"/>
                </a:solidFill>
                <a:latin typeface="Segoe UI"/>
              </a:rPr>
              <a:t>EFFECTIVE SAVINGS RATE</a:t>
            </a:r>
          </a:p>
        </p:txBody>
      </p:sp>
      <p:sp>
        <p:nvSpPr>
          <p:cNvPr id="14" name="TextBox 13"/>
          <p:cNvSpPr txBox="1"/>
          <p:nvPr/>
        </p:nvSpPr>
        <p:spPr>
          <a:xfrm>
            <a:off x="4480559" y="2276856"/>
            <a:ext cx="3227832" cy="457200"/>
          </a:xfrm>
          <a:prstGeom prst="rect">
            <a:avLst/>
          </a:prstGeom>
          <a:noFill/>
        </p:spPr>
        <p:txBody>
          <a:bodyPr wrap="square">
            <a:spAutoFit/>
          </a:bodyPr>
          <a:lstStyle/>
          <a:p>
            <a:pPr algn="l">
              <a:spcAft>
                <a:spcPts val="400"/>
              </a:spcAft>
            </a:pPr>
            <a:r>
              <a:rPr sz="2100" b="1">
                <a:solidFill>
                  <a:srgbClr val="0B142A"/>
                </a:solidFill>
                <a:latin typeface="Segoe UI"/>
              </a:rPr>
              <a:t>21.6%</a:t>
            </a:r>
          </a:p>
        </p:txBody>
      </p:sp>
      <p:sp>
        <p:nvSpPr>
          <p:cNvPr id="15" name="TextBox 14"/>
          <p:cNvSpPr txBox="1"/>
          <p:nvPr/>
        </p:nvSpPr>
        <p:spPr>
          <a:xfrm>
            <a:off x="4480559" y="2752344"/>
            <a:ext cx="3227832" cy="365760"/>
          </a:xfrm>
          <a:prstGeom prst="rect">
            <a:avLst/>
          </a:prstGeom>
          <a:noFill/>
        </p:spPr>
        <p:txBody>
          <a:bodyPr wrap="square">
            <a:spAutoFit/>
          </a:bodyPr>
          <a:lstStyle/>
          <a:p>
            <a:pPr algn="l">
              <a:spcAft>
                <a:spcPts val="400"/>
              </a:spcAft>
            </a:pPr>
            <a:r>
              <a:rPr sz="900" b="0">
                <a:solidFill>
                  <a:srgbClr val="7A8599"/>
                </a:solidFill>
                <a:latin typeface="Segoe UI"/>
              </a:rPr>
              <a:t>vs on-demand equivalent</a:t>
            </a:r>
          </a:p>
        </p:txBody>
      </p:sp>
      <p:sp>
        <p:nvSpPr>
          <p:cNvPr id="16" name="Rounded Rectangle 15"/>
          <p:cNvSpPr/>
          <p:nvPr/>
        </p:nvSpPr>
        <p:spPr>
          <a:xfrm>
            <a:off x="7991854" y="1965960"/>
            <a:ext cx="3502152" cy="12344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991854" y="1965960"/>
            <a:ext cx="44450" cy="1234440"/>
          </a:xfrm>
          <a:prstGeom prst="rect">
            <a:avLst/>
          </a:prstGeom>
          <a:solidFill>
            <a:srgbClr val="119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6446" y="2039112"/>
            <a:ext cx="3227832" cy="256032"/>
          </a:xfrm>
          <a:prstGeom prst="rect">
            <a:avLst/>
          </a:prstGeom>
          <a:noFill/>
        </p:spPr>
        <p:txBody>
          <a:bodyPr wrap="square">
            <a:spAutoFit/>
          </a:bodyPr>
          <a:lstStyle/>
          <a:p>
            <a:pPr algn="l">
              <a:spcAft>
                <a:spcPts val="400"/>
              </a:spcAft>
            </a:pPr>
            <a:r>
              <a:rPr sz="850" b="1">
                <a:solidFill>
                  <a:srgbClr val="7A8599"/>
                </a:solidFill>
                <a:latin typeface="Segoe UI"/>
              </a:rPr>
              <a:t>COMMITMENT COVERAGE</a:t>
            </a:r>
          </a:p>
        </p:txBody>
      </p:sp>
      <p:sp>
        <p:nvSpPr>
          <p:cNvPr id="19" name="TextBox 18"/>
          <p:cNvSpPr txBox="1"/>
          <p:nvPr/>
        </p:nvSpPr>
        <p:spPr>
          <a:xfrm>
            <a:off x="8156446" y="2276856"/>
            <a:ext cx="3227832" cy="457200"/>
          </a:xfrm>
          <a:prstGeom prst="rect">
            <a:avLst/>
          </a:prstGeom>
          <a:noFill/>
        </p:spPr>
        <p:txBody>
          <a:bodyPr wrap="square">
            <a:spAutoFit/>
          </a:bodyPr>
          <a:lstStyle/>
          <a:p>
            <a:pPr algn="l">
              <a:spcAft>
                <a:spcPts val="400"/>
              </a:spcAft>
            </a:pPr>
            <a:r>
              <a:rPr sz="2100" b="1">
                <a:solidFill>
                  <a:srgbClr val="0B142A"/>
                </a:solidFill>
                <a:latin typeface="Segoe UI"/>
              </a:rPr>
              <a:t>42.0%</a:t>
            </a:r>
          </a:p>
        </p:txBody>
      </p:sp>
      <p:sp>
        <p:nvSpPr>
          <p:cNvPr id="20" name="TextBox 19"/>
          <p:cNvSpPr txBox="1"/>
          <p:nvPr/>
        </p:nvSpPr>
        <p:spPr>
          <a:xfrm>
            <a:off x="8156446" y="2752344"/>
            <a:ext cx="3227832" cy="365760"/>
          </a:xfrm>
          <a:prstGeom prst="rect">
            <a:avLst/>
          </a:prstGeom>
          <a:noFill/>
        </p:spPr>
        <p:txBody>
          <a:bodyPr wrap="square">
            <a:spAutoFit/>
          </a:bodyPr>
          <a:lstStyle/>
          <a:p>
            <a:pPr algn="l">
              <a:spcAft>
                <a:spcPts val="400"/>
              </a:spcAft>
            </a:pPr>
            <a:r>
              <a:rPr sz="900" b="0">
                <a:solidFill>
                  <a:srgbClr val="7A8599"/>
                </a:solidFill>
                <a:latin typeface="Segoe UI"/>
              </a:rPr>
              <a:t>of eligible spend</a:t>
            </a:r>
          </a:p>
        </p:txBody>
      </p:sp>
      <p:sp>
        <p:nvSpPr>
          <p:cNvPr id="21" name="Rounded Rectangle 20"/>
          <p:cNvSpPr/>
          <p:nvPr/>
        </p:nvSpPr>
        <p:spPr>
          <a:xfrm>
            <a:off x="640080" y="3383280"/>
            <a:ext cx="3502152" cy="12344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40080" y="3383280"/>
            <a:ext cx="44450" cy="1234440"/>
          </a:xfrm>
          <a:prstGeom prst="rect">
            <a:avLst/>
          </a:prstGeom>
          <a:solidFill>
            <a:srgbClr val="0C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456432"/>
            <a:ext cx="3227832" cy="256032"/>
          </a:xfrm>
          <a:prstGeom prst="rect">
            <a:avLst/>
          </a:prstGeom>
          <a:noFill/>
        </p:spPr>
        <p:txBody>
          <a:bodyPr wrap="square">
            <a:spAutoFit/>
          </a:bodyPr>
          <a:lstStyle/>
          <a:p>
            <a:pPr algn="l">
              <a:spcAft>
                <a:spcPts val="400"/>
              </a:spcAft>
            </a:pPr>
            <a:r>
              <a:rPr sz="850" b="1">
                <a:solidFill>
                  <a:srgbClr val="7A8599"/>
                </a:solidFill>
                <a:latin typeface="Segoe UI"/>
              </a:rPr>
              <a:t>COMMITMENT UTILISATION</a:t>
            </a:r>
          </a:p>
        </p:txBody>
      </p:sp>
      <p:sp>
        <p:nvSpPr>
          <p:cNvPr id="24" name="TextBox 23"/>
          <p:cNvSpPr txBox="1"/>
          <p:nvPr/>
        </p:nvSpPr>
        <p:spPr>
          <a:xfrm>
            <a:off x="804672" y="3694176"/>
            <a:ext cx="3227832" cy="457200"/>
          </a:xfrm>
          <a:prstGeom prst="rect">
            <a:avLst/>
          </a:prstGeom>
          <a:noFill/>
        </p:spPr>
        <p:txBody>
          <a:bodyPr wrap="square">
            <a:spAutoFit/>
          </a:bodyPr>
          <a:lstStyle/>
          <a:p>
            <a:pPr algn="l">
              <a:spcAft>
                <a:spcPts val="400"/>
              </a:spcAft>
            </a:pPr>
            <a:r>
              <a:rPr sz="2100" b="1">
                <a:solidFill>
                  <a:srgbClr val="0B142A"/>
                </a:solidFill>
                <a:latin typeface="Segoe UI"/>
              </a:rPr>
              <a:t>95.6%</a:t>
            </a:r>
          </a:p>
        </p:txBody>
      </p:sp>
      <p:sp>
        <p:nvSpPr>
          <p:cNvPr id="25" name="TextBox 24"/>
          <p:cNvSpPr txBox="1"/>
          <p:nvPr/>
        </p:nvSpPr>
        <p:spPr>
          <a:xfrm>
            <a:off x="804672" y="4169664"/>
            <a:ext cx="3227832" cy="365760"/>
          </a:xfrm>
          <a:prstGeom prst="rect">
            <a:avLst/>
          </a:prstGeom>
          <a:noFill/>
        </p:spPr>
        <p:txBody>
          <a:bodyPr wrap="square">
            <a:spAutoFit/>
          </a:bodyPr>
          <a:lstStyle/>
          <a:p>
            <a:pPr algn="l">
              <a:spcAft>
                <a:spcPts val="400"/>
              </a:spcAft>
            </a:pPr>
            <a:r>
              <a:rPr sz="900" b="0">
                <a:solidFill>
                  <a:srgbClr val="7A8599"/>
                </a:solidFill>
                <a:latin typeface="Segoe UI"/>
              </a:rPr>
              <a:t>$346K unused</a:t>
            </a:r>
          </a:p>
        </p:txBody>
      </p:sp>
      <p:sp>
        <p:nvSpPr>
          <p:cNvPr id="26" name="Rounded Rectangle 25"/>
          <p:cNvSpPr/>
          <p:nvPr/>
        </p:nvSpPr>
        <p:spPr>
          <a:xfrm>
            <a:off x="4315967" y="3383280"/>
            <a:ext cx="3502152" cy="12344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315967" y="3383280"/>
            <a:ext cx="44450" cy="1234440"/>
          </a:xfrm>
          <a:prstGeom prst="rect">
            <a:avLst/>
          </a:prstGeom>
          <a:solidFill>
            <a:srgbClr val="C98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59" y="3456432"/>
            <a:ext cx="3227832" cy="256032"/>
          </a:xfrm>
          <a:prstGeom prst="rect">
            <a:avLst/>
          </a:prstGeom>
          <a:noFill/>
        </p:spPr>
        <p:txBody>
          <a:bodyPr wrap="square">
            <a:spAutoFit/>
          </a:bodyPr>
          <a:lstStyle/>
          <a:p>
            <a:pPr algn="l">
              <a:spcAft>
                <a:spcPts val="400"/>
              </a:spcAft>
            </a:pPr>
            <a:r>
              <a:rPr sz="850" b="1">
                <a:solidFill>
                  <a:srgbClr val="7A8599"/>
                </a:solidFill>
                <a:latin typeface="Segoe UI"/>
              </a:rPr>
              <a:t>COST OF WASTE</a:t>
            </a:r>
          </a:p>
        </p:txBody>
      </p:sp>
      <p:sp>
        <p:nvSpPr>
          <p:cNvPr id="29" name="TextBox 28"/>
          <p:cNvSpPr txBox="1"/>
          <p:nvPr/>
        </p:nvSpPr>
        <p:spPr>
          <a:xfrm>
            <a:off x="4480559" y="3694176"/>
            <a:ext cx="3227832" cy="457200"/>
          </a:xfrm>
          <a:prstGeom prst="rect">
            <a:avLst/>
          </a:prstGeom>
          <a:noFill/>
        </p:spPr>
        <p:txBody>
          <a:bodyPr wrap="square">
            <a:spAutoFit/>
          </a:bodyPr>
          <a:lstStyle/>
          <a:p>
            <a:pPr algn="l">
              <a:spcAft>
                <a:spcPts val="400"/>
              </a:spcAft>
            </a:pPr>
            <a:r>
              <a:rPr sz="2100" b="1">
                <a:solidFill>
                  <a:srgbClr val="0B142A"/>
                </a:solidFill>
                <a:latin typeface="Segoe UI"/>
              </a:rPr>
              <a:t>$2.52M</a:t>
            </a:r>
          </a:p>
        </p:txBody>
      </p:sp>
      <p:sp>
        <p:nvSpPr>
          <p:cNvPr id="30" name="TextBox 29"/>
          <p:cNvSpPr txBox="1"/>
          <p:nvPr/>
        </p:nvSpPr>
        <p:spPr>
          <a:xfrm>
            <a:off x="4480559" y="4169664"/>
            <a:ext cx="3227832" cy="365760"/>
          </a:xfrm>
          <a:prstGeom prst="rect">
            <a:avLst/>
          </a:prstGeom>
          <a:noFill/>
        </p:spPr>
        <p:txBody>
          <a:bodyPr wrap="square">
            <a:spAutoFit/>
          </a:bodyPr>
          <a:lstStyle/>
          <a:p>
            <a:pPr algn="l">
              <a:spcAft>
                <a:spcPts val="400"/>
              </a:spcAft>
            </a:pPr>
            <a:r>
              <a:rPr sz="900" b="0">
                <a:solidFill>
                  <a:srgbClr val="7A8599"/>
                </a:solidFill>
                <a:latin typeface="Segoe UI"/>
              </a:rPr>
              <a:t>7.7% of spend</a:t>
            </a:r>
          </a:p>
        </p:txBody>
      </p:sp>
      <p:sp>
        <p:nvSpPr>
          <p:cNvPr id="31" name="Rounded Rectangle 30"/>
          <p:cNvSpPr/>
          <p:nvPr/>
        </p:nvSpPr>
        <p:spPr>
          <a:xfrm>
            <a:off x="7991854" y="3383280"/>
            <a:ext cx="3502152" cy="12344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991854" y="3383280"/>
            <a:ext cx="44450" cy="1234440"/>
          </a:xfrm>
          <a:prstGeom prst="rect">
            <a:avLst/>
          </a:prstGeom>
          <a:solidFill>
            <a:srgbClr val="C2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56446" y="3456432"/>
            <a:ext cx="3227832" cy="256032"/>
          </a:xfrm>
          <a:prstGeom prst="rect">
            <a:avLst/>
          </a:prstGeom>
          <a:noFill/>
        </p:spPr>
        <p:txBody>
          <a:bodyPr wrap="square">
            <a:spAutoFit/>
          </a:bodyPr>
          <a:lstStyle/>
          <a:p>
            <a:pPr algn="l">
              <a:spcAft>
                <a:spcPts val="400"/>
              </a:spcAft>
            </a:pPr>
            <a:r>
              <a:rPr sz="850" b="1">
                <a:solidFill>
                  <a:srgbClr val="7A8599"/>
                </a:solidFill>
                <a:latin typeface="Segoe UI"/>
              </a:rPr>
              <a:t>ALLOCATION COVERAGE</a:t>
            </a:r>
          </a:p>
        </p:txBody>
      </p:sp>
      <p:sp>
        <p:nvSpPr>
          <p:cNvPr id="34" name="TextBox 33"/>
          <p:cNvSpPr txBox="1"/>
          <p:nvPr/>
        </p:nvSpPr>
        <p:spPr>
          <a:xfrm>
            <a:off x="8156446" y="3694176"/>
            <a:ext cx="3227832" cy="457200"/>
          </a:xfrm>
          <a:prstGeom prst="rect">
            <a:avLst/>
          </a:prstGeom>
          <a:noFill/>
        </p:spPr>
        <p:txBody>
          <a:bodyPr wrap="square">
            <a:spAutoFit/>
          </a:bodyPr>
          <a:lstStyle/>
          <a:p>
            <a:pPr algn="l">
              <a:spcAft>
                <a:spcPts val="400"/>
              </a:spcAft>
            </a:pPr>
            <a:r>
              <a:rPr sz="2100" b="1">
                <a:solidFill>
                  <a:srgbClr val="0B142A"/>
                </a:solidFill>
                <a:latin typeface="Segoe UI"/>
              </a:rPr>
              <a:t>82.6%</a:t>
            </a:r>
          </a:p>
        </p:txBody>
      </p:sp>
      <p:sp>
        <p:nvSpPr>
          <p:cNvPr id="35" name="TextBox 34"/>
          <p:cNvSpPr txBox="1"/>
          <p:nvPr/>
        </p:nvSpPr>
        <p:spPr>
          <a:xfrm>
            <a:off x="8156446" y="4169664"/>
            <a:ext cx="3227832" cy="365760"/>
          </a:xfrm>
          <a:prstGeom prst="rect">
            <a:avLst/>
          </a:prstGeom>
          <a:noFill/>
        </p:spPr>
        <p:txBody>
          <a:bodyPr wrap="square">
            <a:spAutoFit/>
          </a:bodyPr>
          <a:lstStyle/>
          <a:p>
            <a:pPr algn="l">
              <a:spcAft>
                <a:spcPts val="400"/>
              </a:spcAft>
            </a:pPr>
            <a:r>
              <a:rPr sz="900" b="0">
                <a:solidFill>
                  <a:srgbClr val="7A8599"/>
                </a:solidFill>
                <a:latin typeface="Segoe UI"/>
              </a:rPr>
              <a:t>Hybrid: chargeback tagged, showback remainder</a:t>
            </a:r>
          </a:p>
        </p:txBody>
      </p:sp>
      <p:graphicFrame>
        <p:nvGraphicFramePr>
          <p:cNvPr id="36" name="Chart 35"/>
          <p:cNvGraphicFramePr>
            <a:graphicFrameLocks noGrp="1"/>
          </p:cNvGraphicFramePr>
          <p:nvPr/>
        </p:nvGraphicFramePr>
        <p:xfrm>
          <a:off x="640080" y="4846320"/>
          <a:ext cx="4937760" cy="1371600"/>
        </p:xfrm>
        <a:graphic>
          <a:graphicData uri="http://schemas.openxmlformats.org/drawingml/2006/chart">
            <c:chart xmlns:c="http://schemas.openxmlformats.org/drawingml/2006/chart" r:id="rId2"/>
          </a:graphicData>
        </a:graphic>
      </p:graphicFrame>
      <p:sp>
        <p:nvSpPr>
          <p:cNvPr id="37" name="TextBox 36"/>
          <p:cNvSpPr txBox="1"/>
          <p:nvPr/>
        </p:nvSpPr>
        <p:spPr>
          <a:xfrm>
            <a:off x="5852160" y="4846320"/>
            <a:ext cx="5669280" cy="1371600"/>
          </a:xfrm>
          <a:prstGeom prst="rect">
            <a:avLst/>
          </a:prstGeom>
          <a:noFill/>
        </p:spPr>
        <p:txBody>
          <a:bodyPr wrap="square">
            <a:spAutoFit/>
          </a:bodyPr>
          <a:lstStyle/>
          <a:p>
            <a:pPr algn="l">
              <a:spcAft>
                <a:spcPts val="400"/>
              </a:spcAft>
            </a:pPr>
            <a:r>
              <a:rPr sz="1100" b="0">
                <a:solidFill>
                  <a:srgbClr val="445066"/>
                </a:solidFill>
                <a:latin typeface="Segoe UI"/>
              </a:rPr>
              <a:t>Effective Savings Rate is the outcome metric, not coverage. 100% coverage at 60% utilisation is still a bad deal, and only ESR shows that. Foundation benchmarks: median ~0%, 75th percentile ~23%, 98th ~46%. This estate sits at 21.6%, with $346K of commitment already burned unused.</a:t>
            </a:r>
          </a:p>
        </p:txBody>
      </p:sp>
      <p:sp>
        <p:nvSpPr>
          <p:cNvPr id="38" name="TextBox 37"/>
          <p:cNvSpPr txBox="1"/>
          <p:nvPr/>
        </p:nvSpPr>
        <p:spPr>
          <a:xfrm>
            <a:off x="640080" y="6355080"/>
            <a:ext cx="8686800" cy="274320"/>
          </a:xfrm>
          <a:prstGeom prst="rect">
            <a:avLst/>
          </a:prstGeom>
          <a:noFill/>
        </p:spPr>
        <p:txBody>
          <a:bodyPr wrap="square">
            <a:spAutoFit/>
          </a:bodyPr>
          <a:lstStyle/>
          <a:p>
            <a:pPr algn="l">
              <a:spcAft>
                <a:spcPts val="400"/>
              </a:spcAft>
            </a:pPr>
            <a:r>
              <a:rPr sz="850" b="0">
                <a:solidFill>
                  <a:srgbClr val="7A8599"/>
                </a:solidFill>
                <a:latin typeface="Segoe UI"/>
              </a:rPr>
              <a:t>Figures computed from a synthetic 24-month utility estate shipped with the platform. No customer data.</a:t>
            </a:r>
          </a:p>
        </p:txBody>
      </p:sp>
      <p:sp>
        <p:nvSpPr>
          <p:cNvPr id="39" name="TextBox 38"/>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FORECAST</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Two years ahead, and the cliff a trend line cannot see</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Method chosen by rolling-origin backtest: Linear · WAPE 4.74% (Best-in-class)</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965960"/>
          <a:ext cx="6766560" cy="3566160"/>
        </p:xfrm>
        <a:graphic>
          <a:graphicData uri="http://schemas.openxmlformats.org/drawingml/2006/chart">
            <c:chart xmlns:c="http://schemas.openxmlformats.org/drawingml/2006/chart" r:id="rId2"/>
          </a:graphicData>
        </a:graphic>
      </p:graphicFrame>
      <p:sp>
        <p:nvSpPr>
          <p:cNvPr id="7" name="Rounded Rectangle 6"/>
          <p:cNvSpPr/>
          <p:nvPr/>
        </p:nvSpPr>
        <p:spPr>
          <a:xfrm>
            <a:off x="7772400" y="1965960"/>
            <a:ext cx="3749039" cy="11430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0" y="1965960"/>
            <a:ext cx="44450" cy="11430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36992" y="2039112"/>
            <a:ext cx="3474719" cy="256032"/>
          </a:xfrm>
          <a:prstGeom prst="rect">
            <a:avLst/>
          </a:prstGeom>
          <a:noFill/>
        </p:spPr>
        <p:txBody>
          <a:bodyPr wrap="square">
            <a:spAutoFit/>
          </a:bodyPr>
          <a:lstStyle/>
          <a:p>
            <a:pPr algn="l">
              <a:spcAft>
                <a:spcPts val="400"/>
              </a:spcAft>
            </a:pPr>
            <a:r>
              <a:rPr sz="850" b="1">
                <a:solidFill>
                  <a:srgbClr val="7A8599"/>
                </a:solidFill>
                <a:latin typeface="Segoe UI"/>
              </a:rPr>
              <a:t>24-MONTH FORECAST</a:t>
            </a:r>
          </a:p>
        </p:txBody>
      </p:sp>
      <p:sp>
        <p:nvSpPr>
          <p:cNvPr id="10" name="TextBox 9"/>
          <p:cNvSpPr txBox="1"/>
          <p:nvPr/>
        </p:nvSpPr>
        <p:spPr>
          <a:xfrm>
            <a:off x="7936992" y="2276856"/>
            <a:ext cx="3474719" cy="457200"/>
          </a:xfrm>
          <a:prstGeom prst="rect">
            <a:avLst/>
          </a:prstGeom>
          <a:noFill/>
        </p:spPr>
        <p:txBody>
          <a:bodyPr wrap="square">
            <a:spAutoFit/>
          </a:bodyPr>
          <a:lstStyle/>
          <a:p>
            <a:pPr algn="l">
              <a:spcAft>
                <a:spcPts val="400"/>
              </a:spcAft>
            </a:pPr>
            <a:r>
              <a:rPr sz="2100" b="1">
                <a:solidFill>
                  <a:srgbClr val="0B142A"/>
                </a:solidFill>
                <a:latin typeface="Segoe UI"/>
              </a:rPr>
              <a:t>$48.85M</a:t>
            </a:r>
          </a:p>
        </p:txBody>
      </p:sp>
      <p:sp>
        <p:nvSpPr>
          <p:cNvPr id="11" name="TextBox 10"/>
          <p:cNvSpPr txBox="1"/>
          <p:nvPr/>
        </p:nvSpPr>
        <p:spPr>
          <a:xfrm>
            <a:off x="7936992" y="2752344"/>
            <a:ext cx="3474719" cy="365760"/>
          </a:xfrm>
          <a:prstGeom prst="rect">
            <a:avLst/>
          </a:prstGeom>
          <a:noFill/>
        </p:spPr>
        <p:txBody>
          <a:bodyPr wrap="square">
            <a:spAutoFit/>
          </a:bodyPr>
          <a:lstStyle/>
          <a:p>
            <a:pPr algn="l">
              <a:spcAft>
                <a:spcPts val="400"/>
              </a:spcAft>
            </a:pPr>
            <a:r>
              <a:rPr sz="900" b="0">
                <a:solidFill>
                  <a:srgbClr val="7A8599"/>
                </a:solidFill>
                <a:latin typeface="Segoe UI"/>
              </a:rPr>
              <a:t>point estimate, cumulative</a:t>
            </a:r>
          </a:p>
        </p:txBody>
      </p:sp>
      <p:sp>
        <p:nvSpPr>
          <p:cNvPr id="12" name="Rounded Rectangle 11"/>
          <p:cNvSpPr/>
          <p:nvPr/>
        </p:nvSpPr>
        <p:spPr>
          <a:xfrm>
            <a:off x="7772400" y="3246120"/>
            <a:ext cx="3749039" cy="11430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0" y="3246120"/>
            <a:ext cx="44450" cy="1143000"/>
          </a:xfrm>
          <a:prstGeom prst="rect">
            <a:avLst/>
          </a:prstGeom>
          <a:solidFill>
            <a:srgbClr val="C2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6992" y="3319272"/>
            <a:ext cx="3474719" cy="256032"/>
          </a:xfrm>
          <a:prstGeom prst="rect">
            <a:avLst/>
          </a:prstGeom>
          <a:noFill/>
        </p:spPr>
        <p:txBody>
          <a:bodyPr wrap="square">
            <a:spAutoFit/>
          </a:bodyPr>
          <a:lstStyle/>
          <a:p>
            <a:pPr algn="l">
              <a:spcAft>
                <a:spcPts val="400"/>
              </a:spcAft>
            </a:pPr>
            <a:r>
              <a:rPr sz="850" b="1">
                <a:solidFill>
                  <a:srgbClr val="7A8599"/>
                </a:solidFill>
                <a:latin typeface="Segoe UI"/>
              </a:rPr>
              <a:t>WITH COMMITMENT CLIFFS</a:t>
            </a:r>
          </a:p>
        </p:txBody>
      </p:sp>
      <p:sp>
        <p:nvSpPr>
          <p:cNvPr id="15" name="TextBox 14"/>
          <p:cNvSpPr txBox="1"/>
          <p:nvPr/>
        </p:nvSpPr>
        <p:spPr>
          <a:xfrm>
            <a:off x="7936992" y="3557016"/>
            <a:ext cx="3474719" cy="457200"/>
          </a:xfrm>
          <a:prstGeom prst="rect">
            <a:avLst/>
          </a:prstGeom>
          <a:noFill/>
        </p:spPr>
        <p:txBody>
          <a:bodyPr wrap="square">
            <a:spAutoFit/>
          </a:bodyPr>
          <a:lstStyle/>
          <a:p>
            <a:pPr algn="l">
              <a:spcAft>
                <a:spcPts val="400"/>
              </a:spcAft>
            </a:pPr>
            <a:r>
              <a:rPr sz="2100" b="1">
                <a:solidFill>
                  <a:srgbClr val="0B142A"/>
                </a:solidFill>
                <a:latin typeface="Segoe UI"/>
              </a:rPr>
              <a:t>$53.79M</a:t>
            </a:r>
          </a:p>
        </p:txBody>
      </p:sp>
      <p:sp>
        <p:nvSpPr>
          <p:cNvPr id="16" name="TextBox 15"/>
          <p:cNvSpPr txBox="1"/>
          <p:nvPr/>
        </p:nvSpPr>
        <p:spPr>
          <a:xfrm>
            <a:off x="7936992" y="4032504"/>
            <a:ext cx="3474719" cy="365760"/>
          </a:xfrm>
          <a:prstGeom prst="rect">
            <a:avLst/>
          </a:prstGeom>
          <a:noFill/>
        </p:spPr>
        <p:txBody>
          <a:bodyPr wrap="square">
            <a:spAutoFit/>
          </a:bodyPr>
          <a:lstStyle/>
          <a:p>
            <a:pPr algn="l">
              <a:spcAft>
                <a:spcPts val="400"/>
              </a:spcAft>
            </a:pPr>
            <a:r>
              <a:rPr sz="900" b="0">
                <a:solidFill>
                  <a:srgbClr val="7A8599"/>
                </a:solidFill>
                <a:latin typeface="Segoe UI"/>
              </a:rPr>
              <a:t>expiry in Jul 2026</a:t>
            </a:r>
          </a:p>
        </p:txBody>
      </p:sp>
      <p:sp>
        <p:nvSpPr>
          <p:cNvPr id="17" name="TextBox 16"/>
          <p:cNvSpPr txBox="1"/>
          <p:nvPr/>
        </p:nvSpPr>
        <p:spPr>
          <a:xfrm>
            <a:off x="7772400" y="4572000"/>
            <a:ext cx="3749039" cy="1371600"/>
          </a:xfrm>
          <a:prstGeom prst="rect">
            <a:avLst/>
          </a:prstGeom>
          <a:noFill/>
        </p:spPr>
        <p:txBody>
          <a:bodyPr wrap="square">
            <a:spAutoFit/>
          </a:bodyPr>
          <a:lstStyle/>
          <a:p>
            <a:pPr algn="l">
              <a:spcAft>
                <a:spcPts val="400"/>
              </a:spcAft>
            </a:pPr>
            <a:r>
              <a:rPr sz="1050" b="0">
                <a:solidFill>
                  <a:srgbClr val="445066"/>
                </a:solidFill>
                <a:latin typeface="Segoe UI"/>
              </a:rPr>
              <a:t>When an RI, Savings Plan or CUD term ends, the rate snaps back to on-demand. The overlay adds $4.94M that the trend line never sees. This is the single most important thing naive cloud forecasting misses.</a:t>
            </a:r>
          </a:p>
        </p:txBody>
      </p:sp>
      <p:sp>
        <p:nvSpPr>
          <p:cNvPr id="18" name="TextBox 17"/>
          <p:cNvSpPr txBox="1"/>
          <p:nvPr/>
        </p:nvSpPr>
        <p:spPr>
          <a:xfrm>
            <a:off x="640080" y="5669280"/>
            <a:ext cx="10881360" cy="502920"/>
          </a:xfrm>
          <a:prstGeom prst="rect">
            <a:avLst/>
          </a:prstGeom>
          <a:noFill/>
        </p:spPr>
        <p:txBody>
          <a:bodyPr wrap="square">
            <a:spAutoFit/>
          </a:bodyPr>
          <a:lstStyle/>
          <a:p>
            <a:pPr algn="l">
              <a:spcAft>
                <a:spcPts val="400"/>
              </a:spcAft>
            </a:pPr>
            <a:r>
              <a:rPr sz="1050" b="0">
                <a:solidFill>
                  <a:srgbClr val="7A8599"/>
                </a:solidFill>
                <a:latin typeface="Segoe UI"/>
              </a:rPr>
              <a:t>Foundation forecast-variance maturity bands: Crawl &lt;20%, Walk &lt;15%, Run &lt;12%, best-in-class &lt;5%. WAPE is dollar-weighted, so a small service rounding to zero cannot dominate the score as it does under MAPE.</a:t>
            </a:r>
          </a:p>
        </p:txBody>
      </p:sp>
      <p:sp>
        <p:nvSpPr>
          <p:cNvPr id="19" name="TextBox 18"/>
          <p:cNvSpPr txBox="1"/>
          <p:nvPr/>
        </p:nvSpPr>
        <p:spPr>
          <a:xfrm>
            <a:off x="640080" y="6355080"/>
            <a:ext cx="8686800" cy="274320"/>
          </a:xfrm>
          <a:prstGeom prst="rect">
            <a:avLst/>
          </a:prstGeom>
          <a:noFill/>
        </p:spPr>
        <p:txBody>
          <a:bodyPr wrap="square">
            <a:spAutoFit/>
          </a:bodyPr>
          <a:lstStyle/>
          <a:p>
            <a:pPr algn="l">
              <a:spcAft>
                <a:spcPts val="400"/>
              </a:spcAft>
            </a:pPr>
            <a:r>
              <a:rPr sz="850" b="0">
                <a:solidFill>
                  <a:srgbClr val="7A8599"/>
                </a:solidFill>
                <a:latin typeface="Segoe UI"/>
              </a:rPr>
              <a:t>Figures computed from a synthetic 24-month utility estate shipped with the platform. No customer data.</a:t>
            </a:r>
          </a:p>
        </p:txBody>
      </p:sp>
      <p:sp>
        <p:nvSpPr>
          <p:cNvPr id="20" name="TextBox 19"/>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OPTIMIZATION</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$5.52M identified, across 36 opportunities</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Detected from the FOCUS frame by rule, not read from a vendor's recommendation API</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2011680"/>
          <a:ext cx="4480560" cy="3200400"/>
        </p:xfrm>
        <a:graphic>
          <a:graphicData uri="http://schemas.openxmlformats.org/drawingml/2006/chart">
            <c:chart xmlns:c="http://schemas.openxmlformats.org/drawingml/2006/chart" r:id="rId2"/>
          </a:graphicData>
        </a:graphic>
      </p:graphicFrame>
      <p:sp>
        <p:nvSpPr>
          <p:cNvPr id="7" name="TextBox 6"/>
          <p:cNvSpPr txBox="1"/>
          <p:nvPr/>
        </p:nvSpPr>
        <p:spPr>
          <a:xfrm>
            <a:off x="5486400" y="1965960"/>
            <a:ext cx="6035040" cy="320040"/>
          </a:xfrm>
          <a:prstGeom prst="rect">
            <a:avLst/>
          </a:prstGeom>
          <a:noFill/>
        </p:spPr>
        <p:txBody>
          <a:bodyPr wrap="square">
            <a:spAutoFit/>
          </a:bodyPr>
          <a:lstStyle/>
          <a:p>
            <a:pPr algn="l">
              <a:spcAft>
                <a:spcPts val="400"/>
              </a:spcAft>
            </a:pPr>
            <a:r>
              <a:rPr sz="1300" b="1">
                <a:solidFill>
                  <a:srgbClr val="0B142A"/>
                </a:solidFill>
                <a:latin typeface="Segoe UI"/>
              </a:rPr>
              <a:t>Largest opportunities</a:t>
            </a:r>
          </a:p>
        </p:txBody>
      </p:sp>
      <p:sp>
        <p:nvSpPr>
          <p:cNvPr id="8" name="Rounded Rectangle 7"/>
          <p:cNvSpPr/>
          <p:nvPr/>
        </p:nvSpPr>
        <p:spPr>
          <a:xfrm>
            <a:off x="5486400" y="2377440"/>
            <a:ext cx="6035040" cy="292608"/>
          </a:xfrm>
          <a:prstGeom prst="roundRect">
            <a:avLst>
              <a:gd name="adj" fmla="val 6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577840" y="2395728"/>
            <a:ext cx="548640" cy="256032"/>
          </a:xfrm>
          <a:prstGeom prst="rect">
            <a:avLst/>
          </a:prstGeom>
          <a:noFill/>
        </p:spPr>
        <p:txBody>
          <a:bodyPr wrap="square">
            <a:spAutoFit/>
          </a:bodyPr>
          <a:lstStyle/>
          <a:p>
            <a:pPr algn="l">
              <a:spcAft>
                <a:spcPts val="400"/>
              </a:spcAft>
            </a:pPr>
            <a:r>
              <a:rPr sz="900" b="1">
                <a:solidFill>
                  <a:srgbClr val="7A8599"/>
                </a:solidFill>
                <a:latin typeface="Segoe UI"/>
              </a:rPr>
              <a:t>Lever</a:t>
            </a:r>
          </a:p>
        </p:txBody>
      </p:sp>
      <p:sp>
        <p:nvSpPr>
          <p:cNvPr id="10" name="TextBox 9"/>
          <p:cNvSpPr txBox="1"/>
          <p:nvPr/>
        </p:nvSpPr>
        <p:spPr>
          <a:xfrm>
            <a:off x="6172200" y="2395728"/>
            <a:ext cx="2468880" cy="256032"/>
          </a:xfrm>
          <a:prstGeom prst="rect">
            <a:avLst/>
          </a:prstGeom>
          <a:noFill/>
        </p:spPr>
        <p:txBody>
          <a:bodyPr wrap="square">
            <a:spAutoFit/>
          </a:bodyPr>
          <a:lstStyle/>
          <a:p>
            <a:pPr algn="l">
              <a:spcAft>
                <a:spcPts val="400"/>
              </a:spcAft>
            </a:pPr>
            <a:r>
              <a:rPr sz="900" b="1">
                <a:solidFill>
                  <a:srgbClr val="7A8599"/>
                </a:solidFill>
                <a:latin typeface="Segoe UI"/>
              </a:rPr>
              <a:t>Name</a:t>
            </a:r>
          </a:p>
        </p:txBody>
      </p:sp>
      <p:sp>
        <p:nvSpPr>
          <p:cNvPr id="11" name="TextBox 10"/>
          <p:cNvSpPr txBox="1"/>
          <p:nvPr/>
        </p:nvSpPr>
        <p:spPr>
          <a:xfrm>
            <a:off x="8686800" y="2395728"/>
            <a:ext cx="914400" cy="256032"/>
          </a:xfrm>
          <a:prstGeom prst="rect">
            <a:avLst/>
          </a:prstGeom>
          <a:noFill/>
        </p:spPr>
        <p:txBody>
          <a:bodyPr wrap="square">
            <a:spAutoFit/>
          </a:bodyPr>
          <a:lstStyle/>
          <a:p>
            <a:pPr algn="l">
              <a:spcAft>
                <a:spcPts val="400"/>
              </a:spcAft>
            </a:pPr>
            <a:r>
              <a:rPr sz="900" b="1">
                <a:solidFill>
                  <a:srgbClr val="7A8599"/>
                </a:solidFill>
                <a:latin typeface="Segoe UI"/>
              </a:rPr>
              <a:t>Cloud</a:t>
            </a:r>
          </a:p>
        </p:txBody>
      </p:sp>
      <p:sp>
        <p:nvSpPr>
          <p:cNvPr id="12" name="TextBox 11"/>
          <p:cNvSpPr txBox="1"/>
          <p:nvPr/>
        </p:nvSpPr>
        <p:spPr>
          <a:xfrm>
            <a:off x="9646920" y="2395728"/>
            <a:ext cx="1005840" cy="256032"/>
          </a:xfrm>
          <a:prstGeom prst="rect">
            <a:avLst/>
          </a:prstGeom>
          <a:noFill/>
        </p:spPr>
        <p:txBody>
          <a:bodyPr wrap="square">
            <a:spAutoFit/>
          </a:bodyPr>
          <a:lstStyle/>
          <a:p>
            <a:pPr algn="l">
              <a:spcAft>
                <a:spcPts val="400"/>
              </a:spcAft>
            </a:pPr>
            <a:r>
              <a:rPr sz="900" b="1">
                <a:solidFill>
                  <a:srgbClr val="7A8599"/>
                </a:solidFill>
                <a:latin typeface="Segoe UI"/>
              </a:rPr>
              <a:t>Annual</a:t>
            </a:r>
          </a:p>
        </p:txBody>
      </p:sp>
      <p:sp>
        <p:nvSpPr>
          <p:cNvPr id="13" name="TextBox 12"/>
          <p:cNvSpPr txBox="1"/>
          <p:nvPr/>
        </p:nvSpPr>
        <p:spPr>
          <a:xfrm>
            <a:off x="10698480" y="2395728"/>
            <a:ext cx="777240" cy="256032"/>
          </a:xfrm>
          <a:prstGeom prst="rect">
            <a:avLst/>
          </a:prstGeom>
          <a:noFill/>
        </p:spPr>
        <p:txBody>
          <a:bodyPr wrap="square">
            <a:spAutoFit/>
          </a:bodyPr>
          <a:lstStyle/>
          <a:p>
            <a:pPr algn="l">
              <a:spcAft>
                <a:spcPts val="400"/>
              </a:spcAft>
            </a:pPr>
            <a:r>
              <a:rPr sz="900" b="1">
                <a:solidFill>
                  <a:srgbClr val="7A8599"/>
                </a:solidFill>
                <a:latin typeface="Segoe UI"/>
              </a:rPr>
              <a:t>Effort/Risk</a:t>
            </a:r>
          </a:p>
        </p:txBody>
      </p:sp>
      <p:sp>
        <p:nvSpPr>
          <p:cNvPr id="14" name="TextBox 13"/>
          <p:cNvSpPr txBox="1"/>
          <p:nvPr/>
        </p:nvSpPr>
        <p:spPr>
          <a:xfrm>
            <a:off x="5577840" y="2706624"/>
            <a:ext cx="548640" cy="274320"/>
          </a:xfrm>
          <a:prstGeom prst="rect">
            <a:avLst/>
          </a:prstGeom>
          <a:noFill/>
        </p:spPr>
        <p:txBody>
          <a:bodyPr wrap="square">
            <a:spAutoFit/>
          </a:bodyPr>
          <a:lstStyle/>
          <a:p>
            <a:pPr algn="l">
              <a:spcAft>
                <a:spcPts val="400"/>
              </a:spcAft>
            </a:pPr>
            <a:r>
              <a:rPr sz="950" b="1">
                <a:solidFill>
                  <a:srgbClr val="0B142A"/>
                </a:solidFill>
                <a:latin typeface="Segoe UI"/>
              </a:rPr>
              <a:t>R1</a:t>
            </a:r>
          </a:p>
        </p:txBody>
      </p:sp>
      <p:sp>
        <p:nvSpPr>
          <p:cNvPr id="15" name="TextBox 14"/>
          <p:cNvSpPr txBox="1"/>
          <p:nvPr/>
        </p:nvSpPr>
        <p:spPr>
          <a:xfrm>
            <a:off x="6172200" y="2706624"/>
            <a:ext cx="2468880" cy="274320"/>
          </a:xfrm>
          <a:prstGeom prst="rect">
            <a:avLst/>
          </a:prstGeom>
          <a:noFill/>
        </p:spPr>
        <p:txBody>
          <a:bodyPr wrap="square">
            <a:spAutoFit/>
          </a:bodyPr>
          <a:lstStyle/>
          <a:p>
            <a:pPr algn="l">
              <a:spcAft>
                <a:spcPts val="400"/>
              </a:spcAft>
            </a:pPr>
            <a:r>
              <a:rPr sz="950" b="0">
                <a:solidFill>
                  <a:srgbClr val="445066"/>
                </a:solidFill>
                <a:latin typeface="Segoe UI"/>
              </a:rPr>
              <a:t>AWS Compute Savings Plan</a:t>
            </a:r>
          </a:p>
        </p:txBody>
      </p:sp>
      <p:sp>
        <p:nvSpPr>
          <p:cNvPr id="16" name="TextBox 15"/>
          <p:cNvSpPr txBox="1"/>
          <p:nvPr/>
        </p:nvSpPr>
        <p:spPr>
          <a:xfrm>
            <a:off x="8686800" y="2706624"/>
            <a:ext cx="914400" cy="274320"/>
          </a:xfrm>
          <a:prstGeom prst="rect">
            <a:avLst/>
          </a:prstGeom>
          <a:noFill/>
        </p:spPr>
        <p:txBody>
          <a:bodyPr wrap="square">
            <a:spAutoFit/>
          </a:bodyPr>
          <a:lstStyle/>
          <a:p>
            <a:pPr algn="l">
              <a:spcAft>
                <a:spcPts val="400"/>
              </a:spcAft>
            </a:pPr>
            <a:r>
              <a:rPr sz="950" b="0">
                <a:solidFill>
                  <a:srgbClr val="445066"/>
                </a:solidFill>
                <a:latin typeface="Segoe UI"/>
              </a:rPr>
              <a:t>AWS</a:t>
            </a:r>
          </a:p>
        </p:txBody>
      </p:sp>
      <p:sp>
        <p:nvSpPr>
          <p:cNvPr id="17" name="TextBox 16"/>
          <p:cNvSpPr txBox="1"/>
          <p:nvPr/>
        </p:nvSpPr>
        <p:spPr>
          <a:xfrm>
            <a:off x="9646920" y="2706624"/>
            <a:ext cx="1005840" cy="274320"/>
          </a:xfrm>
          <a:prstGeom prst="rect">
            <a:avLst/>
          </a:prstGeom>
          <a:noFill/>
        </p:spPr>
        <p:txBody>
          <a:bodyPr wrap="square">
            <a:spAutoFit/>
          </a:bodyPr>
          <a:lstStyle/>
          <a:p>
            <a:pPr algn="l">
              <a:spcAft>
                <a:spcPts val="400"/>
              </a:spcAft>
            </a:pPr>
            <a:r>
              <a:rPr sz="950" b="1">
                <a:solidFill>
                  <a:srgbClr val="0B142A"/>
                </a:solidFill>
                <a:latin typeface="Segoe UI"/>
              </a:rPr>
              <a:t>$1.19M</a:t>
            </a:r>
          </a:p>
        </p:txBody>
      </p:sp>
      <p:sp>
        <p:nvSpPr>
          <p:cNvPr id="18" name="TextBox 17"/>
          <p:cNvSpPr txBox="1"/>
          <p:nvPr/>
        </p:nvSpPr>
        <p:spPr>
          <a:xfrm>
            <a:off x="10698480" y="2706624"/>
            <a:ext cx="777240" cy="274320"/>
          </a:xfrm>
          <a:prstGeom prst="rect">
            <a:avLst/>
          </a:prstGeom>
          <a:noFill/>
        </p:spPr>
        <p:txBody>
          <a:bodyPr wrap="square">
            <a:spAutoFit/>
          </a:bodyPr>
          <a:lstStyle/>
          <a:p>
            <a:pPr algn="l">
              <a:spcAft>
                <a:spcPts val="400"/>
              </a:spcAft>
            </a:pPr>
            <a:r>
              <a:rPr sz="950" b="0">
                <a:solidFill>
                  <a:srgbClr val="445066"/>
                </a:solidFill>
                <a:latin typeface="Segoe UI"/>
              </a:rPr>
              <a:t>Low/Low</a:t>
            </a:r>
          </a:p>
        </p:txBody>
      </p:sp>
      <p:sp>
        <p:nvSpPr>
          <p:cNvPr id="19" name="TextBox 18"/>
          <p:cNvSpPr txBox="1"/>
          <p:nvPr/>
        </p:nvSpPr>
        <p:spPr>
          <a:xfrm>
            <a:off x="5577840" y="3035808"/>
            <a:ext cx="548640" cy="274320"/>
          </a:xfrm>
          <a:prstGeom prst="rect">
            <a:avLst/>
          </a:prstGeom>
          <a:noFill/>
        </p:spPr>
        <p:txBody>
          <a:bodyPr wrap="square">
            <a:spAutoFit/>
          </a:bodyPr>
          <a:lstStyle/>
          <a:p>
            <a:pPr algn="l">
              <a:spcAft>
                <a:spcPts val="400"/>
              </a:spcAft>
            </a:pPr>
            <a:r>
              <a:rPr sz="950" b="1">
                <a:solidFill>
                  <a:srgbClr val="0B142A"/>
                </a:solidFill>
                <a:latin typeface="Segoe UI"/>
              </a:rPr>
              <a:t>U10</a:t>
            </a:r>
          </a:p>
        </p:txBody>
      </p:sp>
      <p:sp>
        <p:nvSpPr>
          <p:cNvPr id="20" name="TextBox 19"/>
          <p:cNvSpPr txBox="1"/>
          <p:nvPr/>
        </p:nvSpPr>
        <p:spPr>
          <a:xfrm>
            <a:off x="6172200" y="3035808"/>
            <a:ext cx="2468880" cy="274320"/>
          </a:xfrm>
          <a:prstGeom prst="rect">
            <a:avLst/>
          </a:prstGeom>
          <a:noFill/>
        </p:spPr>
        <p:txBody>
          <a:bodyPr wrap="square">
            <a:spAutoFit/>
          </a:bodyPr>
          <a:lstStyle/>
          <a:p>
            <a:pPr algn="l">
              <a:spcAft>
                <a:spcPts val="400"/>
              </a:spcAft>
            </a:pPr>
            <a:r>
              <a:rPr sz="950" b="0">
                <a:solidFill>
                  <a:srgbClr val="445066"/>
                </a:solidFill>
                <a:latin typeface="Segoe UI"/>
              </a:rPr>
              <a:t>Schedule / park non-prod</a:t>
            </a:r>
          </a:p>
        </p:txBody>
      </p:sp>
      <p:sp>
        <p:nvSpPr>
          <p:cNvPr id="21" name="TextBox 20"/>
          <p:cNvSpPr txBox="1"/>
          <p:nvPr/>
        </p:nvSpPr>
        <p:spPr>
          <a:xfrm>
            <a:off x="8686800" y="3035808"/>
            <a:ext cx="914400" cy="274320"/>
          </a:xfrm>
          <a:prstGeom prst="rect">
            <a:avLst/>
          </a:prstGeom>
          <a:noFill/>
        </p:spPr>
        <p:txBody>
          <a:bodyPr wrap="square">
            <a:spAutoFit/>
          </a:bodyPr>
          <a:lstStyle/>
          <a:p>
            <a:pPr algn="l">
              <a:spcAft>
                <a:spcPts val="400"/>
              </a:spcAft>
            </a:pPr>
            <a:r>
              <a:rPr sz="950" b="0">
                <a:solidFill>
                  <a:srgbClr val="445066"/>
                </a:solidFill>
                <a:latin typeface="Segoe UI"/>
              </a:rPr>
              <a:t>AWS, Azure, GC</a:t>
            </a:r>
          </a:p>
        </p:txBody>
      </p:sp>
      <p:sp>
        <p:nvSpPr>
          <p:cNvPr id="22" name="TextBox 21"/>
          <p:cNvSpPr txBox="1"/>
          <p:nvPr/>
        </p:nvSpPr>
        <p:spPr>
          <a:xfrm>
            <a:off x="9646920" y="3035808"/>
            <a:ext cx="1005840" cy="274320"/>
          </a:xfrm>
          <a:prstGeom prst="rect">
            <a:avLst/>
          </a:prstGeom>
          <a:noFill/>
        </p:spPr>
        <p:txBody>
          <a:bodyPr wrap="square">
            <a:spAutoFit/>
          </a:bodyPr>
          <a:lstStyle/>
          <a:p>
            <a:pPr algn="l">
              <a:spcAft>
                <a:spcPts val="400"/>
              </a:spcAft>
            </a:pPr>
            <a:r>
              <a:rPr sz="950" b="1">
                <a:solidFill>
                  <a:srgbClr val="0B142A"/>
                </a:solidFill>
                <a:latin typeface="Segoe UI"/>
              </a:rPr>
              <a:t>$787K</a:t>
            </a:r>
          </a:p>
        </p:txBody>
      </p:sp>
      <p:sp>
        <p:nvSpPr>
          <p:cNvPr id="23" name="TextBox 22"/>
          <p:cNvSpPr txBox="1"/>
          <p:nvPr/>
        </p:nvSpPr>
        <p:spPr>
          <a:xfrm>
            <a:off x="10698480" y="3035808"/>
            <a:ext cx="777240" cy="274320"/>
          </a:xfrm>
          <a:prstGeom prst="rect">
            <a:avLst/>
          </a:prstGeom>
          <a:noFill/>
        </p:spPr>
        <p:txBody>
          <a:bodyPr wrap="square">
            <a:spAutoFit/>
          </a:bodyPr>
          <a:lstStyle/>
          <a:p>
            <a:pPr algn="l">
              <a:spcAft>
                <a:spcPts val="400"/>
              </a:spcAft>
            </a:pPr>
            <a:r>
              <a:rPr sz="950" b="0">
                <a:solidFill>
                  <a:srgbClr val="445066"/>
                </a:solidFill>
                <a:latin typeface="Segoe UI"/>
              </a:rPr>
              <a:t>Low/Low</a:t>
            </a:r>
          </a:p>
        </p:txBody>
      </p:sp>
      <p:sp>
        <p:nvSpPr>
          <p:cNvPr id="24" name="TextBox 23"/>
          <p:cNvSpPr txBox="1"/>
          <p:nvPr/>
        </p:nvSpPr>
        <p:spPr>
          <a:xfrm>
            <a:off x="5577840" y="3364992"/>
            <a:ext cx="548640" cy="274320"/>
          </a:xfrm>
          <a:prstGeom prst="rect">
            <a:avLst/>
          </a:prstGeom>
          <a:noFill/>
        </p:spPr>
        <p:txBody>
          <a:bodyPr wrap="square">
            <a:spAutoFit/>
          </a:bodyPr>
          <a:lstStyle/>
          <a:p>
            <a:pPr algn="l">
              <a:spcAft>
                <a:spcPts val="400"/>
              </a:spcAft>
            </a:pPr>
            <a:r>
              <a:rPr sz="950" b="1">
                <a:solidFill>
                  <a:srgbClr val="0B142A"/>
                </a:solidFill>
                <a:latin typeface="Segoe UI"/>
              </a:rPr>
              <a:t>R5</a:t>
            </a:r>
          </a:p>
        </p:txBody>
      </p:sp>
      <p:sp>
        <p:nvSpPr>
          <p:cNvPr id="25" name="TextBox 24"/>
          <p:cNvSpPr txBox="1"/>
          <p:nvPr/>
        </p:nvSpPr>
        <p:spPr>
          <a:xfrm>
            <a:off x="6172200" y="3364992"/>
            <a:ext cx="2468880" cy="274320"/>
          </a:xfrm>
          <a:prstGeom prst="rect">
            <a:avLst/>
          </a:prstGeom>
          <a:noFill/>
        </p:spPr>
        <p:txBody>
          <a:bodyPr wrap="square">
            <a:spAutoFit/>
          </a:bodyPr>
          <a:lstStyle/>
          <a:p>
            <a:pPr algn="l">
              <a:spcAft>
                <a:spcPts val="400"/>
              </a:spcAft>
            </a:pPr>
            <a:r>
              <a:rPr sz="950" b="0">
                <a:solidFill>
                  <a:srgbClr val="445066"/>
                </a:solidFill>
                <a:latin typeface="Segoe UI"/>
              </a:rPr>
              <a:t>Azure Reservations</a:t>
            </a:r>
          </a:p>
        </p:txBody>
      </p:sp>
      <p:sp>
        <p:nvSpPr>
          <p:cNvPr id="26" name="TextBox 25"/>
          <p:cNvSpPr txBox="1"/>
          <p:nvPr/>
        </p:nvSpPr>
        <p:spPr>
          <a:xfrm>
            <a:off x="8686800" y="3364992"/>
            <a:ext cx="914400" cy="274320"/>
          </a:xfrm>
          <a:prstGeom prst="rect">
            <a:avLst/>
          </a:prstGeom>
          <a:noFill/>
        </p:spPr>
        <p:txBody>
          <a:bodyPr wrap="square">
            <a:spAutoFit/>
          </a:bodyPr>
          <a:lstStyle/>
          <a:p>
            <a:pPr algn="l">
              <a:spcAft>
                <a:spcPts val="400"/>
              </a:spcAft>
            </a:pPr>
            <a:r>
              <a:rPr sz="950" b="0">
                <a:solidFill>
                  <a:srgbClr val="445066"/>
                </a:solidFill>
                <a:latin typeface="Segoe UI"/>
              </a:rPr>
              <a:t>Azure</a:t>
            </a:r>
          </a:p>
        </p:txBody>
      </p:sp>
      <p:sp>
        <p:nvSpPr>
          <p:cNvPr id="27" name="TextBox 26"/>
          <p:cNvSpPr txBox="1"/>
          <p:nvPr/>
        </p:nvSpPr>
        <p:spPr>
          <a:xfrm>
            <a:off x="9646920" y="3364992"/>
            <a:ext cx="1005840" cy="274320"/>
          </a:xfrm>
          <a:prstGeom prst="rect">
            <a:avLst/>
          </a:prstGeom>
          <a:noFill/>
        </p:spPr>
        <p:txBody>
          <a:bodyPr wrap="square">
            <a:spAutoFit/>
          </a:bodyPr>
          <a:lstStyle/>
          <a:p>
            <a:pPr algn="l">
              <a:spcAft>
                <a:spcPts val="400"/>
              </a:spcAft>
            </a:pPr>
            <a:r>
              <a:rPr sz="950" b="1">
                <a:solidFill>
                  <a:srgbClr val="0B142A"/>
                </a:solidFill>
                <a:latin typeface="Segoe UI"/>
              </a:rPr>
              <a:t>$745K</a:t>
            </a:r>
          </a:p>
        </p:txBody>
      </p:sp>
      <p:sp>
        <p:nvSpPr>
          <p:cNvPr id="28" name="TextBox 27"/>
          <p:cNvSpPr txBox="1"/>
          <p:nvPr/>
        </p:nvSpPr>
        <p:spPr>
          <a:xfrm>
            <a:off x="10698480" y="3364992"/>
            <a:ext cx="777240" cy="274320"/>
          </a:xfrm>
          <a:prstGeom prst="rect">
            <a:avLst/>
          </a:prstGeom>
          <a:noFill/>
        </p:spPr>
        <p:txBody>
          <a:bodyPr wrap="square">
            <a:spAutoFit/>
          </a:bodyPr>
          <a:lstStyle/>
          <a:p>
            <a:pPr algn="l">
              <a:spcAft>
                <a:spcPts val="400"/>
              </a:spcAft>
            </a:pPr>
            <a:r>
              <a:rPr sz="950" b="0">
                <a:solidFill>
                  <a:srgbClr val="445066"/>
                </a:solidFill>
                <a:latin typeface="Segoe UI"/>
              </a:rPr>
              <a:t>Low/Medium</a:t>
            </a:r>
          </a:p>
        </p:txBody>
      </p:sp>
      <p:sp>
        <p:nvSpPr>
          <p:cNvPr id="29" name="TextBox 28"/>
          <p:cNvSpPr txBox="1"/>
          <p:nvPr/>
        </p:nvSpPr>
        <p:spPr>
          <a:xfrm>
            <a:off x="5577840" y="3694176"/>
            <a:ext cx="548640" cy="274320"/>
          </a:xfrm>
          <a:prstGeom prst="rect">
            <a:avLst/>
          </a:prstGeom>
          <a:noFill/>
        </p:spPr>
        <p:txBody>
          <a:bodyPr wrap="square">
            <a:spAutoFit/>
          </a:bodyPr>
          <a:lstStyle/>
          <a:p>
            <a:pPr algn="l">
              <a:spcAft>
                <a:spcPts val="400"/>
              </a:spcAft>
            </a:pPr>
            <a:r>
              <a:rPr sz="950" b="1">
                <a:solidFill>
                  <a:srgbClr val="0B142A"/>
                </a:solidFill>
                <a:latin typeface="Segoe UI"/>
              </a:rPr>
              <a:t>R7</a:t>
            </a:r>
          </a:p>
        </p:txBody>
      </p:sp>
      <p:sp>
        <p:nvSpPr>
          <p:cNvPr id="30" name="TextBox 29"/>
          <p:cNvSpPr txBox="1"/>
          <p:nvPr/>
        </p:nvSpPr>
        <p:spPr>
          <a:xfrm>
            <a:off x="6172200" y="3694176"/>
            <a:ext cx="2468880" cy="274320"/>
          </a:xfrm>
          <a:prstGeom prst="rect">
            <a:avLst/>
          </a:prstGeom>
          <a:noFill/>
        </p:spPr>
        <p:txBody>
          <a:bodyPr wrap="square">
            <a:spAutoFit/>
          </a:bodyPr>
          <a:lstStyle/>
          <a:p>
            <a:pPr algn="l">
              <a:spcAft>
                <a:spcPts val="400"/>
              </a:spcAft>
            </a:pPr>
            <a:r>
              <a:rPr sz="950" b="0">
                <a:solidFill>
                  <a:srgbClr val="445066"/>
                </a:solidFill>
                <a:latin typeface="Segoe UI"/>
              </a:rPr>
              <a:t>GCP Flexible (spend-based) CUD</a:t>
            </a:r>
          </a:p>
        </p:txBody>
      </p:sp>
      <p:sp>
        <p:nvSpPr>
          <p:cNvPr id="31" name="TextBox 30"/>
          <p:cNvSpPr txBox="1"/>
          <p:nvPr/>
        </p:nvSpPr>
        <p:spPr>
          <a:xfrm>
            <a:off x="8686800" y="3694176"/>
            <a:ext cx="914400" cy="274320"/>
          </a:xfrm>
          <a:prstGeom prst="rect">
            <a:avLst/>
          </a:prstGeom>
          <a:noFill/>
        </p:spPr>
        <p:txBody>
          <a:bodyPr wrap="square">
            <a:spAutoFit/>
          </a:bodyPr>
          <a:lstStyle/>
          <a:p>
            <a:pPr algn="l">
              <a:spcAft>
                <a:spcPts val="400"/>
              </a:spcAft>
            </a:pPr>
            <a:r>
              <a:rPr sz="950" b="0">
                <a:solidFill>
                  <a:srgbClr val="445066"/>
                </a:solidFill>
                <a:latin typeface="Segoe UI"/>
              </a:rPr>
              <a:t>GCP</a:t>
            </a:r>
          </a:p>
        </p:txBody>
      </p:sp>
      <p:sp>
        <p:nvSpPr>
          <p:cNvPr id="32" name="TextBox 31"/>
          <p:cNvSpPr txBox="1"/>
          <p:nvPr/>
        </p:nvSpPr>
        <p:spPr>
          <a:xfrm>
            <a:off x="9646920" y="3694176"/>
            <a:ext cx="1005840" cy="274320"/>
          </a:xfrm>
          <a:prstGeom prst="rect">
            <a:avLst/>
          </a:prstGeom>
          <a:noFill/>
        </p:spPr>
        <p:txBody>
          <a:bodyPr wrap="square">
            <a:spAutoFit/>
          </a:bodyPr>
          <a:lstStyle/>
          <a:p>
            <a:pPr algn="l">
              <a:spcAft>
                <a:spcPts val="400"/>
              </a:spcAft>
            </a:pPr>
            <a:r>
              <a:rPr sz="950" b="1">
                <a:solidFill>
                  <a:srgbClr val="0B142A"/>
                </a:solidFill>
                <a:latin typeface="Segoe UI"/>
              </a:rPr>
              <a:t>$462K</a:t>
            </a:r>
          </a:p>
        </p:txBody>
      </p:sp>
      <p:sp>
        <p:nvSpPr>
          <p:cNvPr id="33" name="TextBox 32"/>
          <p:cNvSpPr txBox="1"/>
          <p:nvPr/>
        </p:nvSpPr>
        <p:spPr>
          <a:xfrm>
            <a:off x="10698480" y="3694176"/>
            <a:ext cx="777240" cy="274320"/>
          </a:xfrm>
          <a:prstGeom prst="rect">
            <a:avLst/>
          </a:prstGeom>
          <a:noFill/>
        </p:spPr>
        <p:txBody>
          <a:bodyPr wrap="square">
            <a:spAutoFit/>
          </a:bodyPr>
          <a:lstStyle/>
          <a:p>
            <a:pPr algn="l">
              <a:spcAft>
                <a:spcPts val="400"/>
              </a:spcAft>
            </a:pPr>
            <a:r>
              <a:rPr sz="950" b="0">
                <a:solidFill>
                  <a:srgbClr val="445066"/>
                </a:solidFill>
                <a:latin typeface="Segoe UI"/>
              </a:rPr>
              <a:t>Low/Low</a:t>
            </a:r>
          </a:p>
        </p:txBody>
      </p:sp>
      <p:sp>
        <p:nvSpPr>
          <p:cNvPr id="34" name="TextBox 33"/>
          <p:cNvSpPr txBox="1"/>
          <p:nvPr/>
        </p:nvSpPr>
        <p:spPr>
          <a:xfrm>
            <a:off x="5577840" y="4023360"/>
            <a:ext cx="548640" cy="274320"/>
          </a:xfrm>
          <a:prstGeom prst="rect">
            <a:avLst/>
          </a:prstGeom>
          <a:noFill/>
        </p:spPr>
        <p:txBody>
          <a:bodyPr wrap="square">
            <a:spAutoFit/>
          </a:bodyPr>
          <a:lstStyle/>
          <a:p>
            <a:pPr algn="l">
              <a:spcAft>
                <a:spcPts val="400"/>
              </a:spcAft>
            </a:pPr>
            <a:r>
              <a:rPr sz="950" b="1">
                <a:solidFill>
                  <a:srgbClr val="0B142A"/>
                </a:solidFill>
                <a:latin typeface="Segoe UI"/>
              </a:rPr>
              <a:t>R17</a:t>
            </a:r>
          </a:p>
        </p:txBody>
      </p:sp>
      <p:sp>
        <p:nvSpPr>
          <p:cNvPr id="35" name="TextBox 34"/>
          <p:cNvSpPr txBox="1"/>
          <p:nvPr/>
        </p:nvSpPr>
        <p:spPr>
          <a:xfrm>
            <a:off x="6172200" y="4023360"/>
            <a:ext cx="2468880" cy="274320"/>
          </a:xfrm>
          <a:prstGeom prst="rect">
            <a:avLst/>
          </a:prstGeom>
          <a:noFill/>
        </p:spPr>
        <p:txBody>
          <a:bodyPr wrap="square">
            <a:spAutoFit/>
          </a:bodyPr>
          <a:lstStyle/>
          <a:p>
            <a:pPr algn="l">
              <a:spcAft>
                <a:spcPts val="400"/>
              </a:spcAft>
            </a:pPr>
            <a:r>
              <a:rPr sz="950" b="0">
                <a:solidFill>
                  <a:srgbClr val="445066"/>
                </a:solidFill>
                <a:latin typeface="Segoe UI"/>
              </a:rPr>
              <a:t>OCI Annual Universal Credits</a:t>
            </a:r>
          </a:p>
        </p:txBody>
      </p:sp>
      <p:sp>
        <p:nvSpPr>
          <p:cNvPr id="36" name="TextBox 35"/>
          <p:cNvSpPr txBox="1"/>
          <p:nvPr/>
        </p:nvSpPr>
        <p:spPr>
          <a:xfrm>
            <a:off x="8686800" y="4023360"/>
            <a:ext cx="914400" cy="274320"/>
          </a:xfrm>
          <a:prstGeom prst="rect">
            <a:avLst/>
          </a:prstGeom>
          <a:noFill/>
        </p:spPr>
        <p:txBody>
          <a:bodyPr wrap="square">
            <a:spAutoFit/>
          </a:bodyPr>
          <a:lstStyle/>
          <a:p>
            <a:pPr algn="l">
              <a:spcAft>
                <a:spcPts val="400"/>
              </a:spcAft>
            </a:pPr>
            <a:r>
              <a:rPr sz="950" b="0">
                <a:solidFill>
                  <a:srgbClr val="445066"/>
                </a:solidFill>
                <a:latin typeface="Segoe UI"/>
              </a:rPr>
              <a:t>OCI</a:t>
            </a:r>
          </a:p>
        </p:txBody>
      </p:sp>
      <p:sp>
        <p:nvSpPr>
          <p:cNvPr id="37" name="TextBox 36"/>
          <p:cNvSpPr txBox="1"/>
          <p:nvPr/>
        </p:nvSpPr>
        <p:spPr>
          <a:xfrm>
            <a:off x="9646920" y="4023360"/>
            <a:ext cx="1005840" cy="274320"/>
          </a:xfrm>
          <a:prstGeom prst="rect">
            <a:avLst/>
          </a:prstGeom>
          <a:noFill/>
        </p:spPr>
        <p:txBody>
          <a:bodyPr wrap="square">
            <a:spAutoFit/>
          </a:bodyPr>
          <a:lstStyle/>
          <a:p>
            <a:pPr algn="l">
              <a:spcAft>
                <a:spcPts val="400"/>
              </a:spcAft>
            </a:pPr>
            <a:r>
              <a:rPr sz="950" b="1">
                <a:solidFill>
                  <a:srgbClr val="0B142A"/>
                </a:solidFill>
                <a:latin typeface="Segoe UI"/>
              </a:rPr>
              <a:t>$340K</a:t>
            </a:r>
          </a:p>
        </p:txBody>
      </p:sp>
      <p:sp>
        <p:nvSpPr>
          <p:cNvPr id="38" name="TextBox 37"/>
          <p:cNvSpPr txBox="1"/>
          <p:nvPr/>
        </p:nvSpPr>
        <p:spPr>
          <a:xfrm>
            <a:off x="10698480" y="4023360"/>
            <a:ext cx="777240" cy="274320"/>
          </a:xfrm>
          <a:prstGeom prst="rect">
            <a:avLst/>
          </a:prstGeom>
          <a:noFill/>
        </p:spPr>
        <p:txBody>
          <a:bodyPr wrap="square">
            <a:spAutoFit/>
          </a:bodyPr>
          <a:lstStyle/>
          <a:p>
            <a:pPr algn="l">
              <a:spcAft>
                <a:spcPts val="400"/>
              </a:spcAft>
            </a:pPr>
            <a:r>
              <a:rPr sz="950" b="0">
                <a:solidFill>
                  <a:srgbClr val="445066"/>
                </a:solidFill>
                <a:latin typeface="Segoe UI"/>
              </a:rPr>
              <a:t>Low/Low</a:t>
            </a:r>
          </a:p>
        </p:txBody>
      </p:sp>
      <p:sp>
        <p:nvSpPr>
          <p:cNvPr id="39" name="TextBox 38"/>
          <p:cNvSpPr txBox="1"/>
          <p:nvPr/>
        </p:nvSpPr>
        <p:spPr>
          <a:xfrm>
            <a:off x="5577840" y="4352544"/>
            <a:ext cx="548640" cy="274320"/>
          </a:xfrm>
          <a:prstGeom prst="rect">
            <a:avLst/>
          </a:prstGeom>
          <a:noFill/>
        </p:spPr>
        <p:txBody>
          <a:bodyPr wrap="square">
            <a:spAutoFit/>
          </a:bodyPr>
          <a:lstStyle/>
          <a:p>
            <a:pPr algn="l">
              <a:spcAft>
                <a:spcPts val="400"/>
              </a:spcAft>
            </a:pPr>
            <a:r>
              <a:rPr sz="950" b="1">
                <a:solidFill>
                  <a:srgbClr val="0B142A"/>
                </a:solidFill>
                <a:latin typeface="Segoe UI"/>
              </a:rPr>
              <a:t>U17</a:t>
            </a:r>
          </a:p>
        </p:txBody>
      </p:sp>
      <p:sp>
        <p:nvSpPr>
          <p:cNvPr id="40" name="TextBox 39"/>
          <p:cNvSpPr txBox="1"/>
          <p:nvPr/>
        </p:nvSpPr>
        <p:spPr>
          <a:xfrm>
            <a:off x="6172200" y="4352544"/>
            <a:ext cx="2468880" cy="274320"/>
          </a:xfrm>
          <a:prstGeom prst="rect">
            <a:avLst/>
          </a:prstGeom>
          <a:noFill/>
        </p:spPr>
        <p:txBody>
          <a:bodyPr wrap="square">
            <a:spAutoFit/>
          </a:bodyPr>
          <a:lstStyle/>
          <a:p>
            <a:pPr algn="l">
              <a:spcAft>
                <a:spcPts val="400"/>
              </a:spcAft>
            </a:pPr>
            <a:r>
              <a:rPr sz="950" b="0">
                <a:solidFill>
                  <a:srgbClr val="445066"/>
                </a:solidFill>
                <a:latin typeface="Segoe UI"/>
              </a:rPr>
              <a:t>Previous-generation instance fam</a:t>
            </a:r>
          </a:p>
        </p:txBody>
      </p:sp>
      <p:sp>
        <p:nvSpPr>
          <p:cNvPr id="41" name="TextBox 40"/>
          <p:cNvSpPr txBox="1"/>
          <p:nvPr/>
        </p:nvSpPr>
        <p:spPr>
          <a:xfrm>
            <a:off x="8686800" y="4352544"/>
            <a:ext cx="914400" cy="274320"/>
          </a:xfrm>
          <a:prstGeom prst="rect">
            <a:avLst/>
          </a:prstGeom>
          <a:noFill/>
        </p:spPr>
        <p:txBody>
          <a:bodyPr wrap="square">
            <a:spAutoFit/>
          </a:bodyPr>
          <a:lstStyle/>
          <a:p>
            <a:pPr algn="l">
              <a:spcAft>
                <a:spcPts val="400"/>
              </a:spcAft>
            </a:pPr>
            <a:r>
              <a:rPr sz="950" b="0">
                <a:solidFill>
                  <a:srgbClr val="445066"/>
                </a:solidFill>
                <a:latin typeface="Segoe UI"/>
              </a:rPr>
              <a:t>AWS, Azure, GC</a:t>
            </a:r>
          </a:p>
        </p:txBody>
      </p:sp>
      <p:sp>
        <p:nvSpPr>
          <p:cNvPr id="42" name="TextBox 41"/>
          <p:cNvSpPr txBox="1"/>
          <p:nvPr/>
        </p:nvSpPr>
        <p:spPr>
          <a:xfrm>
            <a:off x="9646920" y="4352544"/>
            <a:ext cx="1005840" cy="274320"/>
          </a:xfrm>
          <a:prstGeom prst="rect">
            <a:avLst/>
          </a:prstGeom>
          <a:noFill/>
        </p:spPr>
        <p:txBody>
          <a:bodyPr wrap="square">
            <a:spAutoFit/>
          </a:bodyPr>
          <a:lstStyle/>
          <a:p>
            <a:pPr algn="l">
              <a:spcAft>
                <a:spcPts val="400"/>
              </a:spcAft>
            </a:pPr>
            <a:r>
              <a:rPr sz="950" b="1">
                <a:solidFill>
                  <a:srgbClr val="0B142A"/>
                </a:solidFill>
                <a:latin typeface="Segoe UI"/>
              </a:rPr>
              <a:t>$179K</a:t>
            </a:r>
          </a:p>
        </p:txBody>
      </p:sp>
      <p:sp>
        <p:nvSpPr>
          <p:cNvPr id="43" name="TextBox 42"/>
          <p:cNvSpPr txBox="1"/>
          <p:nvPr/>
        </p:nvSpPr>
        <p:spPr>
          <a:xfrm>
            <a:off x="10698480" y="4352544"/>
            <a:ext cx="777240" cy="274320"/>
          </a:xfrm>
          <a:prstGeom prst="rect">
            <a:avLst/>
          </a:prstGeom>
          <a:noFill/>
        </p:spPr>
        <p:txBody>
          <a:bodyPr wrap="square">
            <a:spAutoFit/>
          </a:bodyPr>
          <a:lstStyle/>
          <a:p>
            <a:pPr algn="l">
              <a:spcAft>
                <a:spcPts val="400"/>
              </a:spcAft>
            </a:pPr>
            <a:r>
              <a:rPr sz="950" b="0">
                <a:solidFill>
                  <a:srgbClr val="445066"/>
                </a:solidFill>
                <a:latin typeface="Segoe UI"/>
              </a:rPr>
              <a:t>Low/Low</a:t>
            </a:r>
          </a:p>
        </p:txBody>
      </p:sp>
      <p:sp>
        <p:nvSpPr>
          <p:cNvPr id="44" name="TextBox 43"/>
          <p:cNvSpPr txBox="1"/>
          <p:nvPr/>
        </p:nvSpPr>
        <p:spPr>
          <a:xfrm>
            <a:off x="5577840" y="4681728"/>
            <a:ext cx="548640" cy="274320"/>
          </a:xfrm>
          <a:prstGeom prst="rect">
            <a:avLst/>
          </a:prstGeom>
          <a:noFill/>
        </p:spPr>
        <p:txBody>
          <a:bodyPr wrap="square">
            <a:spAutoFit/>
          </a:bodyPr>
          <a:lstStyle/>
          <a:p>
            <a:pPr algn="l">
              <a:spcAft>
                <a:spcPts val="400"/>
              </a:spcAft>
            </a:pPr>
            <a:r>
              <a:rPr sz="950" b="1">
                <a:solidFill>
                  <a:srgbClr val="0B142A"/>
                </a:solidFill>
                <a:latin typeface="Segoe UI"/>
              </a:rPr>
              <a:t>R9</a:t>
            </a:r>
          </a:p>
        </p:txBody>
      </p:sp>
      <p:sp>
        <p:nvSpPr>
          <p:cNvPr id="45" name="TextBox 44"/>
          <p:cNvSpPr txBox="1"/>
          <p:nvPr/>
        </p:nvSpPr>
        <p:spPr>
          <a:xfrm>
            <a:off x="6172200" y="4681728"/>
            <a:ext cx="2468880" cy="274320"/>
          </a:xfrm>
          <a:prstGeom prst="rect">
            <a:avLst/>
          </a:prstGeom>
          <a:noFill/>
        </p:spPr>
        <p:txBody>
          <a:bodyPr wrap="square">
            <a:spAutoFit/>
          </a:bodyPr>
          <a:lstStyle/>
          <a:p>
            <a:pPr algn="l">
              <a:spcAft>
                <a:spcPts val="400"/>
              </a:spcAft>
            </a:pPr>
            <a:r>
              <a:rPr sz="950" b="0">
                <a:solidFill>
                  <a:srgbClr val="445066"/>
                </a:solidFill>
                <a:latin typeface="Segoe UI"/>
              </a:rPr>
              <a:t>Spot / Preemptible / Azure Spot</a:t>
            </a:r>
          </a:p>
        </p:txBody>
      </p:sp>
      <p:sp>
        <p:nvSpPr>
          <p:cNvPr id="46" name="TextBox 45"/>
          <p:cNvSpPr txBox="1"/>
          <p:nvPr/>
        </p:nvSpPr>
        <p:spPr>
          <a:xfrm>
            <a:off x="8686800" y="4681728"/>
            <a:ext cx="914400" cy="274320"/>
          </a:xfrm>
          <a:prstGeom prst="rect">
            <a:avLst/>
          </a:prstGeom>
          <a:noFill/>
        </p:spPr>
        <p:txBody>
          <a:bodyPr wrap="square">
            <a:spAutoFit/>
          </a:bodyPr>
          <a:lstStyle/>
          <a:p>
            <a:pPr algn="l">
              <a:spcAft>
                <a:spcPts val="400"/>
              </a:spcAft>
            </a:pPr>
            <a:r>
              <a:rPr sz="950" b="0">
                <a:solidFill>
                  <a:srgbClr val="445066"/>
                </a:solidFill>
                <a:latin typeface="Segoe UI"/>
              </a:rPr>
              <a:t>AWS</a:t>
            </a:r>
          </a:p>
        </p:txBody>
      </p:sp>
      <p:sp>
        <p:nvSpPr>
          <p:cNvPr id="47" name="TextBox 46"/>
          <p:cNvSpPr txBox="1"/>
          <p:nvPr/>
        </p:nvSpPr>
        <p:spPr>
          <a:xfrm>
            <a:off x="9646920" y="4681728"/>
            <a:ext cx="1005840" cy="274320"/>
          </a:xfrm>
          <a:prstGeom prst="rect">
            <a:avLst/>
          </a:prstGeom>
          <a:noFill/>
        </p:spPr>
        <p:txBody>
          <a:bodyPr wrap="square">
            <a:spAutoFit/>
          </a:bodyPr>
          <a:lstStyle/>
          <a:p>
            <a:pPr algn="l">
              <a:spcAft>
                <a:spcPts val="400"/>
              </a:spcAft>
            </a:pPr>
            <a:r>
              <a:rPr sz="950" b="1">
                <a:solidFill>
                  <a:srgbClr val="0B142A"/>
                </a:solidFill>
                <a:latin typeface="Segoe UI"/>
              </a:rPr>
              <a:t>$152K</a:t>
            </a:r>
          </a:p>
        </p:txBody>
      </p:sp>
      <p:sp>
        <p:nvSpPr>
          <p:cNvPr id="48" name="TextBox 47"/>
          <p:cNvSpPr txBox="1"/>
          <p:nvPr/>
        </p:nvSpPr>
        <p:spPr>
          <a:xfrm>
            <a:off x="10698480" y="4681728"/>
            <a:ext cx="777240" cy="274320"/>
          </a:xfrm>
          <a:prstGeom prst="rect">
            <a:avLst/>
          </a:prstGeom>
          <a:noFill/>
        </p:spPr>
        <p:txBody>
          <a:bodyPr wrap="square">
            <a:spAutoFit/>
          </a:bodyPr>
          <a:lstStyle/>
          <a:p>
            <a:pPr algn="l">
              <a:spcAft>
                <a:spcPts val="400"/>
              </a:spcAft>
            </a:pPr>
            <a:r>
              <a:rPr sz="950" b="0">
                <a:solidFill>
                  <a:srgbClr val="445066"/>
                </a:solidFill>
                <a:latin typeface="Segoe UI"/>
              </a:rPr>
              <a:t>Medium/High</a:t>
            </a:r>
          </a:p>
        </p:txBody>
      </p:sp>
      <p:sp>
        <p:nvSpPr>
          <p:cNvPr id="49" name="TextBox 48"/>
          <p:cNvSpPr txBox="1"/>
          <p:nvPr/>
        </p:nvSpPr>
        <p:spPr>
          <a:xfrm>
            <a:off x="5577840" y="5010912"/>
            <a:ext cx="548640" cy="274320"/>
          </a:xfrm>
          <a:prstGeom prst="rect">
            <a:avLst/>
          </a:prstGeom>
          <a:noFill/>
        </p:spPr>
        <p:txBody>
          <a:bodyPr wrap="square">
            <a:spAutoFit/>
          </a:bodyPr>
          <a:lstStyle/>
          <a:p>
            <a:pPr algn="l">
              <a:spcAft>
                <a:spcPts val="400"/>
              </a:spcAft>
            </a:pPr>
            <a:r>
              <a:rPr sz="950" b="1">
                <a:solidFill>
                  <a:srgbClr val="0B142A"/>
                </a:solidFill>
                <a:latin typeface="Segoe UI"/>
              </a:rPr>
              <a:t>R12</a:t>
            </a:r>
          </a:p>
        </p:txBody>
      </p:sp>
      <p:sp>
        <p:nvSpPr>
          <p:cNvPr id="50" name="TextBox 49"/>
          <p:cNvSpPr txBox="1"/>
          <p:nvPr/>
        </p:nvSpPr>
        <p:spPr>
          <a:xfrm>
            <a:off x="6172200" y="5010912"/>
            <a:ext cx="2468880" cy="274320"/>
          </a:xfrm>
          <a:prstGeom prst="rect">
            <a:avLst/>
          </a:prstGeom>
          <a:noFill/>
        </p:spPr>
        <p:txBody>
          <a:bodyPr wrap="square">
            <a:spAutoFit/>
          </a:bodyPr>
          <a:lstStyle/>
          <a:p>
            <a:pPr algn="l">
              <a:spcAft>
                <a:spcPts val="400"/>
              </a:spcAft>
            </a:pPr>
            <a:r>
              <a:rPr sz="950" b="0">
                <a:solidFill>
                  <a:srgbClr val="445066"/>
                </a:solidFill>
                <a:latin typeface="Segoe UI"/>
              </a:rPr>
              <a:t>BYOL / licence mobility</a:t>
            </a:r>
          </a:p>
        </p:txBody>
      </p:sp>
      <p:sp>
        <p:nvSpPr>
          <p:cNvPr id="51" name="TextBox 50"/>
          <p:cNvSpPr txBox="1"/>
          <p:nvPr/>
        </p:nvSpPr>
        <p:spPr>
          <a:xfrm>
            <a:off x="8686800" y="5010912"/>
            <a:ext cx="914400" cy="274320"/>
          </a:xfrm>
          <a:prstGeom prst="rect">
            <a:avLst/>
          </a:prstGeom>
          <a:noFill/>
        </p:spPr>
        <p:txBody>
          <a:bodyPr wrap="square">
            <a:spAutoFit/>
          </a:bodyPr>
          <a:lstStyle/>
          <a:p>
            <a:pPr algn="l">
              <a:spcAft>
                <a:spcPts val="400"/>
              </a:spcAft>
            </a:pPr>
            <a:r>
              <a:rPr sz="950" b="0">
                <a:solidFill>
                  <a:srgbClr val="445066"/>
                </a:solidFill>
                <a:latin typeface="Segoe UI"/>
              </a:rPr>
              <a:t>AWS</a:t>
            </a:r>
          </a:p>
        </p:txBody>
      </p:sp>
      <p:sp>
        <p:nvSpPr>
          <p:cNvPr id="52" name="TextBox 51"/>
          <p:cNvSpPr txBox="1"/>
          <p:nvPr/>
        </p:nvSpPr>
        <p:spPr>
          <a:xfrm>
            <a:off x="9646920" y="5010912"/>
            <a:ext cx="1005840" cy="274320"/>
          </a:xfrm>
          <a:prstGeom prst="rect">
            <a:avLst/>
          </a:prstGeom>
          <a:noFill/>
        </p:spPr>
        <p:txBody>
          <a:bodyPr wrap="square">
            <a:spAutoFit/>
          </a:bodyPr>
          <a:lstStyle/>
          <a:p>
            <a:pPr algn="l">
              <a:spcAft>
                <a:spcPts val="400"/>
              </a:spcAft>
            </a:pPr>
            <a:r>
              <a:rPr sz="950" b="1">
                <a:solidFill>
                  <a:srgbClr val="0B142A"/>
                </a:solidFill>
                <a:latin typeface="Segoe UI"/>
              </a:rPr>
              <a:t>$151K</a:t>
            </a:r>
          </a:p>
        </p:txBody>
      </p:sp>
      <p:sp>
        <p:nvSpPr>
          <p:cNvPr id="53" name="TextBox 52"/>
          <p:cNvSpPr txBox="1"/>
          <p:nvPr/>
        </p:nvSpPr>
        <p:spPr>
          <a:xfrm>
            <a:off x="10698480" y="5010912"/>
            <a:ext cx="777240" cy="274320"/>
          </a:xfrm>
          <a:prstGeom prst="rect">
            <a:avLst/>
          </a:prstGeom>
          <a:noFill/>
        </p:spPr>
        <p:txBody>
          <a:bodyPr wrap="square">
            <a:spAutoFit/>
          </a:bodyPr>
          <a:lstStyle/>
          <a:p>
            <a:pPr algn="l">
              <a:spcAft>
                <a:spcPts val="400"/>
              </a:spcAft>
            </a:pPr>
            <a:r>
              <a:rPr sz="950" b="0">
                <a:solidFill>
                  <a:srgbClr val="445066"/>
                </a:solidFill>
                <a:latin typeface="Segoe UI"/>
              </a:rPr>
              <a:t>Medium/Medium</a:t>
            </a:r>
          </a:p>
        </p:txBody>
      </p:sp>
      <p:sp>
        <p:nvSpPr>
          <p:cNvPr id="54" name="TextBox 53"/>
          <p:cNvSpPr txBox="1"/>
          <p:nvPr/>
        </p:nvSpPr>
        <p:spPr>
          <a:xfrm>
            <a:off x="640080" y="5440680"/>
            <a:ext cx="10881360" cy="731520"/>
          </a:xfrm>
          <a:prstGeom prst="rect">
            <a:avLst/>
          </a:prstGeom>
          <a:noFill/>
        </p:spPr>
        <p:txBody>
          <a:bodyPr wrap="square">
            <a:spAutoFit/>
          </a:bodyPr>
          <a:lstStyle/>
          <a:p>
            <a:pPr algn="l">
              <a:spcAft>
                <a:spcPts val="400"/>
              </a:spcAft>
            </a:pPr>
            <a:r>
              <a:rPr sz="1050" b="0">
                <a:solidFill>
                  <a:srgbClr val="445066"/>
                </a:solidFill>
                <a:latin typeface="Segoe UI"/>
              </a:rPr>
              <a:t>Executing the rate levers alone would move Effective Savings Rate from 21.6% to 40.2% (+18.6 points). Savings percentages in the catalog are vendor 'up-to' figures — ceilings, not guarantees. Where a detector cannot see what it needs (access patterns, CPU utilisation) it lowers its confidence and says so.</a:t>
            </a:r>
          </a:p>
        </p:txBody>
      </p:sp>
      <p:sp>
        <p:nvSpPr>
          <p:cNvPr id="55" name="TextBox 54"/>
          <p:cNvSpPr txBox="1"/>
          <p:nvPr/>
        </p:nvSpPr>
        <p:spPr>
          <a:xfrm>
            <a:off x="640080" y="6355080"/>
            <a:ext cx="8686800" cy="274320"/>
          </a:xfrm>
          <a:prstGeom prst="rect">
            <a:avLst/>
          </a:prstGeom>
          <a:noFill/>
        </p:spPr>
        <p:txBody>
          <a:bodyPr wrap="square">
            <a:spAutoFit/>
          </a:bodyPr>
          <a:lstStyle/>
          <a:p>
            <a:pPr algn="l">
              <a:spcAft>
                <a:spcPts val="400"/>
              </a:spcAft>
            </a:pPr>
            <a:r>
              <a:rPr sz="850" b="0">
                <a:solidFill>
                  <a:srgbClr val="7A8599"/>
                </a:solidFill>
                <a:latin typeface="Segoe UI"/>
              </a:rPr>
              <a:t>Figures computed from a synthetic 24-month utility estate shipped with the platform. No customer data.</a:t>
            </a:r>
          </a:p>
        </p:txBody>
      </p:sp>
      <p:sp>
        <p:nvSpPr>
          <p:cNvPr id="56" name="TextBox 55"/>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ANOMALY DETECTION</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Catching the runaway workload, not the weekend</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STL decomposition, then a median-absolute-deviation test on the residual</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10881360" cy="329184"/>
          </a:xfrm>
          <a:prstGeom prst="roundRect">
            <a:avLst>
              <a:gd name="adj" fmla="val 6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039112"/>
            <a:ext cx="1463040" cy="274320"/>
          </a:xfrm>
          <a:prstGeom prst="rect">
            <a:avLst/>
          </a:prstGeom>
          <a:noFill/>
        </p:spPr>
        <p:txBody>
          <a:bodyPr wrap="square">
            <a:spAutoFit/>
          </a:bodyPr>
          <a:lstStyle/>
          <a:p>
            <a:pPr algn="l">
              <a:spcAft>
                <a:spcPts val="400"/>
              </a:spcAft>
            </a:pPr>
            <a:r>
              <a:rPr sz="1000" b="1">
                <a:solidFill>
                  <a:srgbClr val="7A8599"/>
                </a:solidFill>
                <a:latin typeface="Segoe UI"/>
              </a:rPr>
              <a:t>Date</a:t>
            </a:r>
          </a:p>
        </p:txBody>
      </p:sp>
      <p:sp>
        <p:nvSpPr>
          <p:cNvPr id="8" name="TextBox 7"/>
          <p:cNvSpPr txBox="1"/>
          <p:nvPr/>
        </p:nvSpPr>
        <p:spPr>
          <a:xfrm>
            <a:off x="2377439" y="2039112"/>
            <a:ext cx="2743200" cy="274320"/>
          </a:xfrm>
          <a:prstGeom prst="rect">
            <a:avLst/>
          </a:prstGeom>
          <a:noFill/>
        </p:spPr>
        <p:txBody>
          <a:bodyPr wrap="square">
            <a:spAutoFit/>
          </a:bodyPr>
          <a:lstStyle/>
          <a:p>
            <a:pPr algn="l">
              <a:spcAft>
                <a:spcPts val="400"/>
              </a:spcAft>
            </a:pPr>
            <a:r>
              <a:rPr sz="1000" b="1">
                <a:solidFill>
                  <a:srgbClr val="7A8599"/>
                </a:solidFill>
                <a:latin typeface="Segoe UI"/>
              </a:rPr>
              <a:t>Service category</a:t>
            </a:r>
          </a:p>
        </p:txBody>
      </p:sp>
      <p:sp>
        <p:nvSpPr>
          <p:cNvPr id="9" name="TextBox 8"/>
          <p:cNvSpPr txBox="1"/>
          <p:nvPr/>
        </p:nvSpPr>
        <p:spPr>
          <a:xfrm>
            <a:off x="5303520" y="2039112"/>
            <a:ext cx="1280160" cy="274320"/>
          </a:xfrm>
          <a:prstGeom prst="rect">
            <a:avLst/>
          </a:prstGeom>
          <a:noFill/>
        </p:spPr>
        <p:txBody>
          <a:bodyPr wrap="square">
            <a:spAutoFit/>
          </a:bodyPr>
          <a:lstStyle/>
          <a:p>
            <a:pPr algn="l">
              <a:spcAft>
                <a:spcPts val="400"/>
              </a:spcAft>
            </a:pPr>
            <a:r>
              <a:rPr sz="1000" b="1">
                <a:solidFill>
                  <a:srgbClr val="7A8599"/>
                </a:solidFill>
                <a:latin typeface="Segoe UI"/>
              </a:rPr>
              <a:t>Actual</a:t>
            </a:r>
          </a:p>
        </p:txBody>
      </p:sp>
      <p:sp>
        <p:nvSpPr>
          <p:cNvPr id="10" name="TextBox 9"/>
          <p:cNvSpPr txBox="1"/>
          <p:nvPr/>
        </p:nvSpPr>
        <p:spPr>
          <a:xfrm>
            <a:off x="6766560" y="2039112"/>
            <a:ext cx="1280160" cy="274320"/>
          </a:xfrm>
          <a:prstGeom prst="rect">
            <a:avLst/>
          </a:prstGeom>
          <a:noFill/>
        </p:spPr>
        <p:txBody>
          <a:bodyPr wrap="square">
            <a:spAutoFit/>
          </a:bodyPr>
          <a:lstStyle/>
          <a:p>
            <a:pPr algn="l">
              <a:spcAft>
                <a:spcPts val="400"/>
              </a:spcAft>
            </a:pPr>
            <a:r>
              <a:rPr sz="1000" b="1">
                <a:solidFill>
                  <a:srgbClr val="7A8599"/>
                </a:solidFill>
                <a:latin typeface="Segoe UI"/>
              </a:rPr>
              <a:t>Expected</a:t>
            </a:r>
          </a:p>
        </p:txBody>
      </p:sp>
      <p:sp>
        <p:nvSpPr>
          <p:cNvPr id="11" name="TextBox 10"/>
          <p:cNvSpPr txBox="1"/>
          <p:nvPr/>
        </p:nvSpPr>
        <p:spPr>
          <a:xfrm>
            <a:off x="8321040" y="2039112"/>
            <a:ext cx="1463040" cy="274320"/>
          </a:xfrm>
          <a:prstGeom prst="rect">
            <a:avLst/>
          </a:prstGeom>
          <a:noFill/>
        </p:spPr>
        <p:txBody>
          <a:bodyPr wrap="square">
            <a:spAutoFit/>
          </a:bodyPr>
          <a:lstStyle/>
          <a:p>
            <a:pPr algn="l">
              <a:spcAft>
                <a:spcPts val="400"/>
              </a:spcAft>
            </a:pPr>
            <a:r>
              <a:rPr sz="1000" b="1">
                <a:solidFill>
                  <a:srgbClr val="7A8599"/>
                </a:solidFill>
                <a:latin typeface="Segoe UI"/>
              </a:rPr>
              <a:t>Deviation</a:t>
            </a:r>
          </a:p>
        </p:txBody>
      </p:sp>
      <p:sp>
        <p:nvSpPr>
          <p:cNvPr id="12" name="TextBox 11"/>
          <p:cNvSpPr txBox="1"/>
          <p:nvPr/>
        </p:nvSpPr>
        <p:spPr>
          <a:xfrm>
            <a:off x="9966959" y="2039112"/>
            <a:ext cx="1463040" cy="274320"/>
          </a:xfrm>
          <a:prstGeom prst="rect">
            <a:avLst/>
          </a:prstGeom>
          <a:noFill/>
        </p:spPr>
        <p:txBody>
          <a:bodyPr wrap="square">
            <a:spAutoFit/>
          </a:bodyPr>
          <a:lstStyle/>
          <a:p>
            <a:pPr algn="l">
              <a:spcAft>
                <a:spcPts val="400"/>
              </a:spcAft>
            </a:pPr>
            <a:r>
              <a:rPr sz="1000" b="1">
                <a:solidFill>
                  <a:srgbClr val="7A8599"/>
                </a:solidFill>
                <a:latin typeface="Segoe UI"/>
              </a:rPr>
              <a:t>Severity</a:t>
            </a:r>
          </a:p>
        </p:txBody>
      </p:sp>
      <p:sp>
        <p:nvSpPr>
          <p:cNvPr id="13" name="TextBox 12"/>
          <p:cNvSpPr txBox="1"/>
          <p:nvPr/>
        </p:nvSpPr>
        <p:spPr>
          <a:xfrm>
            <a:off x="777240" y="2414016"/>
            <a:ext cx="1463040" cy="292608"/>
          </a:xfrm>
          <a:prstGeom prst="rect">
            <a:avLst/>
          </a:prstGeom>
          <a:noFill/>
        </p:spPr>
        <p:txBody>
          <a:bodyPr wrap="square">
            <a:spAutoFit/>
          </a:bodyPr>
          <a:lstStyle/>
          <a:p>
            <a:pPr algn="l">
              <a:spcAft>
                <a:spcPts val="400"/>
              </a:spcAft>
            </a:pPr>
            <a:r>
              <a:rPr sz="1050" b="0">
                <a:solidFill>
                  <a:srgbClr val="445066"/>
                </a:solidFill>
                <a:latin typeface="Segoe UI"/>
              </a:rPr>
              <a:t>20 May 2026</a:t>
            </a:r>
          </a:p>
        </p:txBody>
      </p:sp>
      <p:sp>
        <p:nvSpPr>
          <p:cNvPr id="14" name="TextBox 13"/>
          <p:cNvSpPr txBox="1"/>
          <p:nvPr/>
        </p:nvSpPr>
        <p:spPr>
          <a:xfrm>
            <a:off x="2377439" y="2414016"/>
            <a:ext cx="2743200" cy="292608"/>
          </a:xfrm>
          <a:prstGeom prst="rect">
            <a:avLst/>
          </a:prstGeom>
          <a:noFill/>
        </p:spPr>
        <p:txBody>
          <a:bodyPr wrap="square">
            <a:spAutoFit/>
          </a:bodyPr>
          <a:lstStyle/>
          <a:p>
            <a:pPr algn="l">
              <a:spcAft>
                <a:spcPts val="400"/>
              </a:spcAft>
            </a:pPr>
            <a:r>
              <a:rPr sz="1050" b="0">
                <a:solidFill>
                  <a:srgbClr val="0B142A"/>
                </a:solidFill>
                <a:latin typeface="Segoe UI"/>
              </a:rPr>
              <a:t>Analytics</a:t>
            </a:r>
          </a:p>
        </p:txBody>
      </p:sp>
      <p:sp>
        <p:nvSpPr>
          <p:cNvPr id="15" name="TextBox 14"/>
          <p:cNvSpPr txBox="1"/>
          <p:nvPr/>
        </p:nvSpPr>
        <p:spPr>
          <a:xfrm>
            <a:off x="5303520" y="2414016"/>
            <a:ext cx="1280160" cy="292608"/>
          </a:xfrm>
          <a:prstGeom prst="rect">
            <a:avLst/>
          </a:prstGeom>
          <a:noFill/>
        </p:spPr>
        <p:txBody>
          <a:bodyPr wrap="square">
            <a:spAutoFit/>
          </a:bodyPr>
          <a:lstStyle/>
          <a:p>
            <a:pPr algn="l">
              <a:spcAft>
                <a:spcPts val="400"/>
              </a:spcAft>
            </a:pPr>
            <a:r>
              <a:rPr sz="1050" b="0">
                <a:solidFill>
                  <a:srgbClr val="445066"/>
                </a:solidFill>
                <a:latin typeface="Segoe UI"/>
              </a:rPr>
              <a:t>$27K</a:t>
            </a:r>
          </a:p>
        </p:txBody>
      </p:sp>
      <p:sp>
        <p:nvSpPr>
          <p:cNvPr id="16" name="TextBox 15"/>
          <p:cNvSpPr txBox="1"/>
          <p:nvPr/>
        </p:nvSpPr>
        <p:spPr>
          <a:xfrm>
            <a:off x="6766560" y="2414016"/>
            <a:ext cx="1280160" cy="292608"/>
          </a:xfrm>
          <a:prstGeom prst="rect">
            <a:avLst/>
          </a:prstGeom>
          <a:noFill/>
        </p:spPr>
        <p:txBody>
          <a:bodyPr wrap="square">
            <a:spAutoFit/>
          </a:bodyPr>
          <a:lstStyle/>
          <a:p>
            <a:pPr algn="l">
              <a:spcAft>
                <a:spcPts val="400"/>
              </a:spcAft>
            </a:pPr>
            <a:r>
              <a:rPr sz="1050" b="0">
                <a:solidFill>
                  <a:srgbClr val="7A8599"/>
                </a:solidFill>
                <a:latin typeface="Segoe UI"/>
              </a:rPr>
              <a:t>$5K</a:t>
            </a:r>
          </a:p>
        </p:txBody>
      </p:sp>
      <p:sp>
        <p:nvSpPr>
          <p:cNvPr id="17" name="TextBox 16"/>
          <p:cNvSpPr txBox="1"/>
          <p:nvPr/>
        </p:nvSpPr>
        <p:spPr>
          <a:xfrm>
            <a:off x="8321040" y="2414016"/>
            <a:ext cx="1463040" cy="292608"/>
          </a:xfrm>
          <a:prstGeom prst="rect">
            <a:avLst/>
          </a:prstGeom>
          <a:noFill/>
        </p:spPr>
        <p:txBody>
          <a:bodyPr wrap="square">
            <a:spAutoFit/>
          </a:bodyPr>
          <a:lstStyle/>
          <a:p>
            <a:pPr algn="l">
              <a:spcAft>
                <a:spcPts val="400"/>
              </a:spcAft>
            </a:pPr>
            <a:r>
              <a:rPr sz="1050" b="0">
                <a:solidFill>
                  <a:srgbClr val="C23333"/>
                </a:solidFill>
                <a:latin typeface="Segoe UI"/>
              </a:rPr>
              <a:t>+489%</a:t>
            </a:r>
          </a:p>
        </p:txBody>
      </p:sp>
      <p:sp>
        <p:nvSpPr>
          <p:cNvPr id="18" name="TextBox 17"/>
          <p:cNvSpPr txBox="1"/>
          <p:nvPr/>
        </p:nvSpPr>
        <p:spPr>
          <a:xfrm>
            <a:off x="9966959" y="2414016"/>
            <a:ext cx="1463040" cy="292608"/>
          </a:xfrm>
          <a:prstGeom prst="rect">
            <a:avLst/>
          </a:prstGeom>
          <a:noFill/>
        </p:spPr>
        <p:txBody>
          <a:bodyPr wrap="square">
            <a:spAutoFit/>
          </a:bodyPr>
          <a:lstStyle/>
          <a:p>
            <a:pPr algn="l">
              <a:spcAft>
                <a:spcPts val="400"/>
              </a:spcAft>
            </a:pPr>
            <a:r>
              <a:rPr sz="1050" b="0">
                <a:solidFill>
                  <a:srgbClr val="C23333"/>
                </a:solidFill>
                <a:latin typeface="Segoe UI"/>
              </a:rPr>
              <a:t>Critical</a:t>
            </a:r>
          </a:p>
        </p:txBody>
      </p:sp>
      <p:sp>
        <p:nvSpPr>
          <p:cNvPr id="19" name="TextBox 18"/>
          <p:cNvSpPr txBox="1"/>
          <p:nvPr/>
        </p:nvSpPr>
        <p:spPr>
          <a:xfrm>
            <a:off x="777240" y="2798064"/>
            <a:ext cx="1463040" cy="292608"/>
          </a:xfrm>
          <a:prstGeom prst="rect">
            <a:avLst/>
          </a:prstGeom>
          <a:noFill/>
        </p:spPr>
        <p:txBody>
          <a:bodyPr wrap="square">
            <a:spAutoFit/>
          </a:bodyPr>
          <a:lstStyle/>
          <a:p>
            <a:pPr algn="l">
              <a:spcAft>
                <a:spcPts val="400"/>
              </a:spcAft>
            </a:pPr>
            <a:r>
              <a:rPr sz="1050" b="0">
                <a:solidFill>
                  <a:srgbClr val="445066"/>
                </a:solidFill>
                <a:latin typeface="Segoe UI"/>
              </a:rPr>
              <a:t>13 Jun 2026</a:t>
            </a:r>
          </a:p>
        </p:txBody>
      </p:sp>
      <p:sp>
        <p:nvSpPr>
          <p:cNvPr id="20" name="TextBox 19"/>
          <p:cNvSpPr txBox="1"/>
          <p:nvPr/>
        </p:nvSpPr>
        <p:spPr>
          <a:xfrm>
            <a:off x="2377439" y="2798064"/>
            <a:ext cx="2743200" cy="292608"/>
          </a:xfrm>
          <a:prstGeom prst="rect">
            <a:avLst/>
          </a:prstGeom>
          <a:noFill/>
        </p:spPr>
        <p:txBody>
          <a:bodyPr wrap="square">
            <a:spAutoFit/>
          </a:bodyPr>
          <a:lstStyle/>
          <a:p>
            <a:pPr algn="l">
              <a:spcAft>
                <a:spcPts val="400"/>
              </a:spcAft>
            </a:pPr>
            <a:r>
              <a:rPr sz="1050" b="0">
                <a:solidFill>
                  <a:srgbClr val="0B142A"/>
                </a:solidFill>
                <a:latin typeface="Segoe UI"/>
              </a:rPr>
              <a:t>Networking</a:t>
            </a:r>
          </a:p>
        </p:txBody>
      </p:sp>
      <p:sp>
        <p:nvSpPr>
          <p:cNvPr id="21" name="TextBox 20"/>
          <p:cNvSpPr txBox="1"/>
          <p:nvPr/>
        </p:nvSpPr>
        <p:spPr>
          <a:xfrm>
            <a:off x="5303520" y="2798064"/>
            <a:ext cx="1280160" cy="292608"/>
          </a:xfrm>
          <a:prstGeom prst="rect">
            <a:avLst/>
          </a:prstGeom>
          <a:noFill/>
        </p:spPr>
        <p:txBody>
          <a:bodyPr wrap="square">
            <a:spAutoFit/>
          </a:bodyPr>
          <a:lstStyle/>
          <a:p>
            <a:pPr algn="l">
              <a:spcAft>
                <a:spcPts val="400"/>
              </a:spcAft>
            </a:pPr>
            <a:r>
              <a:rPr sz="1050" b="0">
                <a:solidFill>
                  <a:srgbClr val="445066"/>
                </a:solidFill>
                <a:latin typeface="Segoe UI"/>
              </a:rPr>
              <a:t>$10K</a:t>
            </a:r>
          </a:p>
        </p:txBody>
      </p:sp>
      <p:sp>
        <p:nvSpPr>
          <p:cNvPr id="22" name="TextBox 21"/>
          <p:cNvSpPr txBox="1"/>
          <p:nvPr/>
        </p:nvSpPr>
        <p:spPr>
          <a:xfrm>
            <a:off x="6766560" y="2798064"/>
            <a:ext cx="1280160" cy="292608"/>
          </a:xfrm>
          <a:prstGeom prst="rect">
            <a:avLst/>
          </a:prstGeom>
          <a:noFill/>
        </p:spPr>
        <p:txBody>
          <a:bodyPr wrap="square">
            <a:spAutoFit/>
          </a:bodyPr>
          <a:lstStyle/>
          <a:p>
            <a:pPr algn="l">
              <a:spcAft>
                <a:spcPts val="400"/>
              </a:spcAft>
            </a:pPr>
            <a:r>
              <a:rPr sz="1050" b="0">
                <a:solidFill>
                  <a:srgbClr val="7A8599"/>
                </a:solidFill>
                <a:latin typeface="Segoe UI"/>
              </a:rPr>
              <a:t>$2K</a:t>
            </a:r>
          </a:p>
        </p:txBody>
      </p:sp>
      <p:sp>
        <p:nvSpPr>
          <p:cNvPr id="23" name="TextBox 22"/>
          <p:cNvSpPr txBox="1"/>
          <p:nvPr/>
        </p:nvSpPr>
        <p:spPr>
          <a:xfrm>
            <a:off x="8321040" y="2798064"/>
            <a:ext cx="1463040" cy="292608"/>
          </a:xfrm>
          <a:prstGeom prst="rect">
            <a:avLst/>
          </a:prstGeom>
          <a:noFill/>
        </p:spPr>
        <p:txBody>
          <a:bodyPr wrap="square">
            <a:spAutoFit/>
          </a:bodyPr>
          <a:lstStyle/>
          <a:p>
            <a:pPr algn="l">
              <a:spcAft>
                <a:spcPts val="400"/>
              </a:spcAft>
            </a:pPr>
            <a:r>
              <a:rPr sz="1050" b="0">
                <a:solidFill>
                  <a:srgbClr val="C23333"/>
                </a:solidFill>
                <a:latin typeface="Segoe UI"/>
              </a:rPr>
              <a:t>+388%</a:t>
            </a:r>
          </a:p>
        </p:txBody>
      </p:sp>
      <p:sp>
        <p:nvSpPr>
          <p:cNvPr id="24" name="TextBox 23"/>
          <p:cNvSpPr txBox="1"/>
          <p:nvPr/>
        </p:nvSpPr>
        <p:spPr>
          <a:xfrm>
            <a:off x="9966959" y="2798064"/>
            <a:ext cx="1463040" cy="292608"/>
          </a:xfrm>
          <a:prstGeom prst="rect">
            <a:avLst/>
          </a:prstGeom>
          <a:noFill/>
        </p:spPr>
        <p:txBody>
          <a:bodyPr wrap="square">
            <a:spAutoFit/>
          </a:bodyPr>
          <a:lstStyle/>
          <a:p>
            <a:pPr algn="l">
              <a:spcAft>
                <a:spcPts val="400"/>
              </a:spcAft>
            </a:pPr>
            <a:r>
              <a:rPr sz="1050" b="0">
                <a:solidFill>
                  <a:srgbClr val="C23333"/>
                </a:solidFill>
                <a:latin typeface="Segoe UI"/>
              </a:rPr>
              <a:t>Critical</a:t>
            </a:r>
          </a:p>
        </p:txBody>
      </p:sp>
      <p:sp>
        <p:nvSpPr>
          <p:cNvPr id="25" name="TextBox 24"/>
          <p:cNvSpPr txBox="1"/>
          <p:nvPr/>
        </p:nvSpPr>
        <p:spPr>
          <a:xfrm>
            <a:off x="777240" y="3182112"/>
            <a:ext cx="1463040" cy="292608"/>
          </a:xfrm>
          <a:prstGeom prst="rect">
            <a:avLst/>
          </a:prstGeom>
          <a:noFill/>
        </p:spPr>
        <p:txBody>
          <a:bodyPr wrap="square">
            <a:spAutoFit/>
          </a:bodyPr>
          <a:lstStyle/>
          <a:p>
            <a:pPr algn="l">
              <a:spcAft>
                <a:spcPts val="400"/>
              </a:spcAft>
            </a:pPr>
            <a:r>
              <a:rPr sz="1050" b="0">
                <a:solidFill>
                  <a:srgbClr val="445066"/>
                </a:solidFill>
                <a:latin typeface="Segoe UI"/>
              </a:rPr>
              <a:t>01 Nov 2025</a:t>
            </a:r>
          </a:p>
        </p:txBody>
      </p:sp>
      <p:sp>
        <p:nvSpPr>
          <p:cNvPr id="26" name="TextBox 25"/>
          <p:cNvSpPr txBox="1"/>
          <p:nvPr/>
        </p:nvSpPr>
        <p:spPr>
          <a:xfrm>
            <a:off x="2377439" y="3182112"/>
            <a:ext cx="2743200" cy="292608"/>
          </a:xfrm>
          <a:prstGeom prst="rect">
            <a:avLst/>
          </a:prstGeom>
          <a:noFill/>
        </p:spPr>
        <p:txBody>
          <a:bodyPr wrap="square">
            <a:spAutoFit/>
          </a:bodyPr>
          <a:lstStyle/>
          <a:p>
            <a:pPr algn="l">
              <a:spcAft>
                <a:spcPts val="400"/>
              </a:spcAft>
            </a:pPr>
            <a:r>
              <a:rPr sz="1050" b="0">
                <a:solidFill>
                  <a:srgbClr val="0B142A"/>
                </a:solidFill>
                <a:latin typeface="Segoe UI"/>
              </a:rPr>
              <a:t>AI and Machine Learning</a:t>
            </a:r>
          </a:p>
        </p:txBody>
      </p:sp>
      <p:sp>
        <p:nvSpPr>
          <p:cNvPr id="27" name="TextBox 26"/>
          <p:cNvSpPr txBox="1"/>
          <p:nvPr/>
        </p:nvSpPr>
        <p:spPr>
          <a:xfrm>
            <a:off x="5303520" y="3182112"/>
            <a:ext cx="1280160" cy="292608"/>
          </a:xfrm>
          <a:prstGeom prst="rect">
            <a:avLst/>
          </a:prstGeom>
          <a:noFill/>
        </p:spPr>
        <p:txBody>
          <a:bodyPr wrap="square">
            <a:spAutoFit/>
          </a:bodyPr>
          <a:lstStyle/>
          <a:p>
            <a:pPr algn="l">
              <a:spcAft>
                <a:spcPts val="400"/>
              </a:spcAft>
            </a:pPr>
            <a:r>
              <a:rPr sz="1050" b="0">
                <a:solidFill>
                  <a:srgbClr val="445066"/>
                </a:solidFill>
                <a:latin typeface="Segoe UI"/>
              </a:rPr>
              <a:t>$257</a:t>
            </a:r>
          </a:p>
        </p:txBody>
      </p:sp>
      <p:sp>
        <p:nvSpPr>
          <p:cNvPr id="28" name="TextBox 27"/>
          <p:cNvSpPr txBox="1"/>
          <p:nvPr/>
        </p:nvSpPr>
        <p:spPr>
          <a:xfrm>
            <a:off x="6766560" y="3182112"/>
            <a:ext cx="1280160" cy="292608"/>
          </a:xfrm>
          <a:prstGeom prst="rect">
            <a:avLst/>
          </a:prstGeom>
          <a:noFill/>
        </p:spPr>
        <p:txBody>
          <a:bodyPr wrap="square">
            <a:spAutoFit/>
          </a:bodyPr>
          <a:lstStyle/>
          <a:p>
            <a:pPr algn="l">
              <a:spcAft>
                <a:spcPts val="400"/>
              </a:spcAft>
            </a:pPr>
            <a:r>
              <a:rPr sz="1050" b="0">
                <a:solidFill>
                  <a:srgbClr val="7A8599"/>
                </a:solidFill>
                <a:latin typeface="Segoe UI"/>
              </a:rPr>
              <a:t>$158</a:t>
            </a:r>
          </a:p>
        </p:txBody>
      </p:sp>
      <p:sp>
        <p:nvSpPr>
          <p:cNvPr id="29" name="TextBox 28"/>
          <p:cNvSpPr txBox="1"/>
          <p:nvPr/>
        </p:nvSpPr>
        <p:spPr>
          <a:xfrm>
            <a:off x="8321040" y="3182112"/>
            <a:ext cx="1463040" cy="292608"/>
          </a:xfrm>
          <a:prstGeom prst="rect">
            <a:avLst/>
          </a:prstGeom>
          <a:noFill/>
        </p:spPr>
        <p:txBody>
          <a:bodyPr wrap="square">
            <a:spAutoFit/>
          </a:bodyPr>
          <a:lstStyle/>
          <a:p>
            <a:pPr algn="l">
              <a:spcAft>
                <a:spcPts val="400"/>
              </a:spcAft>
            </a:pPr>
            <a:r>
              <a:rPr sz="1050" b="0">
                <a:solidFill>
                  <a:srgbClr val="C9851F"/>
                </a:solidFill>
                <a:latin typeface="Segoe UI"/>
              </a:rPr>
              <a:t>+63%</a:t>
            </a:r>
          </a:p>
        </p:txBody>
      </p:sp>
      <p:sp>
        <p:nvSpPr>
          <p:cNvPr id="30" name="TextBox 29"/>
          <p:cNvSpPr txBox="1"/>
          <p:nvPr/>
        </p:nvSpPr>
        <p:spPr>
          <a:xfrm>
            <a:off x="9966959" y="3182112"/>
            <a:ext cx="1463040" cy="292608"/>
          </a:xfrm>
          <a:prstGeom prst="rect">
            <a:avLst/>
          </a:prstGeom>
          <a:noFill/>
        </p:spPr>
        <p:txBody>
          <a:bodyPr wrap="square">
            <a:spAutoFit/>
          </a:bodyPr>
          <a:lstStyle/>
          <a:p>
            <a:pPr algn="l">
              <a:spcAft>
                <a:spcPts val="400"/>
              </a:spcAft>
            </a:pPr>
            <a:r>
              <a:rPr sz="1050" b="0">
                <a:solidFill>
                  <a:srgbClr val="C9851F"/>
                </a:solidFill>
                <a:latin typeface="Segoe UI"/>
              </a:rPr>
              <a:t>Serious</a:t>
            </a:r>
          </a:p>
        </p:txBody>
      </p:sp>
      <p:sp>
        <p:nvSpPr>
          <p:cNvPr id="31" name="Rounded Rectangle 30"/>
          <p:cNvSpPr/>
          <p:nvPr/>
        </p:nvSpPr>
        <p:spPr>
          <a:xfrm>
            <a:off x="640080" y="3794760"/>
            <a:ext cx="3502152" cy="109728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40080" y="3794760"/>
            <a:ext cx="44450" cy="1097280"/>
          </a:xfrm>
          <a:prstGeom prst="rect">
            <a:avLst/>
          </a:prstGeom>
          <a:solidFill>
            <a:srgbClr val="0C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3867912"/>
            <a:ext cx="3227832" cy="256032"/>
          </a:xfrm>
          <a:prstGeom prst="rect">
            <a:avLst/>
          </a:prstGeom>
          <a:noFill/>
        </p:spPr>
        <p:txBody>
          <a:bodyPr wrap="square">
            <a:spAutoFit/>
          </a:bodyPr>
          <a:lstStyle/>
          <a:p>
            <a:pPr algn="l">
              <a:spcAft>
                <a:spcPts val="400"/>
              </a:spcAft>
            </a:pPr>
            <a:r>
              <a:rPr sz="850" b="1">
                <a:solidFill>
                  <a:srgbClr val="7A8599"/>
                </a:solidFill>
                <a:latin typeface="Segoe UI"/>
              </a:rPr>
              <a:t>ANOMALIES FLAGGED</a:t>
            </a:r>
          </a:p>
        </p:txBody>
      </p:sp>
      <p:sp>
        <p:nvSpPr>
          <p:cNvPr id="34" name="TextBox 33"/>
          <p:cNvSpPr txBox="1"/>
          <p:nvPr/>
        </p:nvSpPr>
        <p:spPr>
          <a:xfrm>
            <a:off x="804672" y="4105656"/>
            <a:ext cx="3227832" cy="457200"/>
          </a:xfrm>
          <a:prstGeom prst="rect">
            <a:avLst/>
          </a:prstGeom>
          <a:noFill/>
        </p:spPr>
        <p:txBody>
          <a:bodyPr wrap="square">
            <a:spAutoFit/>
          </a:bodyPr>
          <a:lstStyle/>
          <a:p>
            <a:pPr algn="l">
              <a:spcAft>
                <a:spcPts val="400"/>
              </a:spcAft>
            </a:pPr>
            <a:r>
              <a:rPr sz="2100" b="1">
                <a:solidFill>
                  <a:srgbClr val="0B142A"/>
                </a:solidFill>
                <a:latin typeface="Segoe UI"/>
              </a:rPr>
              <a:t>23</a:t>
            </a:r>
          </a:p>
        </p:txBody>
      </p:sp>
      <p:sp>
        <p:nvSpPr>
          <p:cNvPr id="35" name="TextBox 34"/>
          <p:cNvSpPr txBox="1"/>
          <p:nvPr/>
        </p:nvSpPr>
        <p:spPr>
          <a:xfrm>
            <a:off x="804672" y="4581144"/>
            <a:ext cx="3227832" cy="365760"/>
          </a:xfrm>
          <a:prstGeom prst="rect">
            <a:avLst/>
          </a:prstGeom>
          <a:noFill/>
        </p:spPr>
        <p:txBody>
          <a:bodyPr wrap="square">
            <a:spAutoFit/>
          </a:bodyPr>
          <a:lstStyle/>
          <a:p>
            <a:pPr algn="l">
              <a:spcAft>
                <a:spcPts val="400"/>
              </a:spcAft>
            </a:pPr>
            <a:r>
              <a:rPr sz="900" b="0">
                <a:solidFill>
                  <a:srgbClr val="7A8599"/>
                </a:solidFill>
                <a:latin typeface="Segoe UI"/>
              </a:rPr>
              <a:t>over 24 months, across 8 service categories</a:t>
            </a:r>
          </a:p>
        </p:txBody>
      </p:sp>
      <p:sp>
        <p:nvSpPr>
          <p:cNvPr id="36" name="TextBox 35"/>
          <p:cNvSpPr txBox="1"/>
          <p:nvPr/>
        </p:nvSpPr>
        <p:spPr>
          <a:xfrm>
            <a:off x="4480560" y="3794760"/>
            <a:ext cx="7040880" cy="1097280"/>
          </a:xfrm>
          <a:prstGeom prst="rect">
            <a:avLst/>
          </a:prstGeom>
          <a:noFill/>
        </p:spPr>
        <p:txBody>
          <a:bodyPr wrap="square">
            <a:spAutoFit/>
          </a:bodyPr>
          <a:lstStyle/>
          <a:p>
            <a:pPr algn="l">
              <a:spcAft>
                <a:spcPts val="400"/>
              </a:spcAft>
            </a:pPr>
            <a:r>
              <a:rPr sz="1100" b="0">
                <a:solidFill>
                  <a:srgbClr val="445066"/>
                </a:solidFill>
                <a:latin typeface="Segoe UI"/>
              </a:rPr>
              <a:t>Before the materiality rule this detector flagged 347 points and simultaneously graded 318 of them 'good' — the statistical test and the severity grade were computed from different quantities and contradicted each other. An alert nobody can act on teaches people to ignore the channel.</a:t>
            </a:r>
          </a:p>
        </p:txBody>
      </p:sp>
      <p:sp>
        <p:nvSpPr>
          <p:cNvPr id="37" name="TextBox 36"/>
          <p:cNvSpPr txBox="1"/>
          <p:nvPr/>
        </p:nvSpPr>
        <p:spPr>
          <a:xfrm>
            <a:off x="640080" y="5029200"/>
            <a:ext cx="10881360" cy="1188720"/>
          </a:xfrm>
          <a:prstGeom prst="rect">
            <a:avLst/>
          </a:prstGeom>
          <a:noFill/>
        </p:spPr>
        <p:txBody>
          <a:bodyPr wrap="square">
            <a:spAutoFit/>
          </a:bodyPr>
          <a:lstStyle/>
          <a:p>
            <a:pPr>
              <a:spcAft>
                <a:spcPts val="900"/>
              </a:spcAft>
            </a:pPr>
            <a:r>
              <a:rPr sz="1100">
                <a:solidFill>
                  <a:srgbClr val="445066"/>
                </a:solidFill>
                <a:latin typeface="Segoe UI"/>
              </a:rPr>
              <a:t>—  A point is an anomaly only if it is BOTH statistically odd (|modified z| &gt; 3.5) AND financially material (≥25% deviation)</a:t>
            </a:r>
          </a:p>
          <a:p>
            <a:pPr>
              <a:spcAft>
                <a:spcPts val="900"/>
              </a:spcAft>
            </a:pPr>
            <a:r>
              <a:rPr sz="1100">
                <a:solidFill>
                  <a:srgbClr val="445066"/>
                </a:solidFill>
                <a:latin typeface="Segoe UI"/>
              </a:rPr>
              <a:t>—  The test runs on the STL residual, so weekday, weekend and monthly cycles do not trip alerts</a:t>
            </a:r>
          </a:p>
          <a:p>
            <a:pPr>
              <a:spcAft>
                <a:spcPts val="900"/>
              </a:spcAft>
            </a:pPr>
            <a:r>
              <a:rPr sz="1100">
                <a:solidFill>
                  <a:srgbClr val="445066"/>
                </a:solidFill>
                <a:latin typeface="Segoe UI"/>
              </a:rPr>
              <a:t>—  Mirrors AWS Cost Anomaly Detection semantics: ≥10-day warm-up, dynamic thresholds rather than a static dollar line</a:t>
            </a:r>
          </a:p>
        </p:txBody>
      </p:sp>
      <p:sp>
        <p:nvSpPr>
          <p:cNvPr id="38" name="TextBox 37"/>
          <p:cNvSpPr txBox="1"/>
          <p:nvPr/>
        </p:nvSpPr>
        <p:spPr>
          <a:xfrm>
            <a:off x="640080" y="6355080"/>
            <a:ext cx="8686800" cy="274320"/>
          </a:xfrm>
          <a:prstGeom prst="rect">
            <a:avLst/>
          </a:prstGeom>
          <a:noFill/>
        </p:spPr>
        <p:txBody>
          <a:bodyPr wrap="square">
            <a:spAutoFit/>
          </a:bodyPr>
          <a:lstStyle/>
          <a:p>
            <a:pPr algn="l">
              <a:spcAft>
                <a:spcPts val="400"/>
              </a:spcAft>
            </a:pPr>
            <a:r>
              <a:rPr sz="850" b="0">
                <a:solidFill>
                  <a:srgbClr val="7A8599"/>
                </a:solidFill>
                <a:latin typeface="Segoe UI"/>
              </a:rPr>
              <a:t>Figures computed from a synthetic 24-month utility estate shipped with the platform. No customer data.</a:t>
            </a:r>
          </a:p>
        </p:txBody>
      </p:sp>
      <p:sp>
        <p:nvSpPr>
          <p:cNvPr id="39" name="TextBox 38"/>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SECURITY</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Read-only, keyless, and cost-bounded</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What a regulated utility's security review will ask about</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65960"/>
            <a:ext cx="10881360" cy="685800"/>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2039112"/>
            <a:ext cx="2743200" cy="365760"/>
          </a:xfrm>
          <a:prstGeom prst="rect">
            <a:avLst/>
          </a:prstGeom>
          <a:noFill/>
        </p:spPr>
        <p:txBody>
          <a:bodyPr wrap="square">
            <a:spAutoFit/>
          </a:bodyPr>
          <a:lstStyle/>
          <a:p>
            <a:pPr algn="l">
              <a:spcAft>
                <a:spcPts val="400"/>
              </a:spcAft>
            </a:pPr>
            <a:r>
              <a:rPr sz="1200" b="1">
                <a:solidFill>
                  <a:srgbClr val="0C7A3E"/>
                </a:solidFill>
                <a:latin typeface="Segoe UI"/>
              </a:rPr>
              <a:t>No static cloud keys</a:t>
            </a:r>
          </a:p>
        </p:txBody>
      </p:sp>
      <p:sp>
        <p:nvSpPr>
          <p:cNvPr id="8" name="TextBox 7"/>
          <p:cNvSpPr txBox="1"/>
          <p:nvPr/>
        </p:nvSpPr>
        <p:spPr>
          <a:xfrm>
            <a:off x="3703320" y="2020824"/>
            <a:ext cx="7589520" cy="548640"/>
          </a:xfrm>
          <a:prstGeom prst="rect">
            <a:avLst/>
          </a:prstGeom>
          <a:noFill/>
        </p:spPr>
        <p:txBody>
          <a:bodyPr wrap="square">
            <a:spAutoFit/>
          </a:bodyPr>
          <a:lstStyle/>
          <a:p>
            <a:pPr algn="l">
              <a:spcAft>
                <a:spcPts val="400"/>
              </a:spcAft>
            </a:pPr>
            <a:r>
              <a:rPr sz="1050" b="0">
                <a:solidFill>
                  <a:srgbClr val="445066"/>
                </a:solidFill>
                <a:latin typeface="Segoe UI"/>
              </a:rPr>
              <a:t>AWS and Azure are reached through Workload Identity Federation — nothing to rotate there. OCI is the exception: its SDK signs with an RSA key, so that one key lives in Secret Manager and does need rotation.</a:t>
            </a:r>
          </a:p>
        </p:txBody>
      </p:sp>
      <p:sp>
        <p:nvSpPr>
          <p:cNvPr id="9" name="Rounded Rectangle 8"/>
          <p:cNvSpPr/>
          <p:nvPr/>
        </p:nvSpPr>
        <p:spPr>
          <a:xfrm>
            <a:off x="640080" y="2715768"/>
            <a:ext cx="10881360" cy="6858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788920"/>
            <a:ext cx="2743200" cy="365760"/>
          </a:xfrm>
          <a:prstGeom prst="rect">
            <a:avLst/>
          </a:prstGeom>
          <a:noFill/>
        </p:spPr>
        <p:txBody>
          <a:bodyPr wrap="square">
            <a:spAutoFit/>
          </a:bodyPr>
          <a:lstStyle/>
          <a:p>
            <a:pPr algn="l">
              <a:spcAft>
                <a:spcPts val="400"/>
              </a:spcAft>
            </a:pPr>
            <a:r>
              <a:rPr sz="1200" b="1">
                <a:solidFill>
                  <a:srgbClr val="0C7A3E"/>
                </a:solidFill>
                <a:latin typeface="Segoe UI"/>
              </a:rPr>
              <a:t>No model API key</a:t>
            </a:r>
          </a:p>
        </p:txBody>
      </p:sp>
      <p:sp>
        <p:nvSpPr>
          <p:cNvPr id="11" name="TextBox 10"/>
          <p:cNvSpPr txBox="1"/>
          <p:nvPr/>
        </p:nvSpPr>
        <p:spPr>
          <a:xfrm>
            <a:off x="3703320" y="2770632"/>
            <a:ext cx="7589520" cy="548640"/>
          </a:xfrm>
          <a:prstGeom prst="rect">
            <a:avLst/>
          </a:prstGeom>
          <a:noFill/>
        </p:spPr>
        <p:txBody>
          <a:bodyPr wrap="square">
            <a:spAutoFit/>
          </a:bodyPr>
          <a:lstStyle/>
          <a:p>
            <a:pPr algn="l">
              <a:spcAft>
                <a:spcPts val="400"/>
              </a:spcAft>
            </a:pPr>
            <a:r>
              <a:rPr sz="1050" b="0">
                <a:solidFill>
                  <a:srgbClr val="445066"/>
                </a:solidFill>
                <a:latin typeface="Segoe UI"/>
              </a:rPr>
              <a:t>Gemini is reached through Vertex, authenticated by Application Default Credentials on the Cloud Run service account. There is no key to store.</a:t>
            </a:r>
          </a:p>
        </p:txBody>
      </p:sp>
      <p:sp>
        <p:nvSpPr>
          <p:cNvPr id="12" name="Rounded Rectangle 11"/>
          <p:cNvSpPr/>
          <p:nvPr/>
        </p:nvSpPr>
        <p:spPr>
          <a:xfrm>
            <a:off x="640080" y="3465576"/>
            <a:ext cx="10881360" cy="685800"/>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3538728"/>
            <a:ext cx="2743200" cy="365760"/>
          </a:xfrm>
          <a:prstGeom prst="rect">
            <a:avLst/>
          </a:prstGeom>
          <a:noFill/>
        </p:spPr>
        <p:txBody>
          <a:bodyPr wrap="square">
            <a:spAutoFit/>
          </a:bodyPr>
          <a:lstStyle/>
          <a:p>
            <a:pPr algn="l">
              <a:spcAft>
                <a:spcPts val="400"/>
              </a:spcAft>
            </a:pPr>
            <a:r>
              <a:rPr sz="1200" b="1">
                <a:solidFill>
                  <a:srgbClr val="0C7A3E"/>
                </a:solidFill>
                <a:latin typeface="Segoe UI"/>
              </a:rPr>
              <a:t>Least privilege</a:t>
            </a:r>
          </a:p>
        </p:txBody>
      </p:sp>
      <p:sp>
        <p:nvSpPr>
          <p:cNvPr id="14" name="TextBox 13"/>
          <p:cNvSpPr txBox="1"/>
          <p:nvPr/>
        </p:nvSpPr>
        <p:spPr>
          <a:xfrm>
            <a:off x="3703320" y="3520440"/>
            <a:ext cx="7589520" cy="548640"/>
          </a:xfrm>
          <a:prstGeom prst="rect">
            <a:avLst/>
          </a:prstGeom>
          <a:noFill/>
        </p:spPr>
        <p:txBody>
          <a:bodyPr wrap="square">
            <a:spAutoFit/>
          </a:bodyPr>
          <a:lstStyle/>
          <a:p>
            <a:pPr algn="l">
              <a:spcAft>
                <a:spcPts val="400"/>
              </a:spcAft>
            </a:pPr>
            <a:r>
              <a:rPr sz="1050" b="0">
                <a:solidFill>
                  <a:srgbClr val="445066"/>
                </a:solidFill>
                <a:latin typeface="Segoe UI"/>
              </a:rPr>
              <a:t>The API service account holds bigquery.dataViewer, bigquery.jobUser and aiplatform.user. Ingest adds dataEditor and a bucket-scoped objectAdmin. Nothing can change a cloud resource.</a:t>
            </a:r>
          </a:p>
        </p:txBody>
      </p:sp>
      <p:sp>
        <p:nvSpPr>
          <p:cNvPr id="15" name="Rounded Rectangle 14"/>
          <p:cNvSpPr/>
          <p:nvPr/>
        </p:nvSpPr>
        <p:spPr>
          <a:xfrm>
            <a:off x="640080" y="4215384"/>
            <a:ext cx="10881360" cy="6858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68680" y="4288536"/>
            <a:ext cx="2743200" cy="365760"/>
          </a:xfrm>
          <a:prstGeom prst="rect">
            <a:avLst/>
          </a:prstGeom>
          <a:noFill/>
        </p:spPr>
        <p:txBody>
          <a:bodyPr wrap="square">
            <a:spAutoFit/>
          </a:bodyPr>
          <a:lstStyle/>
          <a:p>
            <a:pPr algn="l">
              <a:spcAft>
                <a:spcPts val="400"/>
              </a:spcAft>
            </a:pPr>
            <a:r>
              <a:rPr sz="1200" b="1">
                <a:solidFill>
                  <a:srgbClr val="0C7A3E"/>
                </a:solidFill>
                <a:latin typeface="Segoe UI"/>
              </a:rPr>
              <a:t>The agent cannot write SQL</a:t>
            </a:r>
          </a:p>
        </p:txBody>
      </p:sp>
      <p:sp>
        <p:nvSpPr>
          <p:cNvPr id="17" name="TextBox 16"/>
          <p:cNvSpPr txBox="1"/>
          <p:nvPr/>
        </p:nvSpPr>
        <p:spPr>
          <a:xfrm>
            <a:off x="3703320" y="4270248"/>
            <a:ext cx="7589520" cy="548640"/>
          </a:xfrm>
          <a:prstGeom prst="rect">
            <a:avLst/>
          </a:prstGeom>
          <a:noFill/>
        </p:spPr>
        <p:txBody>
          <a:bodyPr wrap="square">
            <a:spAutoFit/>
          </a:bodyPr>
          <a:lstStyle/>
          <a:p>
            <a:pPr algn="l">
              <a:spcAft>
                <a:spcPts val="400"/>
              </a:spcAft>
            </a:pPr>
            <a:r>
              <a:rPr sz="1050" b="0">
                <a:solidFill>
                  <a:srgbClr val="445066"/>
                </a:solidFill>
                <a:latin typeface="Segoe UI"/>
              </a:rPr>
              <a:t>It calls typed tools with a whitelisted column set. No eval, no string interpolation into a query, and no path from a prompt to the warehouse.</a:t>
            </a:r>
          </a:p>
        </p:txBody>
      </p:sp>
      <p:sp>
        <p:nvSpPr>
          <p:cNvPr id="18" name="Rounded Rectangle 17"/>
          <p:cNvSpPr/>
          <p:nvPr/>
        </p:nvSpPr>
        <p:spPr>
          <a:xfrm>
            <a:off x="640080" y="4965192"/>
            <a:ext cx="10881360" cy="685800"/>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68680" y="5038344"/>
            <a:ext cx="2743200" cy="365760"/>
          </a:xfrm>
          <a:prstGeom prst="rect">
            <a:avLst/>
          </a:prstGeom>
          <a:noFill/>
        </p:spPr>
        <p:txBody>
          <a:bodyPr wrap="square">
            <a:spAutoFit/>
          </a:bodyPr>
          <a:lstStyle/>
          <a:p>
            <a:pPr algn="l">
              <a:spcAft>
                <a:spcPts val="400"/>
              </a:spcAft>
            </a:pPr>
            <a:r>
              <a:rPr sz="1200" b="1">
                <a:solidFill>
                  <a:srgbClr val="0C7A3E"/>
                </a:solidFill>
                <a:latin typeface="Segoe UI"/>
              </a:rPr>
              <a:t>Cost is bounded, not monitored</a:t>
            </a:r>
          </a:p>
        </p:txBody>
      </p:sp>
      <p:sp>
        <p:nvSpPr>
          <p:cNvPr id="20" name="TextBox 19"/>
          <p:cNvSpPr txBox="1"/>
          <p:nvPr/>
        </p:nvSpPr>
        <p:spPr>
          <a:xfrm>
            <a:off x="3703320" y="5020056"/>
            <a:ext cx="7589520" cy="548640"/>
          </a:xfrm>
          <a:prstGeom prst="rect">
            <a:avLst/>
          </a:prstGeom>
          <a:noFill/>
        </p:spPr>
        <p:txBody>
          <a:bodyPr wrap="square">
            <a:spAutoFit/>
          </a:bodyPr>
          <a:lstStyle/>
          <a:p>
            <a:pPr algn="l">
              <a:spcAft>
                <a:spcPts val="400"/>
              </a:spcAft>
            </a:pPr>
            <a:r>
              <a:rPr sz="1050" b="0">
                <a:solidFill>
                  <a:srgbClr val="445066"/>
                </a:solidFill>
                <a:latin typeface="Segoe UI"/>
              </a:rPr>
              <a:t>Every query caps bytes billed and must filter the partition. BigQuery fails the job rather than presenting an invoice.</a:t>
            </a:r>
          </a:p>
        </p:txBody>
      </p:sp>
      <p:sp>
        <p:nvSpPr>
          <p:cNvPr id="21" name="Rounded Rectangle 20"/>
          <p:cNvSpPr/>
          <p:nvPr/>
        </p:nvSpPr>
        <p:spPr>
          <a:xfrm>
            <a:off x="640080" y="5715000"/>
            <a:ext cx="10881360" cy="6858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68680" y="5788152"/>
            <a:ext cx="2743200" cy="365760"/>
          </a:xfrm>
          <a:prstGeom prst="rect">
            <a:avLst/>
          </a:prstGeom>
          <a:noFill/>
        </p:spPr>
        <p:txBody>
          <a:bodyPr wrap="square">
            <a:spAutoFit/>
          </a:bodyPr>
          <a:lstStyle/>
          <a:p>
            <a:pPr algn="l">
              <a:spcAft>
                <a:spcPts val="400"/>
              </a:spcAft>
            </a:pPr>
            <a:r>
              <a:rPr sz="1200" b="1">
                <a:solidFill>
                  <a:srgbClr val="0C7A3E"/>
                </a:solidFill>
                <a:latin typeface="Segoe UI"/>
              </a:rPr>
              <a:t>Human access</a:t>
            </a:r>
          </a:p>
        </p:txBody>
      </p:sp>
      <p:sp>
        <p:nvSpPr>
          <p:cNvPr id="23" name="TextBox 22"/>
          <p:cNvSpPr txBox="1"/>
          <p:nvPr/>
        </p:nvSpPr>
        <p:spPr>
          <a:xfrm>
            <a:off x="3703320" y="5769864"/>
            <a:ext cx="7589520" cy="548640"/>
          </a:xfrm>
          <a:prstGeom prst="rect">
            <a:avLst/>
          </a:prstGeom>
          <a:noFill/>
        </p:spPr>
        <p:txBody>
          <a:bodyPr wrap="square">
            <a:spAutoFit/>
          </a:bodyPr>
          <a:lstStyle/>
          <a:p>
            <a:pPr algn="l">
              <a:spcAft>
                <a:spcPts val="400"/>
              </a:spcAft>
            </a:pPr>
            <a:r>
              <a:rPr sz="1050" b="0">
                <a:solidFill>
                  <a:srgbClr val="445066"/>
                </a:solidFill>
                <a:latin typeface="Segoe UI"/>
              </a:rPr>
              <a:t>Cloud Identity or Okta behind Identity-Aware Proxy, with the FinOps personas mapped to groups.</a:t>
            </a:r>
          </a:p>
        </p:txBody>
      </p:sp>
      <p:sp>
        <p:nvSpPr>
          <p:cNvPr id="24" name="TextBox 23"/>
          <p:cNvSpPr txBox="1"/>
          <p:nvPr/>
        </p:nvSpPr>
        <p:spPr>
          <a:xfrm>
            <a:off x="640080" y="6355080"/>
            <a:ext cx="8686800" cy="274320"/>
          </a:xfrm>
          <a:prstGeom prst="rect">
            <a:avLst/>
          </a:prstGeom>
          <a:noFill/>
        </p:spPr>
        <p:txBody>
          <a:bodyPr wrap="square">
            <a:spAutoFit/>
          </a:bodyPr>
          <a:lstStyle/>
          <a:p>
            <a:pPr algn="l">
              <a:spcAft>
                <a:spcPts val="400"/>
              </a:spcAft>
            </a:pPr>
          </a:p>
        </p:txBody>
      </p:sp>
      <p:sp>
        <p:nvSpPr>
          <p:cNvPr id="25" name="TextBox 24"/>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RUN COST</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What the platform costs to operate</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Serverless: it scales to zero between the nightly job and the working day</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6949440" cy="402336"/>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2039112"/>
            <a:ext cx="3840480" cy="329184"/>
          </a:xfrm>
          <a:prstGeom prst="rect">
            <a:avLst/>
          </a:prstGeom>
          <a:noFill/>
        </p:spPr>
        <p:txBody>
          <a:bodyPr wrap="square">
            <a:spAutoFit/>
          </a:bodyPr>
          <a:lstStyle/>
          <a:p>
            <a:pPr algn="l">
              <a:spcAft>
                <a:spcPts val="400"/>
              </a:spcAft>
            </a:pPr>
            <a:r>
              <a:rPr sz="1050" b="0">
                <a:solidFill>
                  <a:srgbClr val="445066"/>
                </a:solidFill>
                <a:latin typeface="Segoe UI"/>
              </a:rPr>
              <a:t>Cloud Run — API</a:t>
            </a:r>
          </a:p>
        </p:txBody>
      </p:sp>
      <p:sp>
        <p:nvSpPr>
          <p:cNvPr id="8" name="TextBox 7"/>
          <p:cNvSpPr txBox="1"/>
          <p:nvPr/>
        </p:nvSpPr>
        <p:spPr>
          <a:xfrm>
            <a:off x="4846320" y="2039112"/>
            <a:ext cx="1005840" cy="329184"/>
          </a:xfrm>
          <a:prstGeom prst="rect">
            <a:avLst/>
          </a:prstGeom>
          <a:noFill/>
        </p:spPr>
        <p:txBody>
          <a:bodyPr wrap="square">
            <a:spAutoFit/>
          </a:bodyPr>
          <a:lstStyle/>
          <a:p>
            <a:pPr algn="r">
              <a:spcAft>
                <a:spcPts val="400"/>
              </a:spcAft>
            </a:pPr>
            <a:r>
              <a:rPr sz="1050" b="1">
                <a:solidFill>
                  <a:srgbClr val="0B142A"/>
                </a:solidFill>
                <a:latin typeface="Segoe UI"/>
              </a:rPr>
              <a:t>~$60</a:t>
            </a:r>
          </a:p>
        </p:txBody>
      </p:sp>
      <p:sp>
        <p:nvSpPr>
          <p:cNvPr id="9" name="TextBox 8"/>
          <p:cNvSpPr txBox="1"/>
          <p:nvPr/>
        </p:nvSpPr>
        <p:spPr>
          <a:xfrm>
            <a:off x="6035040" y="2039112"/>
            <a:ext cx="1463040" cy="329184"/>
          </a:xfrm>
          <a:prstGeom prst="rect">
            <a:avLst/>
          </a:prstGeom>
          <a:noFill/>
        </p:spPr>
        <p:txBody>
          <a:bodyPr wrap="square">
            <a:spAutoFit/>
          </a:bodyPr>
          <a:lstStyle/>
          <a:p>
            <a:pPr algn="l">
              <a:spcAft>
                <a:spcPts val="400"/>
              </a:spcAft>
            </a:pPr>
            <a:r>
              <a:rPr sz="850" b="0">
                <a:solidFill>
                  <a:srgbClr val="7A8599"/>
                </a:solidFill>
                <a:latin typeface="Segoe UI"/>
              </a:rPr>
              <a:t>min 1 instance, 2 vCPU / 4 GiB</a:t>
            </a:r>
          </a:p>
        </p:txBody>
      </p:sp>
      <p:sp>
        <p:nvSpPr>
          <p:cNvPr id="10" name="Rounded Rectangle 9"/>
          <p:cNvSpPr/>
          <p:nvPr/>
        </p:nvSpPr>
        <p:spPr>
          <a:xfrm>
            <a:off x="640080" y="2468880"/>
            <a:ext cx="6949440" cy="402336"/>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8680" y="2496312"/>
            <a:ext cx="3840480" cy="329184"/>
          </a:xfrm>
          <a:prstGeom prst="rect">
            <a:avLst/>
          </a:prstGeom>
          <a:noFill/>
        </p:spPr>
        <p:txBody>
          <a:bodyPr wrap="square">
            <a:spAutoFit/>
          </a:bodyPr>
          <a:lstStyle/>
          <a:p>
            <a:pPr algn="l">
              <a:spcAft>
                <a:spcPts val="400"/>
              </a:spcAft>
            </a:pPr>
            <a:r>
              <a:rPr sz="1050" b="0">
                <a:solidFill>
                  <a:srgbClr val="445066"/>
                </a:solidFill>
                <a:latin typeface="Segoe UI"/>
              </a:rPr>
              <a:t>Cloud Run — React client</a:t>
            </a:r>
          </a:p>
        </p:txBody>
      </p:sp>
      <p:sp>
        <p:nvSpPr>
          <p:cNvPr id="12" name="TextBox 11"/>
          <p:cNvSpPr txBox="1"/>
          <p:nvPr/>
        </p:nvSpPr>
        <p:spPr>
          <a:xfrm>
            <a:off x="4846320" y="2496312"/>
            <a:ext cx="1005840" cy="329184"/>
          </a:xfrm>
          <a:prstGeom prst="rect">
            <a:avLst/>
          </a:prstGeom>
          <a:noFill/>
        </p:spPr>
        <p:txBody>
          <a:bodyPr wrap="square">
            <a:spAutoFit/>
          </a:bodyPr>
          <a:lstStyle/>
          <a:p>
            <a:pPr algn="r">
              <a:spcAft>
                <a:spcPts val="400"/>
              </a:spcAft>
            </a:pPr>
            <a:r>
              <a:rPr sz="1050" b="1">
                <a:solidFill>
                  <a:srgbClr val="0B142A"/>
                </a:solidFill>
                <a:latin typeface="Segoe UI"/>
              </a:rPr>
              <a:t>~$10</a:t>
            </a:r>
          </a:p>
        </p:txBody>
      </p:sp>
      <p:sp>
        <p:nvSpPr>
          <p:cNvPr id="13" name="TextBox 12"/>
          <p:cNvSpPr txBox="1"/>
          <p:nvPr/>
        </p:nvSpPr>
        <p:spPr>
          <a:xfrm>
            <a:off x="6035040" y="2496312"/>
            <a:ext cx="1463040" cy="329184"/>
          </a:xfrm>
          <a:prstGeom prst="rect">
            <a:avLst/>
          </a:prstGeom>
          <a:noFill/>
        </p:spPr>
        <p:txBody>
          <a:bodyPr wrap="square">
            <a:spAutoFit/>
          </a:bodyPr>
          <a:lstStyle/>
          <a:p>
            <a:pPr algn="l">
              <a:spcAft>
                <a:spcPts val="400"/>
              </a:spcAft>
            </a:pPr>
            <a:r>
              <a:rPr sz="850" b="0">
                <a:solidFill>
                  <a:srgbClr val="7A8599"/>
                </a:solidFill>
                <a:latin typeface="Segoe UI"/>
              </a:rPr>
              <a:t>or Firebase Hosting</a:t>
            </a:r>
          </a:p>
        </p:txBody>
      </p:sp>
      <p:sp>
        <p:nvSpPr>
          <p:cNvPr id="14" name="Rounded Rectangle 13"/>
          <p:cNvSpPr/>
          <p:nvPr/>
        </p:nvSpPr>
        <p:spPr>
          <a:xfrm>
            <a:off x="640080" y="2926080"/>
            <a:ext cx="6949440" cy="402336"/>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2953512"/>
            <a:ext cx="3840480" cy="329184"/>
          </a:xfrm>
          <a:prstGeom prst="rect">
            <a:avLst/>
          </a:prstGeom>
          <a:noFill/>
        </p:spPr>
        <p:txBody>
          <a:bodyPr wrap="square">
            <a:spAutoFit/>
          </a:bodyPr>
          <a:lstStyle/>
          <a:p>
            <a:pPr algn="l">
              <a:spcAft>
                <a:spcPts val="400"/>
              </a:spcAft>
            </a:pPr>
            <a:r>
              <a:rPr sz="1050" b="0">
                <a:solidFill>
                  <a:srgbClr val="445066"/>
                </a:solidFill>
                <a:latin typeface="Segoe UI"/>
              </a:rPr>
              <a:t>Cloud SQL (Postgres)</a:t>
            </a:r>
          </a:p>
        </p:txBody>
      </p:sp>
      <p:sp>
        <p:nvSpPr>
          <p:cNvPr id="16" name="TextBox 15"/>
          <p:cNvSpPr txBox="1"/>
          <p:nvPr/>
        </p:nvSpPr>
        <p:spPr>
          <a:xfrm>
            <a:off x="4846320" y="2953512"/>
            <a:ext cx="1005840" cy="329184"/>
          </a:xfrm>
          <a:prstGeom prst="rect">
            <a:avLst/>
          </a:prstGeom>
          <a:noFill/>
        </p:spPr>
        <p:txBody>
          <a:bodyPr wrap="square">
            <a:spAutoFit/>
          </a:bodyPr>
          <a:lstStyle/>
          <a:p>
            <a:pPr algn="r">
              <a:spcAft>
                <a:spcPts val="400"/>
              </a:spcAft>
            </a:pPr>
            <a:r>
              <a:rPr sz="1050" b="1">
                <a:solidFill>
                  <a:srgbClr val="0B142A"/>
                </a:solidFill>
                <a:latin typeface="Segoe UI"/>
              </a:rPr>
              <a:t>~$50</a:t>
            </a:r>
          </a:p>
        </p:txBody>
      </p:sp>
      <p:sp>
        <p:nvSpPr>
          <p:cNvPr id="17" name="TextBox 16"/>
          <p:cNvSpPr txBox="1"/>
          <p:nvPr/>
        </p:nvSpPr>
        <p:spPr>
          <a:xfrm>
            <a:off x="6035040" y="2953512"/>
            <a:ext cx="1463040" cy="329184"/>
          </a:xfrm>
          <a:prstGeom prst="rect">
            <a:avLst/>
          </a:prstGeom>
          <a:noFill/>
        </p:spPr>
        <p:txBody>
          <a:bodyPr wrap="square">
            <a:spAutoFit/>
          </a:bodyPr>
          <a:lstStyle/>
          <a:p>
            <a:pPr algn="l">
              <a:spcAft>
                <a:spcPts val="400"/>
              </a:spcAft>
            </a:pPr>
            <a:r>
              <a:rPr sz="850" b="0">
                <a:solidFill>
                  <a:srgbClr val="7A8599"/>
                </a:solidFill>
                <a:latin typeface="Segoe UI"/>
              </a:rPr>
              <a:t>policies and scenarios; no HA</a:t>
            </a:r>
          </a:p>
        </p:txBody>
      </p:sp>
      <p:sp>
        <p:nvSpPr>
          <p:cNvPr id="18" name="Rounded Rectangle 17"/>
          <p:cNvSpPr/>
          <p:nvPr/>
        </p:nvSpPr>
        <p:spPr>
          <a:xfrm>
            <a:off x="640080" y="3383280"/>
            <a:ext cx="6949440" cy="402336"/>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68680" y="3410712"/>
            <a:ext cx="3840480" cy="329184"/>
          </a:xfrm>
          <a:prstGeom prst="rect">
            <a:avLst/>
          </a:prstGeom>
          <a:noFill/>
        </p:spPr>
        <p:txBody>
          <a:bodyPr wrap="square">
            <a:spAutoFit/>
          </a:bodyPr>
          <a:lstStyle/>
          <a:p>
            <a:pPr algn="l">
              <a:spcAft>
                <a:spcPts val="400"/>
              </a:spcAft>
            </a:pPr>
            <a:r>
              <a:rPr sz="1050" b="0">
                <a:solidFill>
                  <a:srgbClr val="445066"/>
                </a:solidFill>
                <a:latin typeface="Segoe UI"/>
              </a:rPr>
              <a:t>Memorystore Redis</a:t>
            </a:r>
          </a:p>
        </p:txBody>
      </p:sp>
      <p:sp>
        <p:nvSpPr>
          <p:cNvPr id="20" name="TextBox 19"/>
          <p:cNvSpPr txBox="1"/>
          <p:nvPr/>
        </p:nvSpPr>
        <p:spPr>
          <a:xfrm>
            <a:off x="4846320" y="3410712"/>
            <a:ext cx="1005840" cy="329184"/>
          </a:xfrm>
          <a:prstGeom prst="rect">
            <a:avLst/>
          </a:prstGeom>
          <a:noFill/>
        </p:spPr>
        <p:txBody>
          <a:bodyPr wrap="square">
            <a:spAutoFit/>
          </a:bodyPr>
          <a:lstStyle/>
          <a:p>
            <a:pPr algn="r">
              <a:spcAft>
                <a:spcPts val="400"/>
              </a:spcAft>
            </a:pPr>
            <a:r>
              <a:rPr sz="1050" b="1">
                <a:solidFill>
                  <a:srgbClr val="0B142A"/>
                </a:solidFill>
                <a:latin typeface="Segoe UI"/>
              </a:rPr>
              <a:t>~$35</a:t>
            </a:r>
          </a:p>
        </p:txBody>
      </p:sp>
      <p:sp>
        <p:nvSpPr>
          <p:cNvPr id="21" name="TextBox 20"/>
          <p:cNvSpPr txBox="1"/>
          <p:nvPr/>
        </p:nvSpPr>
        <p:spPr>
          <a:xfrm>
            <a:off x="6035040" y="3410712"/>
            <a:ext cx="1463040" cy="329184"/>
          </a:xfrm>
          <a:prstGeom prst="rect">
            <a:avLst/>
          </a:prstGeom>
          <a:noFill/>
        </p:spPr>
        <p:txBody>
          <a:bodyPr wrap="square">
            <a:spAutoFit/>
          </a:bodyPr>
          <a:lstStyle/>
          <a:p>
            <a:pPr algn="l">
              <a:spcAft>
                <a:spcPts val="400"/>
              </a:spcAft>
            </a:pPr>
            <a:r>
              <a:rPr sz="850" b="0">
                <a:solidFill>
                  <a:srgbClr val="7A8599"/>
                </a:solidFill>
                <a:latin typeface="Segoe UI"/>
              </a:rPr>
              <a:t>aggregate cache</a:t>
            </a:r>
          </a:p>
        </p:txBody>
      </p:sp>
      <p:sp>
        <p:nvSpPr>
          <p:cNvPr id="22" name="Rounded Rectangle 21"/>
          <p:cNvSpPr/>
          <p:nvPr/>
        </p:nvSpPr>
        <p:spPr>
          <a:xfrm>
            <a:off x="640080" y="3840480"/>
            <a:ext cx="6949440" cy="402336"/>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68680" y="3867912"/>
            <a:ext cx="3840480" cy="329184"/>
          </a:xfrm>
          <a:prstGeom prst="rect">
            <a:avLst/>
          </a:prstGeom>
          <a:noFill/>
        </p:spPr>
        <p:txBody>
          <a:bodyPr wrap="square">
            <a:spAutoFit/>
          </a:bodyPr>
          <a:lstStyle/>
          <a:p>
            <a:pPr algn="l">
              <a:spcAft>
                <a:spcPts val="400"/>
              </a:spcAft>
            </a:pPr>
            <a:r>
              <a:rPr sz="1050" b="0">
                <a:solidFill>
                  <a:srgbClr val="445066"/>
                </a:solidFill>
                <a:latin typeface="Segoe UI"/>
              </a:rPr>
              <a:t>BigQuery</a:t>
            </a:r>
          </a:p>
        </p:txBody>
      </p:sp>
      <p:sp>
        <p:nvSpPr>
          <p:cNvPr id="24" name="TextBox 23"/>
          <p:cNvSpPr txBox="1"/>
          <p:nvPr/>
        </p:nvSpPr>
        <p:spPr>
          <a:xfrm>
            <a:off x="4846320" y="3867912"/>
            <a:ext cx="1005840" cy="329184"/>
          </a:xfrm>
          <a:prstGeom prst="rect">
            <a:avLst/>
          </a:prstGeom>
          <a:noFill/>
        </p:spPr>
        <p:txBody>
          <a:bodyPr wrap="square">
            <a:spAutoFit/>
          </a:bodyPr>
          <a:lstStyle/>
          <a:p>
            <a:pPr algn="r">
              <a:spcAft>
                <a:spcPts val="400"/>
              </a:spcAft>
            </a:pPr>
            <a:r>
              <a:rPr sz="1050" b="1">
                <a:solidFill>
                  <a:srgbClr val="0B142A"/>
                </a:solidFill>
                <a:latin typeface="Segoe UI"/>
              </a:rPr>
              <a:t>~$5</a:t>
            </a:r>
          </a:p>
        </p:txBody>
      </p:sp>
      <p:sp>
        <p:nvSpPr>
          <p:cNvPr id="25" name="TextBox 24"/>
          <p:cNvSpPr txBox="1"/>
          <p:nvPr/>
        </p:nvSpPr>
        <p:spPr>
          <a:xfrm>
            <a:off x="6035040" y="3867912"/>
            <a:ext cx="1463040" cy="329184"/>
          </a:xfrm>
          <a:prstGeom prst="rect">
            <a:avLst/>
          </a:prstGeom>
          <a:noFill/>
        </p:spPr>
        <p:txBody>
          <a:bodyPr wrap="square">
            <a:spAutoFit/>
          </a:bodyPr>
          <a:lstStyle/>
          <a:p>
            <a:pPr algn="l">
              <a:spcAft>
                <a:spcPts val="400"/>
              </a:spcAft>
            </a:pPr>
            <a:r>
              <a:rPr sz="850" b="0">
                <a:solidFill>
                  <a:srgbClr val="7A8599"/>
                </a:solidFill>
                <a:latin typeface="Segoe UI"/>
              </a:rPr>
              <a:t>storage + partitioned queries</a:t>
            </a:r>
          </a:p>
        </p:txBody>
      </p:sp>
      <p:sp>
        <p:nvSpPr>
          <p:cNvPr id="26" name="Rounded Rectangle 25"/>
          <p:cNvSpPr/>
          <p:nvPr/>
        </p:nvSpPr>
        <p:spPr>
          <a:xfrm>
            <a:off x="640080" y="4297680"/>
            <a:ext cx="6949440" cy="402336"/>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4325112"/>
            <a:ext cx="3840480" cy="329184"/>
          </a:xfrm>
          <a:prstGeom prst="rect">
            <a:avLst/>
          </a:prstGeom>
          <a:noFill/>
        </p:spPr>
        <p:txBody>
          <a:bodyPr wrap="square">
            <a:spAutoFit/>
          </a:bodyPr>
          <a:lstStyle/>
          <a:p>
            <a:pPr algn="l">
              <a:spcAft>
                <a:spcPts val="400"/>
              </a:spcAft>
            </a:pPr>
            <a:r>
              <a:rPr sz="1050" b="0">
                <a:solidFill>
                  <a:srgbClr val="445066"/>
                </a:solidFill>
                <a:latin typeface="Segoe UI"/>
              </a:rPr>
              <a:t>Load Balancer + IAP</a:t>
            </a:r>
          </a:p>
        </p:txBody>
      </p:sp>
      <p:sp>
        <p:nvSpPr>
          <p:cNvPr id="28" name="TextBox 27"/>
          <p:cNvSpPr txBox="1"/>
          <p:nvPr/>
        </p:nvSpPr>
        <p:spPr>
          <a:xfrm>
            <a:off x="4846320" y="4325112"/>
            <a:ext cx="1005840" cy="329184"/>
          </a:xfrm>
          <a:prstGeom prst="rect">
            <a:avLst/>
          </a:prstGeom>
          <a:noFill/>
        </p:spPr>
        <p:txBody>
          <a:bodyPr wrap="square">
            <a:spAutoFit/>
          </a:bodyPr>
          <a:lstStyle/>
          <a:p>
            <a:pPr algn="r">
              <a:spcAft>
                <a:spcPts val="400"/>
              </a:spcAft>
            </a:pPr>
            <a:r>
              <a:rPr sz="1050" b="1">
                <a:solidFill>
                  <a:srgbClr val="0B142A"/>
                </a:solidFill>
                <a:latin typeface="Segoe UI"/>
              </a:rPr>
              <a:t>~$20</a:t>
            </a:r>
          </a:p>
        </p:txBody>
      </p:sp>
      <p:sp>
        <p:nvSpPr>
          <p:cNvPr id="29" name="TextBox 28"/>
          <p:cNvSpPr txBox="1"/>
          <p:nvPr/>
        </p:nvSpPr>
        <p:spPr>
          <a:xfrm>
            <a:off x="6035040" y="4325112"/>
            <a:ext cx="1463040" cy="329184"/>
          </a:xfrm>
          <a:prstGeom prst="rect">
            <a:avLst/>
          </a:prstGeom>
          <a:noFill/>
        </p:spPr>
        <p:txBody>
          <a:bodyPr wrap="square">
            <a:spAutoFit/>
          </a:bodyPr>
          <a:lstStyle/>
          <a:p>
            <a:pPr algn="l">
              <a:spcAft>
                <a:spcPts val="400"/>
              </a:spcAft>
            </a:pPr>
          </a:p>
        </p:txBody>
      </p:sp>
      <p:sp>
        <p:nvSpPr>
          <p:cNvPr id="30" name="Rounded Rectangle 29"/>
          <p:cNvSpPr/>
          <p:nvPr/>
        </p:nvSpPr>
        <p:spPr>
          <a:xfrm>
            <a:off x="640080" y="4754880"/>
            <a:ext cx="6949440" cy="402336"/>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68680" y="4782312"/>
            <a:ext cx="3840480" cy="329184"/>
          </a:xfrm>
          <a:prstGeom prst="rect">
            <a:avLst/>
          </a:prstGeom>
          <a:noFill/>
        </p:spPr>
        <p:txBody>
          <a:bodyPr wrap="square">
            <a:spAutoFit/>
          </a:bodyPr>
          <a:lstStyle/>
          <a:p>
            <a:pPr algn="l">
              <a:spcAft>
                <a:spcPts val="400"/>
              </a:spcAft>
            </a:pPr>
            <a:r>
              <a:rPr sz="1050" b="0">
                <a:solidFill>
                  <a:srgbClr val="445066"/>
                </a:solidFill>
                <a:latin typeface="Segoe UI"/>
              </a:rPr>
              <a:t>Artifact Registry, Secret Manager, logging</a:t>
            </a:r>
          </a:p>
        </p:txBody>
      </p:sp>
      <p:sp>
        <p:nvSpPr>
          <p:cNvPr id="32" name="TextBox 31"/>
          <p:cNvSpPr txBox="1"/>
          <p:nvPr/>
        </p:nvSpPr>
        <p:spPr>
          <a:xfrm>
            <a:off x="4846320" y="4782312"/>
            <a:ext cx="1005840" cy="329184"/>
          </a:xfrm>
          <a:prstGeom prst="rect">
            <a:avLst/>
          </a:prstGeom>
          <a:noFill/>
        </p:spPr>
        <p:txBody>
          <a:bodyPr wrap="square">
            <a:spAutoFit/>
          </a:bodyPr>
          <a:lstStyle/>
          <a:p>
            <a:pPr algn="r">
              <a:spcAft>
                <a:spcPts val="400"/>
              </a:spcAft>
            </a:pPr>
            <a:r>
              <a:rPr sz="1050" b="1">
                <a:solidFill>
                  <a:srgbClr val="0B142A"/>
                </a:solidFill>
                <a:latin typeface="Segoe UI"/>
              </a:rPr>
              <a:t>~$20</a:t>
            </a:r>
          </a:p>
        </p:txBody>
      </p:sp>
      <p:sp>
        <p:nvSpPr>
          <p:cNvPr id="33" name="TextBox 32"/>
          <p:cNvSpPr txBox="1"/>
          <p:nvPr/>
        </p:nvSpPr>
        <p:spPr>
          <a:xfrm>
            <a:off x="6035040" y="4782312"/>
            <a:ext cx="1463040" cy="329184"/>
          </a:xfrm>
          <a:prstGeom prst="rect">
            <a:avLst/>
          </a:prstGeom>
          <a:noFill/>
        </p:spPr>
        <p:txBody>
          <a:bodyPr wrap="square">
            <a:spAutoFit/>
          </a:bodyPr>
          <a:lstStyle/>
          <a:p>
            <a:pPr algn="l">
              <a:spcAft>
                <a:spcPts val="400"/>
              </a:spcAft>
            </a:pPr>
          </a:p>
        </p:txBody>
      </p:sp>
      <p:sp>
        <p:nvSpPr>
          <p:cNvPr id="34" name="Rounded Rectangle 33"/>
          <p:cNvSpPr/>
          <p:nvPr/>
        </p:nvSpPr>
        <p:spPr>
          <a:xfrm>
            <a:off x="640080" y="5212080"/>
            <a:ext cx="6949440" cy="402336"/>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68680" y="5239512"/>
            <a:ext cx="3840480" cy="329184"/>
          </a:xfrm>
          <a:prstGeom prst="rect">
            <a:avLst/>
          </a:prstGeom>
          <a:noFill/>
        </p:spPr>
        <p:txBody>
          <a:bodyPr wrap="square">
            <a:spAutoFit/>
          </a:bodyPr>
          <a:lstStyle/>
          <a:p>
            <a:pPr algn="l">
              <a:spcAft>
                <a:spcPts val="400"/>
              </a:spcAft>
            </a:pPr>
            <a:r>
              <a:rPr sz="1050" b="0">
                <a:solidFill>
                  <a:srgbClr val="445066"/>
                </a:solidFill>
                <a:latin typeface="Segoe UI"/>
              </a:rPr>
              <a:t>Gemini</a:t>
            </a:r>
          </a:p>
        </p:txBody>
      </p:sp>
      <p:sp>
        <p:nvSpPr>
          <p:cNvPr id="36" name="TextBox 35"/>
          <p:cNvSpPr txBox="1"/>
          <p:nvPr/>
        </p:nvSpPr>
        <p:spPr>
          <a:xfrm>
            <a:off x="4846320" y="5239512"/>
            <a:ext cx="1005840" cy="329184"/>
          </a:xfrm>
          <a:prstGeom prst="rect">
            <a:avLst/>
          </a:prstGeom>
          <a:noFill/>
        </p:spPr>
        <p:txBody>
          <a:bodyPr wrap="square">
            <a:spAutoFit/>
          </a:bodyPr>
          <a:lstStyle/>
          <a:p>
            <a:pPr algn="r">
              <a:spcAft>
                <a:spcPts val="400"/>
              </a:spcAft>
            </a:pPr>
            <a:r>
              <a:rPr sz="1050" b="1">
                <a:solidFill>
                  <a:srgbClr val="0B142A"/>
                </a:solidFill>
                <a:latin typeface="Segoe UI"/>
              </a:rPr>
              <a:t>~$116</a:t>
            </a:r>
          </a:p>
        </p:txBody>
      </p:sp>
      <p:sp>
        <p:nvSpPr>
          <p:cNvPr id="37" name="TextBox 36"/>
          <p:cNvSpPr txBox="1"/>
          <p:nvPr/>
        </p:nvSpPr>
        <p:spPr>
          <a:xfrm>
            <a:off x="6035040" y="5239512"/>
            <a:ext cx="1463040" cy="329184"/>
          </a:xfrm>
          <a:prstGeom prst="rect">
            <a:avLst/>
          </a:prstGeom>
          <a:noFill/>
        </p:spPr>
        <p:txBody>
          <a:bodyPr wrap="square">
            <a:spAutoFit/>
          </a:bodyPr>
          <a:lstStyle/>
          <a:p>
            <a:pPr algn="l">
              <a:spcAft>
                <a:spcPts val="400"/>
              </a:spcAft>
            </a:pPr>
            <a:r>
              <a:rPr sz="850" b="0">
                <a:solidFill>
                  <a:srgbClr val="7A8599"/>
                </a:solidFill>
                <a:latin typeface="Segoe UI"/>
              </a:rPr>
              <a:t>4,400 questions/month</a:t>
            </a:r>
          </a:p>
        </p:txBody>
      </p:sp>
      <p:sp>
        <p:nvSpPr>
          <p:cNvPr id="38" name="Rounded Rectangle 37"/>
          <p:cNvSpPr/>
          <p:nvPr/>
        </p:nvSpPr>
        <p:spPr>
          <a:xfrm>
            <a:off x="7955279" y="2011680"/>
            <a:ext cx="3566160" cy="118872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955279" y="2011680"/>
            <a:ext cx="44450" cy="1188720"/>
          </a:xfrm>
          <a:prstGeom prst="rect">
            <a:avLst/>
          </a:prstGeom>
          <a:solidFill>
            <a:srgbClr val="119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19871" y="2084832"/>
            <a:ext cx="3291840" cy="256032"/>
          </a:xfrm>
          <a:prstGeom prst="rect">
            <a:avLst/>
          </a:prstGeom>
          <a:noFill/>
        </p:spPr>
        <p:txBody>
          <a:bodyPr wrap="square">
            <a:spAutoFit/>
          </a:bodyPr>
          <a:lstStyle/>
          <a:p>
            <a:pPr algn="l">
              <a:spcAft>
                <a:spcPts val="400"/>
              </a:spcAft>
            </a:pPr>
            <a:r>
              <a:rPr sz="850" b="1">
                <a:solidFill>
                  <a:srgbClr val="7A8599"/>
                </a:solidFill>
                <a:latin typeface="Segoe UI"/>
              </a:rPr>
              <a:t>TOTAL</a:t>
            </a:r>
          </a:p>
        </p:txBody>
      </p:sp>
      <p:sp>
        <p:nvSpPr>
          <p:cNvPr id="41" name="TextBox 40"/>
          <p:cNvSpPr txBox="1"/>
          <p:nvPr/>
        </p:nvSpPr>
        <p:spPr>
          <a:xfrm>
            <a:off x="8119871" y="2322576"/>
            <a:ext cx="3291840" cy="457200"/>
          </a:xfrm>
          <a:prstGeom prst="rect">
            <a:avLst/>
          </a:prstGeom>
          <a:noFill/>
        </p:spPr>
        <p:txBody>
          <a:bodyPr wrap="square">
            <a:spAutoFit/>
          </a:bodyPr>
          <a:lstStyle/>
          <a:p>
            <a:pPr algn="l">
              <a:spcAft>
                <a:spcPts val="400"/>
              </a:spcAft>
            </a:pPr>
            <a:r>
              <a:rPr sz="2100" b="1">
                <a:solidFill>
                  <a:srgbClr val="0B142A"/>
                </a:solidFill>
                <a:latin typeface="Segoe UI"/>
              </a:rPr>
              <a:t>~$316 / month</a:t>
            </a:r>
          </a:p>
        </p:txBody>
      </p:sp>
      <p:sp>
        <p:nvSpPr>
          <p:cNvPr id="42" name="TextBox 41"/>
          <p:cNvSpPr txBox="1"/>
          <p:nvPr/>
        </p:nvSpPr>
        <p:spPr>
          <a:xfrm>
            <a:off x="8119871" y="2798064"/>
            <a:ext cx="3291840" cy="365760"/>
          </a:xfrm>
          <a:prstGeom prst="rect">
            <a:avLst/>
          </a:prstGeom>
          <a:noFill/>
        </p:spPr>
        <p:txBody>
          <a:bodyPr wrap="square">
            <a:spAutoFit/>
          </a:bodyPr>
          <a:lstStyle/>
          <a:p>
            <a:pPr algn="l">
              <a:spcAft>
                <a:spcPts val="400"/>
              </a:spcAft>
            </a:pPr>
            <a:r>
              <a:rPr sz="900" b="0">
                <a:solidFill>
                  <a:srgbClr val="7A8599"/>
                </a:solidFill>
                <a:latin typeface="Segoe UI"/>
              </a:rPr>
              <a:t>before Cloud SQL high availability</a:t>
            </a:r>
          </a:p>
        </p:txBody>
      </p:sp>
      <p:sp>
        <p:nvSpPr>
          <p:cNvPr id="43" name="Rounded Rectangle 42"/>
          <p:cNvSpPr/>
          <p:nvPr/>
        </p:nvSpPr>
        <p:spPr>
          <a:xfrm>
            <a:off x="7955279" y="3337560"/>
            <a:ext cx="3566160" cy="118872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955279" y="3337560"/>
            <a:ext cx="44450" cy="1188720"/>
          </a:xfrm>
          <a:prstGeom prst="rect">
            <a:avLst/>
          </a:prstGeom>
          <a:solidFill>
            <a:srgbClr val="0C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19871" y="3410712"/>
            <a:ext cx="3291840" cy="256032"/>
          </a:xfrm>
          <a:prstGeom prst="rect">
            <a:avLst/>
          </a:prstGeom>
          <a:noFill/>
        </p:spPr>
        <p:txBody>
          <a:bodyPr wrap="square">
            <a:spAutoFit/>
          </a:bodyPr>
          <a:lstStyle/>
          <a:p>
            <a:pPr algn="l">
              <a:spcAft>
                <a:spcPts val="400"/>
              </a:spcAft>
            </a:pPr>
            <a:r>
              <a:rPr sz="850" b="1">
                <a:solidFill>
                  <a:srgbClr val="7A8599"/>
                </a:solidFill>
                <a:latin typeface="Segoe UI"/>
              </a:rPr>
              <a:t>AS A SHARE OF THE ESTATE</a:t>
            </a:r>
          </a:p>
        </p:txBody>
      </p:sp>
      <p:sp>
        <p:nvSpPr>
          <p:cNvPr id="46" name="TextBox 45"/>
          <p:cNvSpPr txBox="1"/>
          <p:nvPr/>
        </p:nvSpPr>
        <p:spPr>
          <a:xfrm>
            <a:off x="8119871" y="3648456"/>
            <a:ext cx="3291840" cy="457200"/>
          </a:xfrm>
          <a:prstGeom prst="rect">
            <a:avLst/>
          </a:prstGeom>
          <a:noFill/>
        </p:spPr>
        <p:txBody>
          <a:bodyPr wrap="square">
            <a:spAutoFit/>
          </a:bodyPr>
          <a:lstStyle/>
          <a:p>
            <a:pPr algn="l">
              <a:spcAft>
                <a:spcPts val="400"/>
              </a:spcAft>
            </a:pPr>
            <a:r>
              <a:rPr sz="2100" b="1">
                <a:solidFill>
                  <a:srgbClr val="0B142A"/>
                </a:solidFill>
                <a:latin typeface="Segoe UI"/>
              </a:rPr>
              <a:t>0.279%</a:t>
            </a:r>
          </a:p>
        </p:txBody>
      </p:sp>
      <p:sp>
        <p:nvSpPr>
          <p:cNvPr id="47" name="TextBox 46"/>
          <p:cNvSpPr txBox="1"/>
          <p:nvPr/>
        </p:nvSpPr>
        <p:spPr>
          <a:xfrm>
            <a:off x="8119871" y="4123944"/>
            <a:ext cx="3291840" cy="365760"/>
          </a:xfrm>
          <a:prstGeom prst="rect">
            <a:avLst/>
          </a:prstGeom>
          <a:noFill/>
        </p:spPr>
        <p:txBody>
          <a:bodyPr wrap="square">
            <a:spAutoFit/>
          </a:bodyPr>
          <a:lstStyle/>
          <a:p>
            <a:pPr algn="l">
              <a:spcAft>
                <a:spcPts val="400"/>
              </a:spcAft>
            </a:pPr>
            <a:r>
              <a:rPr sz="900" b="0">
                <a:solidFill>
                  <a:srgbClr val="7A8599"/>
                </a:solidFill>
                <a:latin typeface="Segoe UI"/>
              </a:rPr>
              <a:t>of $32.65M under management</a:t>
            </a:r>
          </a:p>
        </p:txBody>
      </p:sp>
      <p:sp>
        <p:nvSpPr>
          <p:cNvPr id="48" name="TextBox 47"/>
          <p:cNvSpPr txBox="1"/>
          <p:nvPr/>
        </p:nvSpPr>
        <p:spPr>
          <a:xfrm>
            <a:off x="7955279" y="4663440"/>
            <a:ext cx="3566160" cy="1371600"/>
          </a:xfrm>
          <a:prstGeom prst="rect">
            <a:avLst/>
          </a:prstGeom>
          <a:noFill/>
        </p:spPr>
        <p:txBody>
          <a:bodyPr wrap="square">
            <a:spAutoFit/>
          </a:bodyPr>
          <a:lstStyle/>
          <a:p>
            <a:pPr algn="l">
              <a:spcAft>
                <a:spcPts val="400"/>
              </a:spcAft>
            </a:pPr>
            <a:r>
              <a:rPr sz="1000" b="0">
                <a:solidFill>
                  <a:srgbClr val="445066"/>
                </a:solidFill>
                <a:latin typeface="Segoe UI"/>
              </a:rPr>
              <a:t>BigQuery is negligible only because the table is partitioned and clustered. An unpartitioned full scan on every dashboard load is how a $5 line becomes a $500 one — which is why the partition filter is enforced by the schema, not by convention.</a:t>
            </a:r>
          </a:p>
        </p:txBody>
      </p:sp>
      <p:sp>
        <p:nvSpPr>
          <p:cNvPr id="49" name="TextBox 48"/>
          <p:cNvSpPr txBox="1"/>
          <p:nvPr/>
        </p:nvSpPr>
        <p:spPr>
          <a:xfrm>
            <a:off x="640080" y="6355080"/>
            <a:ext cx="8686800" cy="274320"/>
          </a:xfrm>
          <a:prstGeom prst="rect">
            <a:avLst/>
          </a:prstGeom>
          <a:noFill/>
        </p:spPr>
        <p:txBody>
          <a:bodyPr wrap="square">
            <a:spAutoFit/>
          </a:bodyPr>
          <a:lstStyle/>
          <a:p>
            <a:pPr algn="l">
              <a:spcAft>
                <a:spcPts val="400"/>
              </a:spcAft>
            </a:pPr>
            <a:r>
              <a:rPr sz="850" b="0">
                <a:solidFill>
                  <a:srgbClr val="7A8599"/>
                </a:solidFill>
                <a:latin typeface="Segoe UI"/>
              </a:rPr>
              <a:t>Cost estimates for a single environment. Gemini at list price, July 2026.</a:t>
            </a:r>
          </a:p>
        </p:txBody>
      </p:sp>
      <p:sp>
        <p:nvSpPr>
          <p:cNvPr id="50" name="TextBox 49"/>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DELIVERY</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A phased rollout, value in the first wave</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Sequenced by risk, not by dollar size</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65960"/>
            <a:ext cx="3502152" cy="384048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0080" y="1965960"/>
            <a:ext cx="3502152" cy="50800"/>
          </a:xfrm>
          <a:prstGeom prst="rect">
            <a:avLst/>
          </a:prstGeom>
          <a:solidFill>
            <a:srgbClr val="0C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121408"/>
            <a:ext cx="3108960" cy="320040"/>
          </a:xfrm>
          <a:prstGeom prst="rect">
            <a:avLst/>
          </a:prstGeom>
          <a:noFill/>
        </p:spPr>
        <p:txBody>
          <a:bodyPr wrap="square">
            <a:spAutoFit/>
          </a:bodyPr>
          <a:lstStyle/>
          <a:p>
            <a:pPr algn="l">
              <a:spcAft>
                <a:spcPts val="400"/>
              </a:spcAft>
            </a:pPr>
            <a:r>
              <a:rPr sz="1150" b="1">
                <a:solidFill>
                  <a:srgbClr val="0B142A"/>
                </a:solidFill>
                <a:latin typeface="Segoe UI"/>
              </a:rPr>
              <a:t>Phase 1 · Weeks 1–3</a:t>
            </a:r>
          </a:p>
        </p:txBody>
      </p:sp>
      <p:sp>
        <p:nvSpPr>
          <p:cNvPr id="9" name="TextBox 8"/>
          <p:cNvSpPr txBox="1"/>
          <p:nvPr/>
        </p:nvSpPr>
        <p:spPr>
          <a:xfrm>
            <a:off x="841248" y="2432304"/>
            <a:ext cx="3108960" cy="274320"/>
          </a:xfrm>
          <a:prstGeom prst="rect">
            <a:avLst/>
          </a:prstGeom>
          <a:noFill/>
        </p:spPr>
        <p:txBody>
          <a:bodyPr wrap="square">
            <a:spAutoFit/>
          </a:bodyPr>
          <a:lstStyle/>
          <a:p>
            <a:pPr algn="l">
              <a:spcAft>
                <a:spcPts val="400"/>
              </a:spcAft>
            </a:pPr>
            <a:r>
              <a:rPr sz="1000" b="1">
                <a:solidFill>
                  <a:srgbClr val="0C7A3E"/>
                </a:solidFill>
                <a:latin typeface="Segoe UI"/>
              </a:rPr>
              <a:t>Land it</a:t>
            </a:r>
          </a:p>
        </p:txBody>
      </p:sp>
      <p:sp>
        <p:nvSpPr>
          <p:cNvPr id="10" name="TextBox 9"/>
          <p:cNvSpPr txBox="1"/>
          <p:nvPr/>
        </p:nvSpPr>
        <p:spPr>
          <a:xfrm>
            <a:off x="841248" y="2788920"/>
            <a:ext cx="3108960" cy="2834640"/>
          </a:xfrm>
          <a:prstGeom prst="rect">
            <a:avLst/>
          </a:prstGeom>
          <a:noFill/>
        </p:spPr>
        <p:txBody>
          <a:bodyPr wrap="square">
            <a:spAutoFit/>
          </a:bodyPr>
          <a:lstStyle/>
          <a:p>
            <a:pPr>
              <a:spcAft>
                <a:spcPts val="900"/>
              </a:spcAft>
            </a:pPr>
            <a:r>
              <a:rPr sz="1000">
                <a:solidFill>
                  <a:srgbClr val="445066"/>
                </a:solidFill>
                <a:latin typeface="Segoe UI"/>
              </a:rPr>
              <a:t>—  GCP project, Workload Identity Federation to AWS and Azure, an API signing key for OCI</a:t>
            </a:r>
          </a:p>
          <a:p>
            <a:pPr>
              <a:spcAft>
                <a:spcPts val="900"/>
              </a:spcAft>
            </a:pPr>
            <a:r>
              <a:rPr sz="1000">
                <a:solidFill>
                  <a:srgbClr val="445066"/>
                </a:solidFill>
                <a:latin typeface="Segoe UI"/>
              </a:rPr>
              <a:t>—  BigQuery warehouse, first ingest of one payer per cloud</a:t>
            </a:r>
          </a:p>
          <a:p>
            <a:pPr>
              <a:spcAft>
                <a:spcPts val="900"/>
              </a:spcAft>
            </a:pPr>
            <a:r>
              <a:rPr sz="1000">
                <a:solidFill>
                  <a:srgbClr val="445066"/>
                </a:solidFill>
                <a:latin typeface="Segoe UI"/>
              </a:rPr>
              <a:t>—  Cloud Run API + executive dashboard, behind IAP</a:t>
            </a:r>
          </a:p>
          <a:p>
            <a:pPr>
              <a:spcAft>
                <a:spcPts val="900"/>
              </a:spcAft>
            </a:pPr>
            <a:r>
              <a:rPr sz="1000">
                <a:solidFill>
                  <a:srgbClr val="445066"/>
                </a:solidFill>
                <a:latin typeface="Segoe UI"/>
              </a:rPr>
              <a:t>—  Validate FOCUS conformance against real exports</a:t>
            </a:r>
          </a:p>
        </p:txBody>
      </p:sp>
      <p:sp>
        <p:nvSpPr>
          <p:cNvPr id="11" name="Rounded Rectangle 10"/>
          <p:cNvSpPr/>
          <p:nvPr/>
        </p:nvSpPr>
        <p:spPr>
          <a:xfrm>
            <a:off x="4315967" y="1965960"/>
            <a:ext cx="3502152" cy="384048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15967" y="1965960"/>
            <a:ext cx="3502152" cy="508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5" y="2121408"/>
            <a:ext cx="3108960" cy="320040"/>
          </a:xfrm>
          <a:prstGeom prst="rect">
            <a:avLst/>
          </a:prstGeom>
          <a:noFill/>
        </p:spPr>
        <p:txBody>
          <a:bodyPr wrap="square">
            <a:spAutoFit/>
          </a:bodyPr>
          <a:lstStyle/>
          <a:p>
            <a:pPr algn="l">
              <a:spcAft>
                <a:spcPts val="400"/>
              </a:spcAft>
            </a:pPr>
            <a:r>
              <a:rPr sz="1150" b="1">
                <a:solidFill>
                  <a:srgbClr val="0B142A"/>
                </a:solidFill>
                <a:latin typeface="Segoe UI"/>
              </a:rPr>
              <a:t>Phase 2 · Weeks 4–10</a:t>
            </a:r>
          </a:p>
        </p:txBody>
      </p:sp>
      <p:sp>
        <p:nvSpPr>
          <p:cNvPr id="14" name="TextBox 13"/>
          <p:cNvSpPr txBox="1"/>
          <p:nvPr/>
        </p:nvSpPr>
        <p:spPr>
          <a:xfrm>
            <a:off x="4517135" y="2432304"/>
            <a:ext cx="3108960" cy="274320"/>
          </a:xfrm>
          <a:prstGeom prst="rect">
            <a:avLst/>
          </a:prstGeom>
          <a:noFill/>
        </p:spPr>
        <p:txBody>
          <a:bodyPr wrap="square">
            <a:spAutoFit/>
          </a:bodyPr>
          <a:lstStyle/>
          <a:p>
            <a:pPr algn="l">
              <a:spcAft>
                <a:spcPts val="400"/>
              </a:spcAft>
            </a:pPr>
            <a:r>
              <a:rPr sz="1000" b="1">
                <a:solidFill>
                  <a:srgbClr val="1E6FD9"/>
                </a:solidFill>
                <a:latin typeface="Segoe UI"/>
              </a:rPr>
              <a:t>Make it useful</a:t>
            </a:r>
          </a:p>
        </p:txBody>
      </p:sp>
      <p:sp>
        <p:nvSpPr>
          <p:cNvPr id="15" name="TextBox 14"/>
          <p:cNvSpPr txBox="1"/>
          <p:nvPr/>
        </p:nvSpPr>
        <p:spPr>
          <a:xfrm>
            <a:off x="4517135" y="2788920"/>
            <a:ext cx="3108960" cy="2834640"/>
          </a:xfrm>
          <a:prstGeom prst="rect">
            <a:avLst/>
          </a:prstGeom>
          <a:noFill/>
        </p:spPr>
        <p:txBody>
          <a:bodyPr wrap="square">
            <a:spAutoFit/>
          </a:bodyPr>
          <a:lstStyle/>
          <a:p>
            <a:pPr>
              <a:spcAft>
                <a:spcPts val="900"/>
              </a:spcAft>
            </a:pPr>
            <a:r>
              <a:rPr sz="1000">
                <a:solidFill>
                  <a:srgbClr val="445066"/>
                </a:solidFill>
                <a:latin typeface="Segoe UI"/>
              </a:rPr>
              <a:t>—  All payers; tagging remediation to cross the chargeback line</a:t>
            </a:r>
          </a:p>
          <a:p>
            <a:pPr>
              <a:spcAft>
                <a:spcPts val="900"/>
              </a:spcAft>
            </a:pPr>
            <a:r>
              <a:rPr sz="1000">
                <a:solidFill>
                  <a:srgbClr val="445066"/>
                </a:solidFill>
                <a:latin typeface="Segoe UI"/>
              </a:rPr>
              <a:t>—  Nightly optimization snapshot; quick wins first</a:t>
            </a:r>
          </a:p>
          <a:p>
            <a:pPr>
              <a:spcAft>
                <a:spcPts val="900"/>
              </a:spcAft>
            </a:pPr>
            <a:r>
              <a:rPr sz="1000">
                <a:solidFill>
                  <a:srgbClr val="445066"/>
                </a:solidFill>
                <a:latin typeface="Segoe UI"/>
              </a:rPr>
              <a:t>—  Forecast vs budget in the monthly finance cycle</a:t>
            </a:r>
          </a:p>
          <a:p>
            <a:pPr>
              <a:spcAft>
                <a:spcPts val="900"/>
              </a:spcAft>
            </a:pPr>
            <a:r>
              <a:rPr sz="1000">
                <a:solidFill>
                  <a:srgbClr val="445066"/>
                </a:solidFill>
                <a:latin typeface="Segoe UI"/>
              </a:rPr>
              <a:t>—  The remaining dashboards; Gemini Copilot enabled</a:t>
            </a:r>
          </a:p>
        </p:txBody>
      </p:sp>
      <p:sp>
        <p:nvSpPr>
          <p:cNvPr id="16" name="Rounded Rectangle 15"/>
          <p:cNvSpPr/>
          <p:nvPr/>
        </p:nvSpPr>
        <p:spPr>
          <a:xfrm>
            <a:off x="7991854" y="1965960"/>
            <a:ext cx="3502152" cy="384048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991854" y="1965960"/>
            <a:ext cx="3502152" cy="50800"/>
          </a:xfrm>
          <a:prstGeom prst="rect">
            <a:avLst/>
          </a:prstGeom>
          <a:solidFill>
            <a:srgbClr val="5B4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2" y="2121408"/>
            <a:ext cx="3108960" cy="320040"/>
          </a:xfrm>
          <a:prstGeom prst="rect">
            <a:avLst/>
          </a:prstGeom>
          <a:noFill/>
        </p:spPr>
        <p:txBody>
          <a:bodyPr wrap="square">
            <a:spAutoFit/>
          </a:bodyPr>
          <a:lstStyle/>
          <a:p>
            <a:pPr algn="l">
              <a:spcAft>
                <a:spcPts val="400"/>
              </a:spcAft>
            </a:pPr>
            <a:r>
              <a:rPr sz="1150" b="1">
                <a:solidFill>
                  <a:srgbClr val="0B142A"/>
                </a:solidFill>
                <a:latin typeface="Segoe UI"/>
              </a:rPr>
              <a:t>Phase 3 · Quarter 2+</a:t>
            </a:r>
          </a:p>
        </p:txBody>
      </p:sp>
      <p:sp>
        <p:nvSpPr>
          <p:cNvPr id="19" name="TextBox 18"/>
          <p:cNvSpPr txBox="1"/>
          <p:nvPr/>
        </p:nvSpPr>
        <p:spPr>
          <a:xfrm>
            <a:off x="8193022" y="2432304"/>
            <a:ext cx="3108960" cy="274320"/>
          </a:xfrm>
          <a:prstGeom prst="rect">
            <a:avLst/>
          </a:prstGeom>
          <a:noFill/>
        </p:spPr>
        <p:txBody>
          <a:bodyPr wrap="square">
            <a:spAutoFit/>
          </a:bodyPr>
          <a:lstStyle/>
          <a:p>
            <a:pPr algn="l">
              <a:spcAft>
                <a:spcPts val="400"/>
              </a:spcAft>
            </a:pPr>
            <a:r>
              <a:rPr sz="1000" b="1">
                <a:solidFill>
                  <a:srgbClr val="5B4BC4"/>
                </a:solidFill>
                <a:latin typeface="Segoe UI"/>
              </a:rPr>
              <a:t>Operate it</a:t>
            </a:r>
          </a:p>
        </p:txBody>
      </p:sp>
      <p:sp>
        <p:nvSpPr>
          <p:cNvPr id="20" name="TextBox 19"/>
          <p:cNvSpPr txBox="1"/>
          <p:nvPr/>
        </p:nvSpPr>
        <p:spPr>
          <a:xfrm>
            <a:off x="8193022" y="2788920"/>
            <a:ext cx="3108960" cy="2834640"/>
          </a:xfrm>
          <a:prstGeom prst="rect">
            <a:avLst/>
          </a:prstGeom>
          <a:noFill/>
        </p:spPr>
        <p:txBody>
          <a:bodyPr wrap="square">
            <a:spAutoFit/>
          </a:bodyPr>
          <a:lstStyle/>
          <a:p>
            <a:pPr>
              <a:spcAft>
                <a:spcPts val="900"/>
              </a:spcAft>
            </a:pPr>
            <a:r>
              <a:rPr sz="1000">
                <a:solidFill>
                  <a:srgbClr val="445066"/>
                </a:solidFill>
                <a:latin typeface="Segoe UI"/>
              </a:rPr>
              <a:t>—  Chargeback with the agreed shared-cost policy</a:t>
            </a:r>
          </a:p>
          <a:p>
            <a:pPr>
              <a:spcAft>
                <a:spcPts val="900"/>
              </a:spcAft>
            </a:pPr>
            <a:r>
              <a:rPr sz="1000">
                <a:solidFill>
                  <a:srgbClr val="445066"/>
                </a:solidFill>
                <a:latin typeface="Segoe UI"/>
              </a:rPr>
              <a:t>—  Unit economics per customer, per kWh, per meter read</a:t>
            </a:r>
          </a:p>
          <a:p>
            <a:pPr>
              <a:spcAft>
                <a:spcPts val="900"/>
              </a:spcAft>
            </a:pPr>
            <a:r>
              <a:rPr sz="1000">
                <a:solidFill>
                  <a:srgbClr val="445066"/>
                </a:solidFill>
                <a:latin typeface="Segoe UI"/>
              </a:rPr>
              <a:t>—  Anomaly alerting into ServiceNow</a:t>
            </a:r>
          </a:p>
          <a:p>
            <a:pPr>
              <a:spcAft>
                <a:spcPts val="900"/>
              </a:spcAft>
            </a:pPr>
            <a:r>
              <a:rPr sz="1000">
                <a:solidFill>
                  <a:srgbClr val="445066"/>
                </a:solidFill>
                <a:latin typeface="Segoe UI"/>
              </a:rPr>
              <a:t>—  FinOps for AI: GPU and token spend under the same lens</a:t>
            </a:r>
          </a:p>
        </p:txBody>
      </p:sp>
      <p:sp>
        <p:nvSpPr>
          <p:cNvPr id="21" name="TextBox 20"/>
          <p:cNvSpPr txBox="1"/>
          <p:nvPr/>
        </p:nvSpPr>
        <p:spPr>
          <a:xfrm>
            <a:off x="640080" y="5943600"/>
            <a:ext cx="10881360" cy="365760"/>
          </a:xfrm>
          <a:prstGeom prst="rect">
            <a:avLst/>
          </a:prstGeom>
          <a:noFill/>
        </p:spPr>
        <p:txBody>
          <a:bodyPr wrap="square">
            <a:spAutoFit/>
          </a:bodyPr>
          <a:lstStyle/>
          <a:p>
            <a:pPr algn="l">
              <a:spcAft>
                <a:spcPts val="400"/>
              </a:spcAft>
            </a:pPr>
            <a:r>
              <a:rPr sz="1100" b="1">
                <a:solidFill>
                  <a:srgbClr val="0B142A"/>
                </a:solidFill>
                <a:latin typeface="Segoe UI"/>
              </a:rPr>
              <a:t>Phase 1 is deliberately all low-effort, low-risk work. The programme should pay for itself before it asks for trust.</a:t>
            </a:r>
          </a:p>
        </p:txBody>
      </p:sp>
      <p:sp>
        <p:nvSpPr>
          <p:cNvPr id="22" name="TextBox 21"/>
          <p:cNvSpPr txBox="1"/>
          <p:nvPr/>
        </p:nvSpPr>
        <p:spPr>
          <a:xfrm>
            <a:off x="640080" y="6355080"/>
            <a:ext cx="8686800" cy="274320"/>
          </a:xfrm>
          <a:prstGeom prst="rect">
            <a:avLst/>
          </a:prstGeom>
          <a:noFill/>
        </p:spPr>
        <p:txBody>
          <a:bodyPr wrap="square">
            <a:spAutoFit/>
          </a:bodyPr>
          <a:lstStyle/>
          <a:p>
            <a:pPr algn="l">
              <a:spcAft>
                <a:spcPts val="400"/>
              </a:spcAft>
            </a:pPr>
          </a:p>
        </p:txBody>
      </p:sp>
      <p:sp>
        <p:nvSpPr>
          <p:cNvPr id="23" name="TextBox 22"/>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ASSUMPTIONS AND LIMITS</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700" b="1">
                <a:solidFill>
                  <a:srgbClr val="0B142A"/>
                </a:solidFill>
                <a:latin typeface="Segoe UI"/>
              </a:rPr>
              <a:t>What this does not claim</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Stated up front, because a FinOps tool that overstates is worse than none</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65960"/>
            <a:ext cx="10881360" cy="4023360"/>
          </a:xfrm>
          <a:prstGeom prst="rect">
            <a:avLst/>
          </a:prstGeom>
          <a:noFill/>
        </p:spPr>
        <p:txBody>
          <a:bodyPr wrap="square">
            <a:spAutoFit/>
          </a:bodyPr>
          <a:lstStyle/>
          <a:p>
            <a:pPr>
              <a:spcAft>
                <a:spcPts val="900"/>
              </a:spcAft>
            </a:pPr>
            <a:r>
              <a:rPr sz="1150">
                <a:solidFill>
                  <a:srgbClr val="445066"/>
                </a:solidFill>
                <a:latin typeface="Segoe UI"/>
              </a:rPr>
              <a:t>—  Every figure in this deck comes from a synthetic 24-month utility estate. The dollars are invented; the mechanics are not.</a:t>
            </a:r>
          </a:p>
          <a:p>
            <a:pPr>
              <a:spcAft>
                <a:spcPts val="900"/>
              </a:spcAft>
            </a:pPr>
            <a:r>
              <a:rPr sz="1150">
                <a:solidFill>
                  <a:srgbClr val="445066"/>
                </a:solidFill>
                <a:latin typeface="Segoe UI"/>
              </a:rPr>
              <a:t>—  No live GCP deployment has been performed. The service, the warehouse DDL and the agent team are tested end to end against the demo estate with no cloud project and no model key.</a:t>
            </a:r>
          </a:p>
          <a:p>
            <a:pPr>
              <a:spcAft>
                <a:spcPts val="900"/>
              </a:spcAft>
            </a:pPr>
            <a:r>
              <a:rPr sz="1150">
                <a:solidFill>
                  <a:srgbClr val="445066"/>
                </a:solidFill>
                <a:latin typeface="Segoe UI"/>
              </a:rPr>
              <a:t>—  AWS Cost Explorer does not expose list price. On that ingest path ListCost is set equal to BilledCost, so Effective Savings Rate is understated. Use a FOCUS Data Export.</a:t>
            </a:r>
          </a:p>
          <a:p>
            <a:pPr>
              <a:spcAft>
                <a:spcPts val="900"/>
              </a:spcAft>
            </a:pPr>
            <a:r>
              <a:rPr sz="1150">
                <a:solidFill>
                  <a:srgbClr val="445066"/>
                </a:solidFill>
                <a:latin typeface="Segoe UI"/>
              </a:rPr>
              <a:t>—  Business drivers — customers served, kWh delivered, meter reads — cannot be read from a cloud bill by definition. Unit economics needs a feed from a system of record.</a:t>
            </a:r>
          </a:p>
          <a:p>
            <a:pPr>
              <a:spcAft>
                <a:spcPts val="900"/>
              </a:spcAft>
            </a:pPr>
            <a:r>
              <a:rPr sz="1150">
                <a:solidFill>
                  <a:srgbClr val="445066"/>
                </a:solidFill>
                <a:latin typeface="Segoe UI"/>
              </a:rPr>
              <a:t>—  Savings percentages in the lever catalog are vendor 'up-to' figures. Treat them as ceilings.</a:t>
            </a:r>
          </a:p>
          <a:p>
            <a:pPr>
              <a:spcAft>
                <a:spcPts val="900"/>
              </a:spcAft>
            </a:pPr>
            <a:r>
              <a:rPr sz="1150">
                <a:solidFill>
                  <a:srgbClr val="445066"/>
                </a:solidFill>
                <a:latin typeface="Segoe UI"/>
              </a:rPr>
              <a:t>—  Storage-tiering and rightsizing detectors infer from billing data alone. Where a detector cannot see access patterns or CPU utilisation, it lowers its confidence and says what telemetry would confirm it.</a:t>
            </a:r>
          </a:p>
          <a:p>
            <a:pPr>
              <a:spcAft>
                <a:spcPts val="900"/>
              </a:spcAft>
            </a:pPr>
            <a:r>
              <a:rPr sz="1150">
                <a:solidFill>
                  <a:srgbClr val="445066"/>
                </a:solidFill>
                <a:latin typeface="Segoe UI"/>
              </a:rPr>
              <a:t>—  Cost estimates assume a single environment and list pricing. They exclude any Google committed-use discount you already hold.</a:t>
            </a:r>
          </a:p>
        </p:txBody>
      </p:sp>
      <p:sp>
        <p:nvSpPr>
          <p:cNvPr id="7" name="TextBox 6"/>
          <p:cNvSpPr txBox="1"/>
          <p:nvPr/>
        </p:nvSpPr>
        <p:spPr>
          <a:xfrm>
            <a:off x="640080" y="6355080"/>
            <a:ext cx="8686800" cy="274320"/>
          </a:xfrm>
          <a:prstGeom prst="rect">
            <a:avLst/>
          </a:prstGeom>
          <a:noFill/>
        </p:spPr>
        <p:txBody>
          <a:bodyPr wrap="square">
            <a:spAutoFit/>
          </a:bodyPr>
          <a:lstStyle/>
          <a:p>
            <a:pPr algn="l">
              <a:spcAft>
                <a:spcPts val="400"/>
              </a:spcAft>
            </a:pPr>
          </a:p>
        </p:txBody>
      </p:sp>
      <p:sp>
        <p:nvSpPr>
          <p:cNvPr id="8" name="TextBox 7"/>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2194560"/>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731520"/>
            <a:ext cx="10058400" cy="365760"/>
          </a:xfrm>
          <a:prstGeom prst="rect">
            <a:avLst/>
          </a:prstGeom>
          <a:noFill/>
        </p:spPr>
        <p:txBody>
          <a:bodyPr wrap="square">
            <a:spAutoFit/>
          </a:bodyPr>
          <a:lstStyle/>
          <a:p>
            <a:pPr algn="l">
              <a:spcAft>
                <a:spcPts val="400"/>
              </a:spcAft>
            </a:pPr>
            <a:r>
              <a:rPr sz="1200" b="1">
                <a:solidFill>
                  <a:srgbClr val="1E6FD9"/>
                </a:solidFill>
                <a:latin typeface="Segoe UI"/>
              </a:rPr>
              <a:t>NEXT STEPS</a:t>
            </a:r>
          </a:p>
        </p:txBody>
      </p:sp>
      <p:sp>
        <p:nvSpPr>
          <p:cNvPr id="4" name="TextBox 3"/>
          <p:cNvSpPr txBox="1"/>
          <p:nvPr/>
        </p:nvSpPr>
        <p:spPr>
          <a:xfrm>
            <a:off x="822960" y="1051560"/>
            <a:ext cx="10058400" cy="731520"/>
          </a:xfrm>
          <a:prstGeom prst="rect">
            <a:avLst/>
          </a:prstGeom>
          <a:noFill/>
        </p:spPr>
        <p:txBody>
          <a:bodyPr wrap="square">
            <a:spAutoFit/>
          </a:bodyPr>
          <a:lstStyle/>
          <a:p>
            <a:pPr algn="l">
              <a:spcAft>
                <a:spcPts val="400"/>
              </a:spcAft>
            </a:pPr>
            <a:r>
              <a:rPr sz="3200" b="1">
                <a:solidFill>
                  <a:srgbClr val="0B142A"/>
                </a:solidFill>
                <a:latin typeface="Segoe UI"/>
              </a:rPr>
              <a:t>What we would need to go live</a:t>
            </a:r>
          </a:p>
        </p:txBody>
      </p:sp>
      <p:sp>
        <p:nvSpPr>
          <p:cNvPr id="5" name="TextBox 4"/>
          <p:cNvSpPr txBox="1"/>
          <p:nvPr/>
        </p:nvSpPr>
        <p:spPr>
          <a:xfrm>
            <a:off x="822960" y="2514600"/>
            <a:ext cx="3291840" cy="365760"/>
          </a:xfrm>
          <a:prstGeom prst="rect">
            <a:avLst/>
          </a:prstGeom>
          <a:noFill/>
        </p:spPr>
        <p:txBody>
          <a:bodyPr wrap="square">
            <a:spAutoFit/>
          </a:bodyPr>
          <a:lstStyle/>
          <a:p>
            <a:pPr algn="l">
              <a:spcAft>
                <a:spcPts val="400"/>
              </a:spcAft>
            </a:pPr>
            <a:r>
              <a:rPr sz="1250" b="1">
                <a:solidFill>
                  <a:srgbClr val="0B142A"/>
                </a:solidFill>
                <a:latin typeface="Segoe UI"/>
              </a:rPr>
              <a:t>A GCP project</a:t>
            </a:r>
          </a:p>
        </p:txBody>
      </p:sp>
      <p:sp>
        <p:nvSpPr>
          <p:cNvPr id="6" name="TextBox 5"/>
          <p:cNvSpPr txBox="1"/>
          <p:nvPr/>
        </p:nvSpPr>
        <p:spPr>
          <a:xfrm>
            <a:off x="4297680" y="2496312"/>
            <a:ext cx="7223760" cy="512064"/>
          </a:xfrm>
          <a:prstGeom prst="rect">
            <a:avLst/>
          </a:prstGeom>
          <a:noFill/>
        </p:spPr>
        <p:txBody>
          <a:bodyPr wrap="square">
            <a:spAutoFit/>
          </a:bodyPr>
          <a:lstStyle/>
          <a:p>
            <a:pPr algn="l">
              <a:spcAft>
                <a:spcPts val="400"/>
              </a:spcAft>
            </a:pPr>
            <a:r>
              <a:rPr sz="1050" b="0">
                <a:solidFill>
                  <a:srgbClr val="445066"/>
                </a:solidFill>
                <a:latin typeface="Segoe UI"/>
              </a:rPr>
              <a:t>Plus a billing account, a VPC, and Owner long enough to land the Terraform.</a:t>
            </a:r>
          </a:p>
        </p:txBody>
      </p:sp>
      <p:sp>
        <p:nvSpPr>
          <p:cNvPr id="7" name="TextBox 6"/>
          <p:cNvSpPr txBox="1"/>
          <p:nvPr/>
        </p:nvSpPr>
        <p:spPr>
          <a:xfrm>
            <a:off x="822960" y="3081528"/>
            <a:ext cx="3291840" cy="365760"/>
          </a:xfrm>
          <a:prstGeom prst="rect">
            <a:avLst/>
          </a:prstGeom>
          <a:noFill/>
        </p:spPr>
        <p:txBody>
          <a:bodyPr wrap="square">
            <a:spAutoFit/>
          </a:bodyPr>
          <a:lstStyle/>
          <a:p>
            <a:pPr algn="l">
              <a:spcAft>
                <a:spcPts val="400"/>
              </a:spcAft>
            </a:pPr>
            <a:r>
              <a:rPr sz="1250" b="1">
                <a:solidFill>
                  <a:srgbClr val="0B142A"/>
                </a:solidFill>
                <a:latin typeface="Segoe UI"/>
              </a:rPr>
              <a:t>An identity provider</a:t>
            </a:r>
          </a:p>
        </p:txBody>
      </p:sp>
      <p:sp>
        <p:nvSpPr>
          <p:cNvPr id="8" name="TextBox 7"/>
          <p:cNvSpPr txBox="1"/>
          <p:nvPr/>
        </p:nvSpPr>
        <p:spPr>
          <a:xfrm>
            <a:off x="4297680" y="3063240"/>
            <a:ext cx="7223760" cy="512064"/>
          </a:xfrm>
          <a:prstGeom prst="rect">
            <a:avLst/>
          </a:prstGeom>
          <a:noFill/>
        </p:spPr>
        <p:txBody>
          <a:bodyPr wrap="square">
            <a:spAutoFit/>
          </a:bodyPr>
          <a:lstStyle/>
          <a:p>
            <a:pPr algn="l">
              <a:spcAft>
                <a:spcPts val="400"/>
              </a:spcAft>
            </a:pPr>
            <a:r>
              <a:rPr sz="1050" b="0">
                <a:solidFill>
                  <a:srgbClr val="445066"/>
                </a:solidFill>
                <a:latin typeface="Segoe UI"/>
              </a:rPr>
              <a:t>Cloud Identity, Okta or Entra, behind Identity-Aware Proxy. This replaces the demo password.</a:t>
            </a:r>
          </a:p>
        </p:txBody>
      </p:sp>
      <p:sp>
        <p:nvSpPr>
          <p:cNvPr id="9" name="TextBox 8"/>
          <p:cNvSpPr txBox="1"/>
          <p:nvPr/>
        </p:nvSpPr>
        <p:spPr>
          <a:xfrm>
            <a:off x="822960" y="3648456"/>
            <a:ext cx="3291840" cy="365760"/>
          </a:xfrm>
          <a:prstGeom prst="rect">
            <a:avLst/>
          </a:prstGeom>
          <a:noFill/>
        </p:spPr>
        <p:txBody>
          <a:bodyPr wrap="square">
            <a:spAutoFit/>
          </a:bodyPr>
          <a:lstStyle/>
          <a:p>
            <a:pPr algn="l">
              <a:spcAft>
                <a:spcPts val="400"/>
              </a:spcAft>
            </a:pPr>
            <a:r>
              <a:rPr sz="1250" b="1">
                <a:solidFill>
                  <a:srgbClr val="0B142A"/>
                </a:solidFill>
                <a:latin typeface="Segoe UI"/>
              </a:rPr>
              <a:t>One read-only credential per payer</a:t>
            </a:r>
          </a:p>
        </p:txBody>
      </p:sp>
      <p:sp>
        <p:nvSpPr>
          <p:cNvPr id="10" name="TextBox 9"/>
          <p:cNvSpPr txBox="1"/>
          <p:nvPr/>
        </p:nvSpPr>
        <p:spPr>
          <a:xfrm>
            <a:off x="4297680" y="3630168"/>
            <a:ext cx="7223760" cy="512064"/>
          </a:xfrm>
          <a:prstGeom prst="rect">
            <a:avLst/>
          </a:prstGeom>
          <a:noFill/>
        </p:spPr>
        <p:txBody>
          <a:bodyPr wrap="square">
            <a:spAutoFit/>
          </a:bodyPr>
          <a:lstStyle/>
          <a:p>
            <a:pPr algn="l">
              <a:spcAft>
                <a:spcPts val="400"/>
              </a:spcAft>
            </a:pPr>
            <a:r>
              <a:rPr sz="1050" b="0">
                <a:solidFill>
                  <a:srgbClr val="445066"/>
                </a:solidFill>
                <a:latin typeface="Segoe UI"/>
              </a:rPr>
              <a:t>Not per account. AWS and Azure via Workload Identity Federation; GCP needs only the billing export enabled; OCI needs one API key plus an 'endorse' policy into Oracle's report tenancy.</a:t>
            </a:r>
          </a:p>
        </p:txBody>
      </p:sp>
      <p:sp>
        <p:nvSpPr>
          <p:cNvPr id="11" name="TextBox 10"/>
          <p:cNvSpPr txBox="1"/>
          <p:nvPr/>
        </p:nvSpPr>
        <p:spPr>
          <a:xfrm>
            <a:off x="822960" y="4215384"/>
            <a:ext cx="3291840" cy="365760"/>
          </a:xfrm>
          <a:prstGeom prst="rect">
            <a:avLst/>
          </a:prstGeom>
          <a:noFill/>
        </p:spPr>
        <p:txBody>
          <a:bodyPr wrap="square">
            <a:spAutoFit/>
          </a:bodyPr>
          <a:lstStyle/>
          <a:p>
            <a:pPr algn="l">
              <a:spcAft>
                <a:spcPts val="400"/>
              </a:spcAft>
            </a:pPr>
            <a:r>
              <a:rPr sz="1250" b="1">
                <a:solidFill>
                  <a:srgbClr val="0B142A"/>
                </a:solidFill>
                <a:latin typeface="Segoe UI"/>
              </a:rPr>
              <a:t>A FOCUS export, ideally</a:t>
            </a:r>
          </a:p>
        </p:txBody>
      </p:sp>
      <p:sp>
        <p:nvSpPr>
          <p:cNvPr id="12" name="TextBox 11"/>
          <p:cNvSpPr txBox="1"/>
          <p:nvPr/>
        </p:nvSpPr>
        <p:spPr>
          <a:xfrm>
            <a:off x="4297680" y="4197096"/>
            <a:ext cx="7223760" cy="512064"/>
          </a:xfrm>
          <a:prstGeom prst="rect">
            <a:avLst/>
          </a:prstGeom>
          <a:noFill/>
        </p:spPr>
        <p:txBody>
          <a:bodyPr wrap="square">
            <a:spAutoFit/>
          </a:bodyPr>
          <a:lstStyle/>
          <a:p>
            <a:pPr algn="l">
              <a:spcAft>
                <a:spcPts val="400"/>
              </a:spcAft>
            </a:pPr>
            <a:r>
              <a:rPr sz="1050" b="0">
                <a:solidFill>
                  <a:srgbClr val="445066"/>
                </a:solidFill>
                <a:latin typeface="Segoe UI"/>
              </a:rPr>
              <a:t>AWS Data Exports (FOCUS 1.2) and Azure FocusCost give a true list price, so Effective Savings Rate is correct rather than understated.</a:t>
            </a:r>
          </a:p>
        </p:txBody>
      </p:sp>
      <p:sp>
        <p:nvSpPr>
          <p:cNvPr id="13" name="TextBox 12"/>
          <p:cNvSpPr txBox="1"/>
          <p:nvPr/>
        </p:nvSpPr>
        <p:spPr>
          <a:xfrm>
            <a:off x="822960" y="4782312"/>
            <a:ext cx="3291840" cy="365760"/>
          </a:xfrm>
          <a:prstGeom prst="rect">
            <a:avLst/>
          </a:prstGeom>
          <a:noFill/>
        </p:spPr>
        <p:txBody>
          <a:bodyPr wrap="square">
            <a:spAutoFit/>
          </a:bodyPr>
          <a:lstStyle/>
          <a:p>
            <a:pPr algn="l">
              <a:spcAft>
                <a:spcPts val="400"/>
              </a:spcAft>
            </a:pPr>
            <a:r>
              <a:rPr sz="1250" b="1">
                <a:solidFill>
                  <a:srgbClr val="0B142A"/>
                </a:solidFill>
                <a:latin typeface="Segoe UI"/>
              </a:rPr>
              <a:t>Your tagging standard</a:t>
            </a:r>
          </a:p>
        </p:txBody>
      </p:sp>
      <p:sp>
        <p:nvSpPr>
          <p:cNvPr id="14" name="TextBox 13"/>
          <p:cNvSpPr txBox="1"/>
          <p:nvPr/>
        </p:nvSpPr>
        <p:spPr>
          <a:xfrm>
            <a:off x="4297680" y="4764024"/>
            <a:ext cx="7223760" cy="512064"/>
          </a:xfrm>
          <a:prstGeom prst="rect">
            <a:avLst/>
          </a:prstGeom>
          <a:noFill/>
        </p:spPr>
        <p:txBody>
          <a:bodyPr wrap="square">
            <a:spAutoFit/>
          </a:bodyPr>
          <a:lstStyle/>
          <a:p>
            <a:pPr algn="l">
              <a:spcAft>
                <a:spcPts val="400"/>
              </a:spcAft>
            </a:pPr>
            <a:r>
              <a:rPr sz="1050" b="0">
                <a:solidFill>
                  <a:srgbClr val="445066"/>
                </a:solidFill>
                <a:latin typeface="Segoe UI"/>
              </a:rPr>
              <a:t>So the canonical keys map to Con Edison's own: application, business unit, cost centre, environment, owner, project.</a:t>
            </a:r>
          </a:p>
        </p:txBody>
      </p:sp>
      <p:sp>
        <p:nvSpPr>
          <p:cNvPr id="15" name="TextBox 14"/>
          <p:cNvSpPr txBox="1"/>
          <p:nvPr/>
        </p:nvSpPr>
        <p:spPr>
          <a:xfrm>
            <a:off x="822960" y="5349240"/>
            <a:ext cx="3291840" cy="365760"/>
          </a:xfrm>
          <a:prstGeom prst="rect">
            <a:avLst/>
          </a:prstGeom>
          <a:noFill/>
        </p:spPr>
        <p:txBody>
          <a:bodyPr wrap="square">
            <a:spAutoFit/>
          </a:bodyPr>
          <a:lstStyle/>
          <a:p>
            <a:pPr algn="l">
              <a:spcAft>
                <a:spcPts val="400"/>
              </a:spcAft>
            </a:pPr>
            <a:r>
              <a:rPr sz="1250" b="1">
                <a:solidFill>
                  <a:srgbClr val="0B142A"/>
                </a:solidFill>
                <a:latin typeface="Segoe UI"/>
              </a:rPr>
              <a:t>A business driver feed</a:t>
            </a:r>
          </a:p>
        </p:txBody>
      </p:sp>
      <p:sp>
        <p:nvSpPr>
          <p:cNvPr id="16" name="TextBox 15"/>
          <p:cNvSpPr txBox="1"/>
          <p:nvPr/>
        </p:nvSpPr>
        <p:spPr>
          <a:xfrm>
            <a:off x="4297680" y="5330952"/>
            <a:ext cx="7223760" cy="512064"/>
          </a:xfrm>
          <a:prstGeom prst="rect">
            <a:avLst/>
          </a:prstGeom>
          <a:noFill/>
        </p:spPr>
        <p:txBody>
          <a:bodyPr wrap="square">
            <a:spAutoFit/>
          </a:bodyPr>
          <a:lstStyle/>
          <a:p>
            <a:pPr algn="l">
              <a:spcAft>
                <a:spcPts val="400"/>
              </a:spcAft>
            </a:pPr>
            <a:r>
              <a:rPr sz="1050" b="0">
                <a:solidFill>
                  <a:srgbClr val="445066"/>
                </a:solidFill>
                <a:latin typeface="Segoe UI"/>
              </a:rPr>
              <a:t>Customers served, kWh delivered, work orders closed. This is what turns a cloud bill into a unit cost a VP can defend.</a:t>
            </a:r>
          </a:p>
        </p:txBody>
      </p:sp>
      <p:sp>
        <p:nvSpPr>
          <p:cNvPr id="17" name="TextBox 16"/>
          <p:cNvSpPr txBox="1"/>
          <p:nvPr/>
        </p:nvSpPr>
        <p:spPr>
          <a:xfrm>
            <a:off x="822960" y="5916168"/>
            <a:ext cx="3291840" cy="365760"/>
          </a:xfrm>
          <a:prstGeom prst="rect">
            <a:avLst/>
          </a:prstGeom>
          <a:noFill/>
        </p:spPr>
        <p:txBody>
          <a:bodyPr wrap="square">
            <a:spAutoFit/>
          </a:bodyPr>
          <a:lstStyle/>
          <a:p>
            <a:pPr algn="l">
              <a:spcAft>
                <a:spcPts val="400"/>
              </a:spcAft>
            </a:pPr>
            <a:r>
              <a:rPr sz="1250" b="1">
                <a:solidFill>
                  <a:srgbClr val="0B142A"/>
                </a:solidFill>
                <a:latin typeface="Segoe UI"/>
              </a:rPr>
              <a:t>An allocation policy decision</a:t>
            </a:r>
          </a:p>
        </p:txBody>
      </p:sp>
      <p:sp>
        <p:nvSpPr>
          <p:cNvPr id="18" name="TextBox 17"/>
          <p:cNvSpPr txBox="1"/>
          <p:nvPr/>
        </p:nvSpPr>
        <p:spPr>
          <a:xfrm>
            <a:off x="4297680" y="5897880"/>
            <a:ext cx="7223760" cy="512064"/>
          </a:xfrm>
          <a:prstGeom prst="rect">
            <a:avLst/>
          </a:prstGeom>
          <a:noFill/>
        </p:spPr>
        <p:txBody>
          <a:bodyPr wrap="square">
            <a:spAutoFit/>
          </a:bodyPr>
          <a:lstStyle/>
          <a:p>
            <a:pPr algn="l">
              <a:spcAft>
                <a:spcPts val="400"/>
              </a:spcAft>
            </a:pPr>
            <a:r>
              <a:rPr sz="1050" b="0">
                <a:solidFill>
                  <a:srgbClr val="445066"/>
                </a:solidFill>
                <a:latin typeface="Segoe UI"/>
              </a:rPr>
              <a:t>Even split, proportional, or a fixed percentage for the shared platform pool. An accounting choice, not a technical one.</a:t>
            </a:r>
          </a:p>
        </p:txBody>
      </p:sp>
      <p:sp>
        <p:nvSpPr>
          <p:cNvPr id="19" name="TextBox 18"/>
          <p:cNvSpPr txBox="1"/>
          <p:nvPr/>
        </p:nvSpPr>
        <p:spPr>
          <a:xfrm>
            <a:off x="640080" y="6355080"/>
            <a:ext cx="8686800" cy="274320"/>
          </a:xfrm>
          <a:prstGeom prst="rect">
            <a:avLst/>
          </a:prstGeom>
          <a:noFill/>
        </p:spPr>
        <p:txBody>
          <a:bodyPr wrap="square">
            <a:spAutoFit/>
          </a:bodyPr>
          <a:lstStyle/>
          <a:p>
            <a:pPr algn="l">
              <a:spcAft>
                <a:spcPts val="400"/>
              </a:spcAft>
            </a:pPr>
            <a:r>
              <a:rPr sz="850" b="0">
                <a:solidFill>
                  <a:srgbClr val="7A8599"/>
                </a:solidFill>
                <a:latin typeface="Segoe UI"/>
              </a:rPr>
              <a:t>Infosys · Con Edison</a:t>
            </a:r>
          </a:p>
        </p:txBody>
      </p:sp>
      <p:sp>
        <p:nvSpPr>
          <p:cNvPr id="20" name="TextBox 19"/>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